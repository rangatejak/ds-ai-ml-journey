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9430" y="1983486"/>
            <a:ext cx="9613138" cy="1821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09825" y="5196636"/>
            <a:ext cx="7372350" cy="697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668" y="1673732"/>
            <a:ext cx="10284663" cy="225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rchive.ics.uci.edu/ml/datasets/Bank%2BMarketing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Relationship Id="rId22" Type="http://schemas.openxmlformats.org/officeDocument/2006/relationships/image" Target="../media/image62.png"/><Relationship Id="rId23" Type="http://schemas.openxmlformats.org/officeDocument/2006/relationships/image" Target="../media/image63.png"/><Relationship Id="rId24" Type="http://schemas.openxmlformats.org/officeDocument/2006/relationships/image" Target="../media/image64.png"/><Relationship Id="rId25" Type="http://schemas.openxmlformats.org/officeDocument/2006/relationships/image" Target="../media/image65.png"/><Relationship Id="rId26" Type="http://schemas.openxmlformats.org/officeDocument/2006/relationships/image" Target="../media/image66.png"/><Relationship Id="rId27" Type="http://schemas.openxmlformats.org/officeDocument/2006/relationships/image" Target="../media/image67.png"/><Relationship Id="rId28" Type="http://schemas.openxmlformats.org/officeDocument/2006/relationships/image" Target="../media/image68.png"/><Relationship Id="rId29" Type="http://schemas.openxmlformats.org/officeDocument/2006/relationships/image" Target="../media/image69.png"/><Relationship Id="rId30" Type="http://schemas.openxmlformats.org/officeDocument/2006/relationships/image" Target="../media/image70.png"/><Relationship Id="rId31" Type="http://schemas.openxmlformats.org/officeDocument/2006/relationships/image" Target="../media/image71.png"/><Relationship Id="rId32" Type="http://schemas.openxmlformats.org/officeDocument/2006/relationships/image" Target="../media/image7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89.png"/><Relationship Id="rId19" Type="http://schemas.openxmlformats.org/officeDocument/2006/relationships/image" Target="../media/image90.png"/><Relationship Id="rId20" Type="http://schemas.openxmlformats.org/officeDocument/2006/relationships/image" Target="../media/image91.png"/><Relationship Id="rId21" Type="http://schemas.openxmlformats.org/officeDocument/2006/relationships/image" Target="../media/image92.png"/><Relationship Id="rId22" Type="http://schemas.openxmlformats.org/officeDocument/2006/relationships/image" Target="../media/image93.png"/><Relationship Id="rId23" Type="http://schemas.openxmlformats.org/officeDocument/2006/relationships/image" Target="../media/image94.png"/><Relationship Id="rId24" Type="http://schemas.openxmlformats.org/officeDocument/2006/relationships/image" Target="../media/image95.png"/><Relationship Id="rId25" Type="http://schemas.openxmlformats.org/officeDocument/2006/relationships/image" Target="../media/image96.png"/><Relationship Id="rId26" Type="http://schemas.openxmlformats.org/officeDocument/2006/relationships/image" Target="../media/image97.png"/><Relationship Id="rId27" Type="http://schemas.openxmlformats.org/officeDocument/2006/relationships/image" Target="../media/image98.png"/><Relationship Id="rId28" Type="http://schemas.openxmlformats.org/officeDocument/2006/relationships/image" Target="../media/image99.png"/><Relationship Id="rId29" Type="http://schemas.openxmlformats.org/officeDocument/2006/relationships/image" Target="../media/image100.png"/><Relationship Id="rId30" Type="http://schemas.openxmlformats.org/officeDocument/2006/relationships/image" Target="../media/image101.png"/><Relationship Id="rId31" Type="http://schemas.openxmlformats.org/officeDocument/2006/relationships/image" Target="../media/image102.png"/><Relationship Id="rId32" Type="http://schemas.openxmlformats.org/officeDocument/2006/relationships/image" Target="../media/image103.png"/><Relationship Id="rId33" Type="http://schemas.openxmlformats.org/officeDocument/2006/relationships/image" Target="../media/image104.png"/><Relationship Id="rId34" Type="http://schemas.openxmlformats.org/officeDocument/2006/relationships/image" Target="../media/image105.png"/><Relationship Id="rId35" Type="http://schemas.openxmlformats.org/officeDocument/2006/relationships/image" Target="../media/image106.png"/><Relationship Id="rId36" Type="http://schemas.openxmlformats.org/officeDocument/2006/relationships/image" Target="../media/image107.png"/><Relationship Id="rId37" Type="http://schemas.openxmlformats.org/officeDocument/2006/relationships/image" Target="../media/image108.png"/><Relationship Id="rId38" Type="http://schemas.openxmlformats.org/officeDocument/2006/relationships/image" Target="../media/image109.png"/><Relationship Id="rId39" Type="http://schemas.openxmlformats.org/officeDocument/2006/relationships/image" Target="../media/image110.png"/><Relationship Id="rId40" Type="http://schemas.openxmlformats.org/officeDocument/2006/relationships/image" Target="../media/image111.png"/><Relationship Id="rId41" Type="http://schemas.openxmlformats.org/officeDocument/2006/relationships/image" Target="../media/image112.png"/><Relationship Id="rId42" Type="http://schemas.openxmlformats.org/officeDocument/2006/relationships/image" Target="../media/image113.png"/><Relationship Id="rId43" Type="http://schemas.openxmlformats.org/officeDocument/2006/relationships/image" Target="../media/image114.png"/><Relationship Id="rId44" Type="http://schemas.openxmlformats.org/officeDocument/2006/relationships/image" Target="../media/image115.png"/><Relationship Id="rId45" Type="http://schemas.openxmlformats.org/officeDocument/2006/relationships/image" Target="../media/image116.png"/><Relationship Id="rId46" Type="http://schemas.openxmlformats.org/officeDocument/2006/relationships/image" Target="../media/image117.png"/><Relationship Id="rId47" Type="http://schemas.openxmlformats.org/officeDocument/2006/relationships/image" Target="../media/image118.png"/><Relationship Id="rId48" Type="http://schemas.openxmlformats.org/officeDocument/2006/relationships/image" Target="../media/image119.png"/><Relationship Id="rId49" Type="http://schemas.openxmlformats.org/officeDocument/2006/relationships/image" Target="../media/image120.png"/><Relationship Id="rId50" Type="http://schemas.openxmlformats.org/officeDocument/2006/relationships/image" Target="../media/image121.png"/><Relationship Id="rId51" Type="http://schemas.openxmlformats.org/officeDocument/2006/relationships/image" Target="../media/image122.png"/><Relationship Id="rId52" Type="http://schemas.openxmlformats.org/officeDocument/2006/relationships/image" Target="../media/image123.png"/><Relationship Id="rId53" Type="http://schemas.openxmlformats.org/officeDocument/2006/relationships/image" Target="../media/image124.png"/><Relationship Id="rId54" Type="http://schemas.openxmlformats.org/officeDocument/2006/relationships/image" Target="../media/image125.png"/><Relationship Id="rId55" Type="http://schemas.openxmlformats.org/officeDocument/2006/relationships/image" Target="../media/image126.png"/><Relationship Id="rId56" Type="http://schemas.openxmlformats.org/officeDocument/2006/relationships/image" Target="../media/image127.png"/><Relationship Id="rId57" Type="http://schemas.openxmlformats.org/officeDocument/2006/relationships/image" Target="../media/image128.png"/><Relationship Id="rId58" Type="http://schemas.openxmlformats.org/officeDocument/2006/relationships/image" Target="../media/image129.png"/><Relationship Id="rId59" Type="http://schemas.openxmlformats.org/officeDocument/2006/relationships/image" Target="../media/image1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jpg"/><Relationship Id="rId3" Type="http://schemas.openxmlformats.org/officeDocument/2006/relationships/image" Target="../media/image13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jp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image" Target="../media/image155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image" Target="../media/image160.png"/><Relationship Id="rId15" Type="http://schemas.openxmlformats.org/officeDocument/2006/relationships/image" Target="../media/image161.png"/><Relationship Id="rId16" Type="http://schemas.openxmlformats.org/officeDocument/2006/relationships/image" Target="../media/image16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Relationship Id="rId11" Type="http://schemas.openxmlformats.org/officeDocument/2006/relationships/image" Target="../media/image172.png"/><Relationship Id="rId12" Type="http://schemas.openxmlformats.org/officeDocument/2006/relationships/image" Target="../media/image173.png"/><Relationship Id="rId13" Type="http://schemas.openxmlformats.org/officeDocument/2006/relationships/image" Target="../media/image174.png"/><Relationship Id="rId14" Type="http://schemas.openxmlformats.org/officeDocument/2006/relationships/image" Target="../media/image175.png"/><Relationship Id="rId15" Type="http://schemas.openxmlformats.org/officeDocument/2006/relationships/image" Target="../media/image176.png"/><Relationship Id="rId16" Type="http://schemas.openxmlformats.org/officeDocument/2006/relationships/image" Target="../media/image177.png"/><Relationship Id="rId17" Type="http://schemas.openxmlformats.org/officeDocument/2006/relationships/image" Target="../media/image178.png"/><Relationship Id="rId18" Type="http://schemas.openxmlformats.org/officeDocument/2006/relationships/image" Target="../media/image179.png"/><Relationship Id="rId19" Type="http://schemas.openxmlformats.org/officeDocument/2006/relationships/image" Target="../media/image180.png"/><Relationship Id="rId20" Type="http://schemas.openxmlformats.org/officeDocument/2006/relationships/image" Target="../media/image181.png"/><Relationship Id="rId21" Type="http://schemas.openxmlformats.org/officeDocument/2006/relationships/image" Target="../media/image182.png"/><Relationship Id="rId22" Type="http://schemas.openxmlformats.org/officeDocument/2006/relationships/image" Target="../media/image183.png"/><Relationship Id="rId23" Type="http://schemas.openxmlformats.org/officeDocument/2006/relationships/image" Target="../media/image184.png"/><Relationship Id="rId24" Type="http://schemas.openxmlformats.org/officeDocument/2006/relationships/image" Target="../media/image185.png"/><Relationship Id="rId25" Type="http://schemas.openxmlformats.org/officeDocument/2006/relationships/image" Target="../media/image186.png"/><Relationship Id="rId26" Type="http://schemas.openxmlformats.org/officeDocument/2006/relationships/image" Target="../media/image187.png"/><Relationship Id="rId27" Type="http://schemas.openxmlformats.org/officeDocument/2006/relationships/image" Target="../media/image188.png"/><Relationship Id="rId28" Type="http://schemas.openxmlformats.org/officeDocument/2006/relationships/image" Target="../media/image189.png"/><Relationship Id="rId29" Type="http://schemas.openxmlformats.org/officeDocument/2006/relationships/image" Target="../media/image190.png"/><Relationship Id="rId30" Type="http://schemas.openxmlformats.org/officeDocument/2006/relationships/image" Target="../media/image191.png"/><Relationship Id="rId31" Type="http://schemas.openxmlformats.org/officeDocument/2006/relationships/image" Target="../media/image192.png"/><Relationship Id="rId32" Type="http://schemas.openxmlformats.org/officeDocument/2006/relationships/image" Target="../media/image193.png"/><Relationship Id="rId33" Type="http://schemas.openxmlformats.org/officeDocument/2006/relationships/image" Target="../media/image19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9825" y="5196636"/>
            <a:ext cx="736917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49930" algn="l"/>
              </a:tabLst>
            </a:pPr>
            <a:r>
              <a:rPr dirty="0" sz="4400" spc="-15">
                <a:latin typeface="Calibri"/>
                <a:cs typeface="Calibri"/>
              </a:rPr>
              <a:t>Live</a:t>
            </a:r>
            <a:r>
              <a:rPr dirty="0" sz="4400" spc="10">
                <a:latin typeface="Calibri"/>
                <a:cs typeface="Calibri"/>
              </a:rPr>
              <a:t> </a:t>
            </a:r>
            <a:r>
              <a:rPr dirty="0" sz="4400" spc="-5">
                <a:latin typeface="Calibri"/>
                <a:cs typeface="Calibri"/>
              </a:rPr>
              <a:t>Session</a:t>
            </a:r>
            <a:r>
              <a:rPr dirty="0" sz="4400" spc="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:	</a:t>
            </a:r>
            <a:r>
              <a:rPr dirty="0" sz="4400" spc="-15">
                <a:latin typeface="Calibri"/>
                <a:cs typeface="Calibri"/>
              </a:rPr>
              <a:t>Project</a:t>
            </a:r>
            <a:r>
              <a:rPr dirty="0" sz="4400" spc="-55">
                <a:latin typeface="Calibri"/>
                <a:cs typeface="Calibri"/>
              </a:rPr>
              <a:t> </a:t>
            </a:r>
            <a:r>
              <a:rPr dirty="0" sz="4400" spc="-5">
                <a:latin typeface="Calibri"/>
                <a:cs typeface="Calibri"/>
              </a:rPr>
              <a:t>Discussion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9380" rIns="0" bIns="0" rtlCol="0" vert="horz">
            <a:spAutoFit/>
          </a:bodyPr>
          <a:lstStyle/>
          <a:p>
            <a:pPr marL="12700" marR="5080">
              <a:lnSpc>
                <a:spcPts val="6700"/>
              </a:lnSpc>
              <a:spcBef>
                <a:spcPts val="940"/>
              </a:spcBef>
            </a:pPr>
            <a:r>
              <a:rPr dirty="0" spc="254"/>
              <a:t>Predicting</a:t>
            </a:r>
            <a:r>
              <a:rPr dirty="0" spc="484"/>
              <a:t> </a:t>
            </a:r>
            <a:r>
              <a:rPr dirty="0" spc="340"/>
              <a:t>the</a:t>
            </a:r>
            <a:r>
              <a:rPr dirty="0" spc="500"/>
              <a:t> </a:t>
            </a:r>
            <a:r>
              <a:rPr dirty="0" spc="545"/>
              <a:t>Success</a:t>
            </a:r>
            <a:r>
              <a:rPr dirty="0" spc="480"/>
              <a:t> </a:t>
            </a:r>
            <a:r>
              <a:rPr dirty="0" spc="120"/>
              <a:t>of </a:t>
            </a:r>
            <a:r>
              <a:rPr dirty="0" spc="-1350"/>
              <a:t> </a:t>
            </a:r>
            <a:r>
              <a:rPr dirty="0" spc="280"/>
              <a:t>Telemarketing</a:t>
            </a:r>
            <a:r>
              <a:rPr dirty="0" spc="440"/>
              <a:t> </a:t>
            </a:r>
            <a:r>
              <a:rPr dirty="0" spc="500"/>
              <a:t>Campaign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618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Problem</a:t>
            </a:r>
            <a:r>
              <a:rPr dirty="0" spc="-50"/>
              <a:t> </a:t>
            </a:r>
            <a:r>
              <a:rPr dirty="0" spc="-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628722"/>
            <a:ext cx="10426700" cy="20002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525"/>
              </a:spcBef>
            </a:pPr>
            <a:r>
              <a:rPr dirty="0" sz="3500" spc="25">
                <a:solidFill>
                  <a:srgbClr val="C00000"/>
                </a:solidFill>
                <a:latin typeface="Franklin Gothic Medium"/>
                <a:cs typeface="Franklin Gothic Medium"/>
              </a:rPr>
              <a:t>“The </a:t>
            </a:r>
            <a:r>
              <a:rPr dirty="0" sz="35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Telemarketing </a:t>
            </a:r>
            <a:r>
              <a:rPr dirty="0" sz="35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Team </a:t>
            </a:r>
            <a:r>
              <a:rPr dirty="0" sz="3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of a </a:t>
            </a:r>
            <a:r>
              <a:rPr dirty="0" sz="3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Bank </a:t>
            </a:r>
            <a:r>
              <a:rPr dirty="0" sz="3500" spc="10">
                <a:solidFill>
                  <a:srgbClr val="C00000"/>
                </a:solidFill>
                <a:latin typeface="Franklin Gothic Medium"/>
                <a:cs typeface="Franklin Gothic Medium"/>
              </a:rPr>
              <a:t>runs </a:t>
            </a:r>
            <a:r>
              <a:rPr dirty="0" sz="35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campaigns </a:t>
            </a:r>
            <a:r>
              <a:rPr dirty="0" sz="35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to </a:t>
            </a:r>
            <a:r>
              <a:rPr dirty="0" sz="35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expand </a:t>
            </a:r>
            <a:r>
              <a:rPr dirty="0" sz="3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the </a:t>
            </a:r>
            <a:r>
              <a:rPr dirty="0" sz="35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term </a:t>
            </a:r>
            <a:r>
              <a:rPr dirty="0" sz="3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deposit </a:t>
            </a:r>
            <a:r>
              <a:rPr dirty="0" sz="3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portfolio. </a:t>
            </a:r>
            <a:r>
              <a:rPr dirty="0" sz="35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You </a:t>
            </a:r>
            <a:r>
              <a:rPr dirty="0" sz="3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are requested </a:t>
            </a:r>
            <a:r>
              <a:rPr dirty="0" sz="35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to </a:t>
            </a:r>
            <a:r>
              <a:rPr dirty="0" sz="3500" spc="-86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enable </a:t>
            </a:r>
            <a:r>
              <a:rPr dirty="0" sz="3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prioritization </a:t>
            </a:r>
            <a:r>
              <a:rPr dirty="0" sz="35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for </a:t>
            </a:r>
            <a:r>
              <a:rPr dirty="0" sz="3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the </a:t>
            </a:r>
            <a:r>
              <a:rPr dirty="0" sz="35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Telemarketing </a:t>
            </a:r>
            <a:r>
              <a:rPr dirty="0" sz="35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team, </a:t>
            </a:r>
            <a:r>
              <a:rPr dirty="0" sz="3500">
                <a:solidFill>
                  <a:srgbClr val="C00000"/>
                </a:solidFill>
                <a:latin typeface="Franklin Gothic Medium"/>
                <a:cs typeface="Franklin Gothic Medium"/>
              </a:rPr>
              <a:t>so </a:t>
            </a:r>
            <a:r>
              <a:rPr dirty="0" sz="3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that </a:t>
            </a:r>
            <a:r>
              <a:rPr dirty="0" sz="3500" spc="-86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overall</a:t>
            </a:r>
            <a:r>
              <a:rPr dirty="0" sz="3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5">
                <a:solidFill>
                  <a:srgbClr val="C00000"/>
                </a:solidFill>
                <a:latin typeface="Franklin Gothic Medium"/>
                <a:cs typeface="Franklin Gothic Medium"/>
              </a:rPr>
              <a:t>responses</a:t>
            </a:r>
            <a:r>
              <a:rPr dirty="0" sz="3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and </a:t>
            </a:r>
            <a:r>
              <a:rPr dirty="0" sz="35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ROI</a:t>
            </a:r>
            <a:r>
              <a:rPr dirty="0" sz="3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35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the</a:t>
            </a:r>
            <a:r>
              <a:rPr dirty="0" sz="3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campaign</a:t>
            </a:r>
            <a:r>
              <a:rPr dirty="0" sz="3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500" spc="5">
                <a:solidFill>
                  <a:srgbClr val="C00000"/>
                </a:solidFill>
                <a:latin typeface="Franklin Gothic Medium"/>
                <a:cs typeface="Franklin Gothic Medium"/>
              </a:rPr>
              <a:t>increases”</a:t>
            </a:r>
            <a:endParaRPr sz="35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1716" y="5124958"/>
            <a:ext cx="992759" cy="3277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6319" y="5209540"/>
            <a:ext cx="350187" cy="1765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6117" y="5080127"/>
            <a:ext cx="1388617" cy="3073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400173" y="5161407"/>
            <a:ext cx="1226820" cy="995680"/>
            <a:chOff x="2400173" y="5161407"/>
            <a:chExt cx="1226820" cy="99568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0173" y="5161407"/>
              <a:ext cx="1221486" cy="4775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8046" y="5681052"/>
              <a:ext cx="718872" cy="47579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50640" y="5660440"/>
            <a:ext cx="711708" cy="2756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47710" y="5771438"/>
            <a:ext cx="284410" cy="1625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69915" y="5650090"/>
            <a:ext cx="334049" cy="26289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740908" y="5559805"/>
            <a:ext cx="1091565" cy="314325"/>
            <a:chOff x="5740908" y="5559805"/>
            <a:chExt cx="1091565" cy="31432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40908" y="5559805"/>
              <a:ext cx="1091057" cy="3140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14136" y="5600852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16510" y="0"/>
                  </a:moveTo>
                  <a:lnTo>
                    <a:pt x="4699" y="0"/>
                  </a:lnTo>
                  <a:lnTo>
                    <a:pt x="0" y="4775"/>
                  </a:lnTo>
                  <a:lnTo>
                    <a:pt x="0" y="16548"/>
                  </a:lnTo>
                  <a:lnTo>
                    <a:pt x="4699" y="21323"/>
                  </a:lnTo>
                  <a:lnTo>
                    <a:pt x="16510" y="21323"/>
                  </a:lnTo>
                  <a:lnTo>
                    <a:pt x="21336" y="16548"/>
                  </a:lnTo>
                  <a:lnTo>
                    <a:pt x="21336" y="10668"/>
                  </a:lnTo>
                  <a:lnTo>
                    <a:pt x="21336" y="4775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52615" y="5424004"/>
            <a:ext cx="1223009" cy="4521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01191" y="1406525"/>
            <a:ext cx="1569847" cy="1087627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367532" y="928750"/>
            <a:ext cx="4756785" cy="1553845"/>
            <a:chOff x="3367532" y="928750"/>
            <a:chExt cx="4756785" cy="1553845"/>
          </a:xfrm>
        </p:grpSpPr>
        <p:sp>
          <p:nvSpPr>
            <p:cNvPr id="19" name="object 19"/>
            <p:cNvSpPr/>
            <p:nvPr/>
          </p:nvSpPr>
          <p:spPr>
            <a:xfrm>
              <a:off x="7540625" y="1436369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5">
                  <a:moveTo>
                    <a:pt x="10922" y="0"/>
                  </a:moveTo>
                  <a:lnTo>
                    <a:pt x="3175" y="0"/>
                  </a:lnTo>
                  <a:lnTo>
                    <a:pt x="0" y="3175"/>
                  </a:lnTo>
                  <a:lnTo>
                    <a:pt x="0" y="10921"/>
                  </a:lnTo>
                  <a:lnTo>
                    <a:pt x="3175" y="14096"/>
                  </a:lnTo>
                  <a:lnTo>
                    <a:pt x="10922" y="14096"/>
                  </a:lnTo>
                  <a:lnTo>
                    <a:pt x="14097" y="10921"/>
                  </a:lnTo>
                  <a:lnTo>
                    <a:pt x="14097" y="7112"/>
                  </a:lnTo>
                  <a:lnTo>
                    <a:pt x="14097" y="3175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67532" y="928750"/>
              <a:ext cx="4756658" cy="1553845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209280" y="1319022"/>
            <a:ext cx="933069" cy="499363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9215755" y="716152"/>
            <a:ext cx="1471295" cy="1445895"/>
            <a:chOff x="9215755" y="716152"/>
            <a:chExt cx="1471295" cy="1445895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67571" y="1187195"/>
              <a:ext cx="696340" cy="42252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74900" y="716152"/>
              <a:ext cx="812150" cy="144564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15755" y="772032"/>
              <a:ext cx="526161" cy="14770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505061" y="740028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4986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14986"/>
                  </a:lnTo>
                  <a:lnTo>
                    <a:pt x="4318" y="19304"/>
                  </a:lnTo>
                  <a:lnTo>
                    <a:pt x="14986" y="19304"/>
                  </a:lnTo>
                  <a:lnTo>
                    <a:pt x="19304" y="14986"/>
                  </a:lnTo>
                  <a:lnTo>
                    <a:pt x="19304" y="9651"/>
                  </a:lnTo>
                  <a:lnTo>
                    <a:pt x="19304" y="4318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8090661" y="462280"/>
            <a:ext cx="1000125" cy="563245"/>
            <a:chOff x="8090661" y="462280"/>
            <a:chExt cx="1000125" cy="563245"/>
          </a:xfrm>
        </p:grpSpPr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90661" y="462280"/>
              <a:ext cx="365887" cy="25527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76843" y="489331"/>
              <a:ext cx="813434" cy="536194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176367" y="478662"/>
            <a:ext cx="281891" cy="191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231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Some</a:t>
            </a:r>
            <a:r>
              <a:rPr dirty="0" spc="-35"/>
              <a:t> </a:t>
            </a:r>
            <a:r>
              <a:rPr dirty="0" spc="-5"/>
              <a:t>Definitions</a:t>
            </a:r>
            <a:r>
              <a:rPr dirty="0" spc="-20"/>
              <a:t> </a:t>
            </a:r>
            <a:r>
              <a:rPr dirty="0" spc="-25"/>
              <a:t>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8872" y="2050541"/>
            <a:ext cx="10424160" cy="3302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Marketing</a:t>
            </a:r>
            <a:r>
              <a:rPr dirty="0" sz="30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0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Channel</a:t>
            </a:r>
            <a:r>
              <a:rPr dirty="0" sz="30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000" spc="25">
                <a:solidFill>
                  <a:srgbClr val="C00000"/>
                </a:solidFill>
                <a:latin typeface="Franklin Gothic Medium"/>
                <a:cs typeface="Franklin Gothic Medium"/>
              </a:rPr>
              <a:t>:</a:t>
            </a:r>
            <a:r>
              <a:rPr dirty="0" sz="3000" spc="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200" spc="-40">
                <a:latin typeface="Franklin Gothic Medium"/>
                <a:cs typeface="Franklin Gothic Medium"/>
              </a:rPr>
              <a:t>Avenue</a:t>
            </a:r>
            <a:r>
              <a:rPr dirty="0" sz="2200" spc="-30">
                <a:latin typeface="Franklin Gothic Medium"/>
                <a:cs typeface="Franklin Gothic Medium"/>
              </a:rPr>
              <a:t> of</a:t>
            </a:r>
            <a:r>
              <a:rPr dirty="0" sz="2200">
                <a:latin typeface="Franklin Gothic Medium"/>
                <a:cs typeface="Franklin Gothic Medium"/>
              </a:rPr>
              <a:t> </a:t>
            </a:r>
            <a:r>
              <a:rPr dirty="0" sz="2200" spc="-35">
                <a:latin typeface="Franklin Gothic Medium"/>
                <a:cs typeface="Franklin Gothic Medium"/>
              </a:rPr>
              <a:t>communication </a:t>
            </a:r>
            <a:r>
              <a:rPr dirty="0" sz="2200" spc="-45">
                <a:latin typeface="Franklin Gothic Medium"/>
                <a:cs typeface="Franklin Gothic Medium"/>
              </a:rPr>
              <a:t>to</a:t>
            </a:r>
            <a:r>
              <a:rPr dirty="0" sz="2200">
                <a:latin typeface="Franklin Gothic Medium"/>
                <a:cs typeface="Franklin Gothic Medium"/>
              </a:rPr>
              <a:t> </a:t>
            </a:r>
            <a:r>
              <a:rPr dirty="0" sz="2200" spc="-25">
                <a:latin typeface="Franklin Gothic Medium"/>
                <a:cs typeface="Franklin Gothic Medium"/>
              </a:rPr>
              <a:t>customer</a:t>
            </a:r>
            <a:r>
              <a:rPr dirty="0" sz="2200" spc="-40">
                <a:latin typeface="Franklin Gothic Medium"/>
                <a:cs typeface="Franklin Gothic Medium"/>
              </a:rPr>
              <a:t> </a:t>
            </a:r>
            <a:r>
              <a:rPr dirty="0" sz="2200" spc="-35">
                <a:latin typeface="Franklin Gothic Medium"/>
                <a:cs typeface="Franklin Gothic Medium"/>
              </a:rPr>
              <a:t>for</a:t>
            </a:r>
            <a:r>
              <a:rPr dirty="0" sz="2200" spc="-15">
                <a:latin typeface="Franklin Gothic Medium"/>
                <a:cs typeface="Franklin Gothic Medium"/>
              </a:rPr>
              <a:t> </a:t>
            </a:r>
            <a:r>
              <a:rPr dirty="0" sz="2200">
                <a:latin typeface="Franklin Gothic Medium"/>
                <a:cs typeface="Franklin Gothic Medium"/>
              </a:rPr>
              <a:t>Business</a:t>
            </a:r>
            <a:r>
              <a:rPr dirty="0" sz="2200" spc="-35">
                <a:latin typeface="Franklin Gothic Medium"/>
                <a:cs typeface="Franklin Gothic Medium"/>
              </a:rPr>
              <a:t> </a:t>
            </a:r>
            <a:r>
              <a:rPr dirty="0" sz="2200" spc="-15">
                <a:latin typeface="Franklin Gothic Medium"/>
                <a:cs typeface="Franklin Gothic Medium"/>
              </a:rPr>
              <a:t>Purpose</a:t>
            </a: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dirty="0" sz="30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Telemarketing:</a:t>
            </a:r>
            <a:r>
              <a:rPr dirty="0" sz="30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200" spc="-35">
                <a:latin typeface="Franklin Gothic Medium"/>
                <a:cs typeface="Franklin Gothic Medium"/>
              </a:rPr>
              <a:t>It</a:t>
            </a:r>
            <a:r>
              <a:rPr dirty="0" sz="2200" spc="-15">
                <a:latin typeface="Franklin Gothic Medium"/>
                <a:cs typeface="Franklin Gothic Medium"/>
              </a:rPr>
              <a:t> </a:t>
            </a:r>
            <a:r>
              <a:rPr dirty="0" sz="2200" spc="-5">
                <a:latin typeface="Franklin Gothic Medium"/>
                <a:cs typeface="Franklin Gothic Medium"/>
              </a:rPr>
              <a:t>is</a:t>
            </a:r>
            <a:r>
              <a:rPr dirty="0" sz="2200" spc="-10">
                <a:latin typeface="Franklin Gothic Medium"/>
                <a:cs typeface="Franklin Gothic Medium"/>
              </a:rPr>
              <a:t> </a:t>
            </a:r>
            <a:r>
              <a:rPr dirty="0" sz="2200" spc="-30">
                <a:latin typeface="Franklin Gothic Medium"/>
                <a:cs typeface="Franklin Gothic Medium"/>
              </a:rPr>
              <a:t>a</a:t>
            </a:r>
            <a:r>
              <a:rPr dirty="0" sz="2200" spc="5">
                <a:latin typeface="Franklin Gothic Medium"/>
                <a:cs typeface="Franklin Gothic Medium"/>
              </a:rPr>
              <a:t> </a:t>
            </a:r>
            <a:r>
              <a:rPr dirty="0" sz="2200" spc="-35">
                <a:latin typeface="Franklin Gothic Medium"/>
                <a:cs typeface="Franklin Gothic Medium"/>
              </a:rPr>
              <a:t>Marketing</a:t>
            </a:r>
            <a:r>
              <a:rPr dirty="0" sz="2200" spc="-25">
                <a:latin typeface="Franklin Gothic Medium"/>
                <a:cs typeface="Franklin Gothic Medium"/>
              </a:rPr>
              <a:t> </a:t>
            </a:r>
            <a:r>
              <a:rPr dirty="0" sz="2200" spc="-10">
                <a:latin typeface="Franklin Gothic Medium"/>
                <a:cs typeface="Franklin Gothic Medium"/>
              </a:rPr>
              <a:t>Channel</a:t>
            </a:r>
            <a:r>
              <a:rPr dirty="0" sz="2200" spc="-25">
                <a:latin typeface="Franklin Gothic Medium"/>
                <a:cs typeface="Franklin Gothic Medium"/>
              </a:rPr>
              <a:t> </a:t>
            </a:r>
            <a:r>
              <a:rPr dirty="0" sz="2200" spc="-15">
                <a:latin typeface="Franklin Gothic Medium"/>
                <a:cs typeface="Franklin Gothic Medium"/>
              </a:rPr>
              <a:t>where</a:t>
            </a:r>
            <a:r>
              <a:rPr dirty="0" sz="2200" spc="-25">
                <a:latin typeface="Franklin Gothic Medium"/>
                <a:cs typeface="Franklin Gothic Medium"/>
              </a:rPr>
              <a:t> </a:t>
            </a:r>
            <a:r>
              <a:rPr dirty="0" sz="2200" spc="-20">
                <a:latin typeface="Franklin Gothic Medium"/>
                <a:cs typeface="Franklin Gothic Medium"/>
              </a:rPr>
              <a:t>customers </a:t>
            </a:r>
            <a:r>
              <a:rPr dirty="0" sz="2200" spc="-10">
                <a:latin typeface="Franklin Gothic Medium"/>
                <a:cs typeface="Franklin Gothic Medium"/>
              </a:rPr>
              <a:t>are</a:t>
            </a:r>
            <a:r>
              <a:rPr dirty="0" sz="2200" spc="-15">
                <a:latin typeface="Franklin Gothic Medium"/>
                <a:cs typeface="Franklin Gothic Medium"/>
              </a:rPr>
              <a:t> called</a:t>
            </a:r>
            <a:r>
              <a:rPr dirty="0" sz="2200" spc="-25">
                <a:latin typeface="Franklin Gothic Medium"/>
                <a:cs typeface="Franklin Gothic Medium"/>
              </a:rPr>
              <a:t> </a:t>
            </a:r>
            <a:r>
              <a:rPr dirty="0" sz="2200" spc="-5">
                <a:latin typeface="Franklin Gothic Medium"/>
                <a:cs typeface="Franklin Gothic Medium"/>
              </a:rPr>
              <a:t>up</a:t>
            </a:r>
            <a:r>
              <a:rPr dirty="0" sz="2200" spc="-10">
                <a:latin typeface="Franklin Gothic Medium"/>
                <a:cs typeface="Franklin Gothic Medium"/>
              </a:rPr>
              <a:t> </a:t>
            </a:r>
            <a:r>
              <a:rPr dirty="0" sz="2200" spc="-35">
                <a:latin typeface="Franklin Gothic Medium"/>
                <a:cs typeface="Franklin Gothic Medium"/>
              </a:rPr>
              <a:t>for</a:t>
            </a:r>
            <a:r>
              <a:rPr dirty="0" sz="2200" spc="-15">
                <a:latin typeface="Franklin Gothic Medium"/>
                <a:cs typeface="Franklin Gothic Medium"/>
              </a:rPr>
              <a:t> </a:t>
            </a:r>
            <a:r>
              <a:rPr dirty="0" sz="2200" spc="-10">
                <a:latin typeface="Franklin Gothic Medium"/>
                <a:cs typeface="Franklin Gothic Medium"/>
              </a:rPr>
              <a:t>Offers</a:t>
            </a: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5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dirty="0" sz="30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Portfolio:</a:t>
            </a:r>
            <a:r>
              <a:rPr dirty="0" sz="30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200" spc="-155">
                <a:latin typeface="Franklin Gothic Medium"/>
                <a:cs typeface="Franklin Gothic Medium"/>
              </a:rPr>
              <a:t>A</a:t>
            </a:r>
            <a:r>
              <a:rPr dirty="0" sz="2200" spc="5">
                <a:latin typeface="Franklin Gothic Medium"/>
                <a:cs typeface="Franklin Gothic Medium"/>
              </a:rPr>
              <a:t> </a:t>
            </a:r>
            <a:r>
              <a:rPr dirty="0" sz="2200" spc="-25">
                <a:latin typeface="Franklin Gothic Medium"/>
                <a:cs typeface="Franklin Gothic Medium"/>
              </a:rPr>
              <a:t>group</a:t>
            </a:r>
            <a:r>
              <a:rPr dirty="0" sz="2200" spc="-30">
                <a:latin typeface="Franklin Gothic Medium"/>
                <a:cs typeface="Franklin Gothic Medium"/>
              </a:rPr>
              <a:t> of</a:t>
            </a:r>
            <a:r>
              <a:rPr dirty="0" sz="2200" spc="5">
                <a:latin typeface="Franklin Gothic Medium"/>
                <a:cs typeface="Franklin Gothic Medium"/>
              </a:rPr>
              <a:t> </a:t>
            </a:r>
            <a:r>
              <a:rPr dirty="0" sz="2200" spc="-20">
                <a:latin typeface="Franklin Gothic Medium"/>
                <a:cs typeface="Franklin Gothic Medium"/>
              </a:rPr>
              <a:t>customers </a:t>
            </a:r>
            <a:r>
              <a:rPr dirty="0" sz="2200">
                <a:latin typeface="Franklin Gothic Medium"/>
                <a:cs typeface="Franklin Gothic Medium"/>
              </a:rPr>
              <a:t>under</a:t>
            </a:r>
            <a:r>
              <a:rPr dirty="0" sz="2200" spc="-20">
                <a:latin typeface="Franklin Gothic Medium"/>
                <a:cs typeface="Franklin Gothic Medium"/>
              </a:rPr>
              <a:t> </a:t>
            </a:r>
            <a:r>
              <a:rPr dirty="0" sz="2200" spc="-30">
                <a:latin typeface="Franklin Gothic Medium"/>
                <a:cs typeface="Franklin Gothic Medium"/>
              </a:rPr>
              <a:t>a</a:t>
            </a:r>
            <a:r>
              <a:rPr dirty="0" sz="2200" spc="-5">
                <a:latin typeface="Franklin Gothic Medium"/>
                <a:cs typeface="Franklin Gothic Medium"/>
              </a:rPr>
              <a:t> </a:t>
            </a:r>
            <a:r>
              <a:rPr dirty="0" sz="2200" spc="-15">
                <a:latin typeface="Franklin Gothic Medium"/>
                <a:cs typeface="Franklin Gothic Medium"/>
              </a:rPr>
              <a:t>product</a:t>
            </a:r>
            <a:r>
              <a:rPr dirty="0" sz="2200" spc="-25">
                <a:latin typeface="Franklin Gothic Medium"/>
                <a:cs typeface="Franklin Gothic Medium"/>
              </a:rPr>
              <a:t> category</a:t>
            </a: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dirty="0" sz="30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ROI</a:t>
            </a:r>
            <a:r>
              <a:rPr dirty="0" sz="30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3000" spc="25">
                <a:solidFill>
                  <a:srgbClr val="C00000"/>
                </a:solidFill>
                <a:latin typeface="Franklin Gothic Medium"/>
                <a:cs typeface="Franklin Gothic Medium"/>
              </a:rPr>
              <a:t>:</a:t>
            </a:r>
            <a:r>
              <a:rPr dirty="0" sz="30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200" spc="-65">
                <a:latin typeface="Franklin Gothic Medium"/>
                <a:cs typeface="Franklin Gothic Medium"/>
              </a:rPr>
              <a:t>Acronym</a:t>
            </a:r>
            <a:r>
              <a:rPr dirty="0" sz="2200" spc="-35">
                <a:latin typeface="Franklin Gothic Medium"/>
                <a:cs typeface="Franklin Gothic Medium"/>
              </a:rPr>
              <a:t> for</a:t>
            </a:r>
            <a:r>
              <a:rPr dirty="0" sz="2200" spc="-20">
                <a:latin typeface="Franklin Gothic Medium"/>
                <a:cs typeface="Franklin Gothic Medium"/>
              </a:rPr>
              <a:t> </a:t>
            </a:r>
            <a:r>
              <a:rPr dirty="0" sz="2200" spc="-25">
                <a:latin typeface="Franklin Gothic Medium"/>
                <a:cs typeface="Franklin Gothic Medium"/>
              </a:rPr>
              <a:t>Return</a:t>
            </a:r>
            <a:r>
              <a:rPr dirty="0" sz="2200" spc="-45">
                <a:latin typeface="Franklin Gothic Medium"/>
                <a:cs typeface="Franklin Gothic Medium"/>
              </a:rPr>
              <a:t> </a:t>
            </a:r>
            <a:r>
              <a:rPr dirty="0" sz="2200" spc="-10">
                <a:latin typeface="Franklin Gothic Medium"/>
                <a:cs typeface="Franklin Gothic Medium"/>
              </a:rPr>
              <a:t>on</a:t>
            </a:r>
            <a:r>
              <a:rPr dirty="0" sz="2200" spc="-20">
                <a:latin typeface="Franklin Gothic Medium"/>
                <a:cs typeface="Franklin Gothic Medium"/>
              </a:rPr>
              <a:t> </a:t>
            </a:r>
            <a:r>
              <a:rPr dirty="0" sz="2200" spc="-30">
                <a:latin typeface="Franklin Gothic Medium"/>
                <a:cs typeface="Franklin Gothic Medium"/>
              </a:rPr>
              <a:t>Investment</a:t>
            </a:r>
            <a:endParaRPr sz="220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07044" y="3479291"/>
            <a:ext cx="3646170" cy="1643380"/>
            <a:chOff x="8107044" y="3479291"/>
            <a:chExt cx="3646170" cy="1643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8270" y="3919473"/>
              <a:ext cx="471007" cy="159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5415" y="4234560"/>
              <a:ext cx="1358518" cy="180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6170" y="4549520"/>
              <a:ext cx="757554" cy="1781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6330" y="4732908"/>
              <a:ext cx="1751711" cy="3896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7044" y="3498087"/>
              <a:ext cx="3607561" cy="15322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24843" y="4661407"/>
              <a:ext cx="427862" cy="3385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04281" y="3790314"/>
              <a:ext cx="282287" cy="1715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60610" y="3671442"/>
              <a:ext cx="126746" cy="1301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70895" y="3798569"/>
              <a:ext cx="374014" cy="2200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84687" y="3479291"/>
              <a:ext cx="933068" cy="4584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36677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Why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30"/>
              <a:t> </a:t>
            </a:r>
            <a:r>
              <a:rPr dirty="0" spc="-35"/>
              <a:t>Matters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6780"/>
            <a:ext cx="10311130" cy="3762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Telemarketing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Team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generally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has</a:t>
            </a:r>
            <a:r>
              <a:rPr dirty="0" sz="25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fixed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resources</a:t>
            </a:r>
            <a:endParaRPr sz="25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Arial MT"/>
              <a:buChar char="•"/>
            </a:pPr>
            <a:endParaRPr sz="2400">
              <a:latin typeface="Franklin Gothic Medium"/>
              <a:cs typeface="Franklin Gothic Medium"/>
            </a:endParaRPr>
          </a:p>
          <a:p>
            <a:pPr marL="469900" marR="526415" indent="-457834">
              <a:lnSpc>
                <a:spcPts val="2700"/>
              </a:lnSpc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The</a:t>
            </a:r>
            <a:r>
              <a:rPr dirty="0" sz="2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team</a:t>
            </a:r>
            <a:r>
              <a:rPr dirty="0" sz="2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will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have </a:t>
            </a:r>
            <a:r>
              <a:rPr dirty="0" sz="2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a</a:t>
            </a:r>
            <a:r>
              <a:rPr dirty="0" sz="25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fixed 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call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handling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capacity</a:t>
            </a:r>
            <a:r>
              <a:rPr dirty="0" sz="2500" spc="4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in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a</a:t>
            </a:r>
            <a:r>
              <a:rPr dirty="0" sz="2500" spc="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given </a:t>
            </a:r>
            <a:r>
              <a:rPr dirty="0" sz="25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time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frame </a:t>
            </a:r>
            <a:r>
              <a:rPr dirty="0" sz="2500" spc="-6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>
                <a:solidFill>
                  <a:srgbClr val="C00000"/>
                </a:solidFill>
                <a:latin typeface="Franklin Gothic Medium"/>
                <a:cs typeface="Franklin Gothic Medium"/>
              </a:rPr>
              <a:t>(suppose</a:t>
            </a:r>
            <a:r>
              <a:rPr dirty="0" sz="25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x</a:t>
            </a:r>
            <a:r>
              <a:rPr dirty="0" sz="2500" spc="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calls/day)</a:t>
            </a:r>
            <a:endParaRPr sz="25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Arial MT"/>
              <a:buChar char="•"/>
            </a:pPr>
            <a:endParaRPr sz="2350">
              <a:latin typeface="Franklin Gothic Medium"/>
              <a:cs typeface="Franklin Gothic Medium"/>
            </a:endParaRPr>
          </a:p>
          <a:p>
            <a:pPr marL="469900" marR="5080" indent="-457834">
              <a:lnSpc>
                <a:spcPts val="2700"/>
              </a:lnSpc>
              <a:buFont typeface="Arial MT"/>
              <a:buChar char="•"/>
              <a:tabLst>
                <a:tab pos="469900" algn="l"/>
                <a:tab pos="470534" algn="l"/>
                <a:tab pos="1875789" algn="l"/>
              </a:tabLst>
            </a:pP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If</a:t>
            </a:r>
            <a:r>
              <a:rPr dirty="0" sz="2500" spc="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the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Telemarketing</a:t>
            </a:r>
            <a:r>
              <a:rPr dirty="0" sz="25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team</a:t>
            </a:r>
            <a:r>
              <a:rPr dirty="0" sz="25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receives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a</a:t>
            </a:r>
            <a:r>
              <a:rPr dirty="0" sz="2500" spc="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pre-selected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list</a:t>
            </a:r>
            <a:r>
              <a:rPr dirty="0" sz="2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500" spc="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customers</a:t>
            </a:r>
            <a:r>
              <a:rPr dirty="0" sz="2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to</a:t>
            </a:r>
            <a:r>
              <a:rPr dirty="0" sz="25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call, </a:t>
            </a:r>
            <a:r>
              <a:rPr dirty="0" sz="2500" spc="-6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then </a:t>
            </a:r>
            <a:r>
              <a:rPr dirty="0" sz="25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they	</a:t>
            </a:r>
            <a:r>
              <a:rPr dirty="0" sz="2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can</a:t>
            </a:r>
            <a:r>
              <a:rPr dirty="0" sz="2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focus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on </a:t>
            </a:r>
            <a:r>
              <a:rPr dirty="0" sz="25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them</a:t>
            </a:r>
            <a:r>
              <a:rPr dirty="0" sz="25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only</a:t>
            </a:r>
            <a:endParaRPr sz="2500">
              <a:latin typeface="Franklin Gothic Medium"/>
              <a:cs typeface="Franklin Gothic Medium"/>
            </a:endParaRPr>
          </a:p>
          <a:p>
            <a:pPr marL="469900" indent="-457834">
              <a:lnSpc>
                <a:spcPct val="100000"/>
              </a:lnSpc>
              <a:spcBef>
                <a:spcPts val="236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ROI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will </a:t>
            </a:r>
            <a:r>
              <a:rPr dirty="0" sz="25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increase</a:t>
            </a:r>
            <a:r>
              <a:rPr dirty="0" sz="25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in</a:t>
            </a:r>
            <a:r>
              <a:rPr dirty="0" sz="25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2</a:t>
            </a:r>
            <a:r>
              <a:rPr dirty="0" sz="25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5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ways</a:t>
            </a:r>
            <a:endParaRPr sz="2500">
              <a:latin typeface="Franklin Gothic Medium"/>
              <a:cs typeface="Franklin Gothic Medium"/>
            </a:endParaRPr>
          </a:p>
          <a:p>
            <a:pPr lvl="1" marL="927100" indent="-457834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927100" algn="l"/>
                <a:tab pos="927735" algn="l"/>
              </a:tabLst>
            </a:pPr>
            <a:r>
              <a:rPr dirty="0" sz="2000" spc="-20">
                <a:latin typeface="Franklin Gothic Medium"/>
                <a:cs typeface="Franklin Gothic Medium"/>
              </a:rPr>
              <a:t>Reduction</a:t>
            </a:r>
            <a:r>
              <a:rPr dirty="0" sz="2000" spc="-1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of</a:t>
            </a:r>
            <a:r>
              <a:rPr dirty="0" sz="2000" spc="-15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investment</a:t>
            </a:r>
            <a:r>
              <a:rPr dirty="0" sz="2000" spc="-15">
                <a:latin typeface="Franklin Gothic Medium"/>
                <a:cs typeface="Franklin Gothic Medium"/>
              </a:rPr>
              <a:t> </a:t>
            </a:r>
            <a:r>
              <a:rPr dirty="0" sz="2000" spc="-45">
                <a:latin typeface="Franklin Gothic Medium"/>
                <a:cs typeface="Franklin Gothic Medium"/>
              </a:rPr>
              <a:t>by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 spc="-15">
                <a:latin typeface="Franklin Gothic Medium"/>
                <a:cs typeface="Franklin Gothic Medium"/>
              </a:rPr>
              <a:t>not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calling</a:t>
            </a:r>
            <a:r>
              <a:rPr dirty="0" sz="2000" spc="25">
                <a:latin typeface="Franklin Gothic Medium"/>
                <a:cs typeface="Franklin Gothic Medium"/>
              </a:rPr>
              <a:t> </a:t>
            </a:r>
            <a:r>
              <a:rPr dirty="0" sz="2000" spc="-5">
                <a:latin typeface="Franklin Gothic Medium"/>
                <a:cs typeface="Franklin Gothic Medium"/>
              </a:rPr>
              <a:t>up</a:t>
            </a:r>
            <a:r>
              <a:rPr dirty="0" sz="200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everyone</a:t>
            </a:r>
            <a:endParaRPr sz="2000">
              <a:latin typeface="Franklin Gothic Medium"/>
              <a:cs typeface="Franklin Gothic Medium"/>
            </a:endParaRPr>
          </a:p>
          <a:p>
            <a:pPr lvl="1" marL="927100" indent="-457834">
              <a:lnSpc>
                <a:spcPct val="100000"/>
              </a:lnSpc>
              <a:buFont typeface="Arial MT"/>
              <a:buChar char="•"/>
              <a:tabLst>
                <a:tab pos="927100" algn="l"/>
                <a:tab pos="927735" algn="l"/>
              </a:tabLst>
            </a:pPr>
            <a:r>
              <a:rPr dirty="0" sz="2000" spc="-10">
                <a:latin typeface="Franklin Gothic Medium"/>
                <a:cs typeface="Franklin Gothic Medium"/>
              </a:rPr>
              <a:t>Increase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in</a:t>
            </a:r>
            <a:r>
              <a:rPr dirty="0" sz="200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rate</a:t>
            </a:r>
            <a:r>
              <a:rPr dirty="0" sz="2000" spc="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of</a:t>
            </a:r>
            <a:r>
              <a:rPr dirty="0" sz="2000" spc="5">
                <a:latin typeface="Franklin Gothic Medium"/>
                <a:cs typeface="Franklin Gothic Medium"/>
              </a:rPr>
              <a:t> </a:t>
            </a:r>
            <a:r>
              <a:rPr dirty="0" sz="2000" spc="-5">
                <a:latin typeface="Franklin Gothic Medium"/>
                <a:cs typeface="Franklin Gothic Medium"/>
              </a:rPr>
              <a:t>response</a:t>
            </a:r>
            <a:r>
              <a:rPr dirty="0" sz="2000" spc="-40">
                <a:latin typeface="Franklin Gothic Medium"/>
                <a:cs typeface="Franklin Gothic Medium"/>
              </a:rPr>
              <a:t> among</a:t>
            </a:r>
            <a:r>
              <a:rPr dirty="0" sz="2000" spc="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the</a:t>
            </a:r>
            <a:r>
              <a:rPr dirty="0" sz="2000" spc="-1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prioritized</a:t>
            </a:r>
            <a:r>
              <a:rPr dirty="0" sz="200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customer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list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89796" y="3873119"/>
            <a:ext cx="1447800" cy="890269"/>
            <a:chOff x="8789796" y="3873119"/>
            <a:chExt cx="1447800" cy="89026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5862" y="4143502"/>
              <a:ext cx="411606" cy="4188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9796" y="3873119"/>
              <a:ext cx="1436147" cy="89026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7832" y="3853815"/>
            <a:ext cx="506349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06939" y="4162297"/>
            <a:ext cx="1161033" cy="50190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681217" y="4942966"/>
            <a:ext cx="5977255" cy="1721485"/>
            <a:chOff x="5681217" y="4942966"/>
            <a:chExt cx="5977255" cy="172148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5801" y="5162295"/>
              <a:ext cx="2632455" cy="3605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57229" y="4942966"/>
              <a:ext cx="388874" cy="1906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0516" y="4948427"/>
              <a:ext cx="2187575" cy="7972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7003" y="5090858"/>
              <a:ext cx="2095264" cy="15086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1217" y="5972581"/>
              <a:ext cx="2124625" cy="691591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46321" y="6182893"/>
            <a:ext cx="443483" cy="26433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61509" y="6164491"/>
            <a:ext cx="147700" cy="2027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87696" y="6163322"/>
            <a:ext cx="396875" cy="184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7260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Data</a:t>
            </a:r>
            <a:r>
              <a:rPr dirty="0" spc="-85"/>
              <a:t> </a:t>
            </a:r>
            <a:r>
              <a:rPr dirty="0" spc="-10"/>
              <a:t>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6112"/>
            <a:ext cx="10263505" cy="3836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r>
              <a:rPr dirty="0" sz="25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"Bank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Marketing"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UCI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476250" marR="2380615" indent="-463550">
              <a:lnSpc>
                <a:spcPts val="2700"/>
              </a:lnSpc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full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 description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along</a:t>
            </a:r>
            <a:r>
              <a:rPr dirty="0" sz="25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available</a:t>
            </a:r>
            <a:r>
              <a:rPr dirty="0" sz="25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here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 : </a:t>
            </a:r>
            <a:r>
              <a:rPr dirty="0" sz="2500" spc="-550" b="1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heavy" sz="2500" spc="-1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http://archive.ics.uci.edu/ml/datasets/Bank+Marketing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This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enriched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25" b="1">
                <a:solidFill>
                  <a:srgbClr val="C00000"/>
                </a:solidFill>
                <a:latin typeface="Calibri"/>
                <a:cs typeface="Calibri"/>
              </a:rPr>
              <a:t>few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social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economic</a:t>
            </a:r>
            <a:r>
              <a:rPr dirty="0" sz="2500" spc="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attributes</a:t>
            </a:r>
            <a:endParaRPr sz="25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Due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confidentiality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clauses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attributes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are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mentioned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469900" marR="5080" indent="-457834">
              <a:lnSpc>
                <a:spcPts val="2700"/>
              </a:lnSpc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binary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r>
              <a:rPr dirty="0" sz="2500" spc="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goal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predict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client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will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subscribe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bank </a:t>
            </a:r>
            <a:r>
              <a:rPr dirty="0" sz="2500" spc="-5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term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deposit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999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Data</a:t>
            </a:r>
            <a:r>
              <a:rPr dirty="0" spc="-15"/>
              <a:t> Capture</a:t>
            </a:r>
            <a:r>
              <a:rPr dirty="0" spc="-45"/>
              <a:t> </a:t>
            </a:r>
            <a:r>
              <a:rPr dirty="0" spc="-25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6671" y="1530222"/>
            <a:ext cx="460064" cy="1473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8880" y="1449450"/>
            <a:ext cx="417588" cy="3745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3305" y="1396364"/>
            <a:ext cx="469900" cy="3237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28155" y="1318386"/>
            <a:ext cx="495894" cy="1855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1290" y="1379474"/>
            <a:ext cx="57530" cy="525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6310" y="1361313"/>
            <a:ext cx="38807" cy="4762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310371" y="1364107"/>
            <a:ext cx="31750" cy="45085"/>
          </a:xfrm>
          <a:custGeom>
            <a:avLst/>
            <a:gdLst/>
            <a:ahLst/>
            <a:cxnLst/>
            <a:rect l="l" t="t" r="r" b="b"/>
            <a:pathLst>
              <a:path w="31750" h="45084">
                <a:moveTo>
                  <a:pt x="31750" y="11302"/>
                </a:moveTo>
                <a:lnTo>
                  <a:pt x="14858" y="11302"/>
                </a:lnTo>
                <a:lnTo>
                  <a:pt x="18033" y="11429"/>
                </a:lnTo>
                <a:lnTo>
                  <a:pt x="20954" y="12953"/>
                </a:lnTo>
                <a:lnTo>
                  <a:pt x="22732" y="15493"/>
                </a:lnTo>
                <a:lnTo>
                  <a:pt x="24637" y="18033"/>
                </a:lnTo>
                <a:lnTo>
                  <a:pt x="25087" y="20954"/>
                </a:lnTo>
                <a:lnTo>
                  <a:pt x="25097" y="21522"/>
                </a:lnTo>
                <a:lnTo>
                  <a:pt x="24383" y="24256"/>
                </a:lnTo>
                <a:lnTo>
                  <a:pt x="23113" y="28320"/>
                </a:lnTo>
                <a:lnTo>
                  <a:pt x="22098" y="32130"/>
                </a:lnTo>
                <a:lnTo>
                  <a:pt x="21717" y="32403"/>
                </a:lnTo>
                <a:lnTo>
                  <a:pt x="21717" y="37845"/>
                </a:lnTo>
                <a:lnTo>
                  <a:pt x="17906" y="42163"/>
                </a:lnTo>
                <a:lnTo>
                  <a:pt x="10806" y="42865"/>
                </a:lnTo>
                <a:lnTo>
                  <a:pt x="12573" y="43306"/>
                </a:lnTo>
                <a:lnTo>
                  <a:pt x="13843" y="43560"/>
                </a:lnTo>
                <a:lnTo>
                  <a:pt x="16382" y="43941"/>
                </a:lnTo>
                <a:lnTo>
                  <a:pt x="21462" y="44576"/>
                </a:lnTo>
                <a:lnTo>
                  <a:pt x="26416" y="41655"/>
                </a:lnTo>
                <a:lnTo>
                  <a:pt x="28321" y="36829"/>
                </a:lnTo>
                <a:lnTo>
                  <a:pt x="30099" y="32638"/>
                </a:lnTo>
                <a:lnTo>
                  <a:pt x="30733" y="29971"/>
                </a:lnTo>
                <a:lnTo>
                  <a:pt x="31457" y="25145"/>
                </a:lnTo>
                <a:lnTo>
                  <a:pt x="31559" y="24129"/>
                </a:lnTo>
                <a:lnTo>
                  <a:pt x="31627" y="18414"/>
                </a:lnTo>
                <a:lnTo>
                  <a:pt x="31750" y="11302"/>
                </a:lnTo>
                <a:close/>
              </a:path>
              <a:path w="31750" h="45084">
                <a:moveTo>
                  <a:pt x="4522" y="40919"/>
                </a:moveTo>
                <a:lnTo>
                  <a:pt x="7620" y="43179"/>
                </a:lnTo>
                <a:lnTo>
                  <a:pt x="10806" y="42865"/>
                </a:lnTo>
                <a:lnTo>
                  <a:pt x="8635" y="42290"/>
                </a:lnTo>
                <a:lnTo>
                  <a:pt x="4522" y="40919"/>
                </a:lnTo>
                <a:close/>
              </a:path>
              <a:path w="31750" h="45084">
                <a:moveTo>
                  <a:pt x="6502" y="30098"/>
                </a:moveTo>
                <a:lnTo>
                  <a:pt x="1650" y="30098"/>
                </a:lnTo>
                <a:lnTo>
                  <a:pt x="1650" y="33542"/>
                </a:lnTo>
                <a:lnTo>
                  <a:pt x="1904" y="34670"/>
                </a:lnTo>
                <a:lnTo>
                  <a:pt x="2663" y="38465"/>
                </a:lnTo>
                <a:lnTo>
                  <a:pt x="4396" y="40827"/>
                </a:lnTo>
                <a:lnTo>
                  <a:pt x="8635" y="42290"/>
                </a:lnTo>
                <a:lnTo>
                  <a:pt x="10806" y="42865"/>
                </a:lnTo>
                <a:lnTo>
                  <a:pt x="17906" y="42163"/>
                </a:lnTo>
                <a:lnTo>
                  <a:pt x="21717" y="37845"/>
                </a:lnTo>
                <a:lnTo>
                  <a:pt x="21717" y="34670"/>
                </a:lnTo>
                <a:lnTo>
                  <a:pt x="10668" y="34670"/>
                </a:lnTo>
                <a:lnTo>
                  <a:pt x="7111" y="32130"/>
                </a:lnTo>
                <a:lnTo>
                  <a:pt x="6502" y="30098"/>
                </a:lnTo>
                <a:close/>
              </a:path>
              <a:path w="31750" h="45084">
                <a:moveTo>
                  <a:pt x="2663" y="38465"/>
                </a:moveTo>
                <a:lnTo>
                  <a:pt x="2921" y="39750"/>
                </a:lnTo>
                <a:lnTo>
                  <a:pt x="4396" y="40827"/>
                </a:lnTo>
                <a:lnTo>
                  <a:pt x="2663" y="38465"/>
                </a:lnTo>
                <a:close/>
              </a:path>
              <a:path w="31750" h="45084">
                <a:moveTo>
                  <a:pt x="1650" y="33542"/>
                </a:moveTo>
                <a:lnTo>
                  <a:pt x="1650" y="37083"/>
                </a:lnTo>
                <a:lnTo>
                  <a:pt x="2663" y="38465"/>
                </a:lnTo>
                <a:lnTo>
                  <a:pt x="1904" y="34670"/>
                </a:lnTo>
                <a:lnTo>
                  <a:pt x="1650" y="33542"/>
                </a:lnTo>
                <a:close/>
              </a:path>
              <a:path w="31750" h="45084">
                <a:moveTo>
                  <a:pt x="5320" y="26014"/>
                </a:moveTo>
                <a:lnTo>
                  <a:pt x="7111" y="32130"/>
                </a:lnTo>
                <a:lnTo>
                  <a:pt x="10668" y="34670"/>
                </a:lnTo>
                <a:lnTo>
                  <a:pt x="18542" y="34670"/>
                </a:lnTo>
                <a:lnTo>
                  <a:pt x="21717" y="32403"/>
                </a:lnTo>
                <a:lnTo>
                  <a:pt x="21717" y="31622"/>
                </a:lnTo>
                <a:lnTo>
                  <a:pt x="12573" y="31622"/>
                </a:lnTo>
                <a:lnTo>
                  <a:pt x="13626" y="30718"/>
                </a:lnTo>
                <a:lnTo>
                  <a:pt x="12264" y="29717"/>
                </a:lnTo>
                <a:lnTo>
                  <a:pt x="6857" y="29717"/>
                </a:lnTo>
                <a:lnTo>
                  <a:pt x="7576" y="26923"/>
                </a:lnTo>
                <a:lnTo>
                  <a:pt x="7620" y="26669"/>
                </a:lnTo>
                <a:lnTo>
                  <a:pt x="6486" y="26379"/>
                </a:lnTo>
                <a:lnTo>
                  <a:pt x="5320" y="26014"/>
                </a:lnTo>
                <a:close/>
              </a:path>
              <a:path w="31750" h="45084">
                <a:moveTo>
                  <a:pt x="21717" y="32403"/>
                </a:moveTo>
                <a:lnTo>
                  <a:pt x="18542" y="34670"/>
                </a:lnTo>
                <a:lnTo>
                  <a:pt x="21717" y="34670"/>
                </a:lnTo>
                <a:lnTo>
                  <a:pt x="21717" y="32403"/>
                </a:lnTo>
                <a:close/>
              </a:path>
              <a:path w="31750" h="45084">
                <a:moveTo>
                  <a:pt x="1524" y="28352"/>
                </a:moveTo>
                <a:lnTo>
                  <a:pt x="761" y="29590"/>
                </a:lnTo>
                <a:lnTo>
                  <a:pt x="1650" y="33542"/>
                </a:lnTo>
                <a:lnTo>
                  <a:pt x="1524" y="28352"/>
                </a:lnTo>
                <a:close/>
              </a:path>
              <a:path w="31750" h="45084">
                <a:moveTo>
                  <a:pt x="24682" y="23113"/>
                </a:moveTo>
                <a:lnTo>
                  <a:pt x="22478" y="23113"/>
                </a:lnTo>
                <a:lnTo>
                  <a:pt x="21844" y="26712"/>
                </a:lnTo>
                <a:lnTo>
                  <a:pt x="21717" y="32403"/>
                </a:lnTo>
                <a:lnTo>
                  <a:pt x="22098" y="32130"/>
                </a:lnTo>
                <a:lnTo>
                  <a:pt x="23113" y="28320"/>
                </a:lnTo>
                <a:lnTo>
                  <a:pt x="24383" y="24256"/>
                </a:lnTo>
                <a:lnTo>
                  <a:pt x="24682" y="23113"/>
                </a:lnTo>
                <a:close/>
              </a:path>
              <a:path w="31750" h="45084">
                <a:moveTo>
                  <a:pt x="13626" y="30718"/>
                </a:moveTo>
                <a:lnTo>
                  <a:pt x="12573" y="31622"/>
                </a:lnTo>
                <a:lnTo>
                  <a:pt x="14858" y="31622"/>
                </a:lnTo>
                <a:lnTo>
                  <a:pt x="13626" y="30718"/>
                </a:lnTo>
                <a:close/>
              </a:path>
              <a:path w="31750" h="45084">
                <a:moveTo>
                  <a:pt x="22478" y="23113"/>
                </a:moveTo>
                <a:lnTo>
                  <a:pt x="13626" y="30718"/>
                </a:lnTo>
                <a:lnTo>
                  <a:pt x="14858" y="31622"/>
                </a:lnTo>
                <a:lnTo>
                  <a:pt x="21717" y="31622"/>
                </a:lnTo>
                <a:lnTo>
                  <a:pt x="21744" y="30098"/>
                </a:lnTo>
                <a:lnTo>
                  <a:pt x="21717" y="27431"/>
                </a:lnTo>
                <a:lnTo>
                  <a:pt x="21844" y="25907"/>
                </a:lnTo>
                <a:lnTo>
                  <a:pt x="21985" y="25907"/>
                </a:lnTo>
                <a:lnTo>
                  <a:pt x="22478" y="23113"/>
                </a:lnTo>
                <a:close/>
              </a:path>
              <a:path w="31750" h="45084">
                <a:moveTo>
                  <a:pt x="24781" y="22732"/>
                </a:moveTo>
                <a:lnTo>
                  <a:pt x="18414" y="22732"/>
                </a:lnTo>
                <a:lnTo>
                  <a:pt x="17430" y="22987"/>
                </a:lnTo>
                <a:lnTo>
                  <a:pt x="17518" y="23133"/>
                </a:lnTo>
                <a:lnTo>
                  <a:pt x="18033" y="23748"/>
                </a:lnTo>
                <a:lnTo>
                  <a:pt x="15494" y="23748"/>
                </a:lnTo>
                <a:lnTo>
                  <a:pt x="13461" y="25145"/>
                </a:lnTo>
                <a:lnTo>
                  <a:pt x="11049" y="26415"/>
                </a:lnTo>
                <a:lnTo>
                  <a:pt x="10436" y="26569"/>
                </a:lnTo>
                <a:lnTo>
                  <a:pt x="9316" y="27554"/>
                </a:lnTo>
                <a:lnTo>
                  <a:pt x="13626" y="30718"/>
                </a:lnTo>
                <a:lnTo>
                  <a:pt x="21739" y="23748"/>
                </a:lnTo>
                <a:lnTo>
                  <a:pt x="18033" y="23748"/>
                </a:lnTo>
                <a:lnTo>
                  <a:pt x="15989" y="23408"/>
                </a:lnTo>
                <a:lnTo>
                  <a:pt x="22136" y="23408"/>
                </a:lnTo>
                <a:lnTo>
                  <a:pt x="22478" y="23113"/>
                </a:lnTo>
                <a:lnTo>
                  <a:pt x="24682" y="23113"/>
                </a:lnTo>
                <a:lnTo>
                  <a:pt x="24781" y="22732"/>
                </a:lnTo>
                <a:close/>
              </a:path>
              <a:path w="31750" h="45084">
                <a:moveTo>
                  <a:pt x="3342" y="25396"/>
                </a:moveTo>
                <a:lnTo>
                  <a:pt x="1543" y="28320"/>
                </a:lnTo>
                <a:lnTo>
                  <a:pt x="1650" y="30479"/>
                </a:lnTo>
                <a:lnTo>
                  <a:pt x="1650" y="30098"/>
                </a:lnTo>
                <a:lnTo>
                  <a:pt x="6502" y="30098"/>
                </a:lnTo>
                <a:lnTo>
                  <a:pt x="5320" y="26014"/>
                </a:lnTo>
                <a:lnTo>
                  <a:pt x="3342" y="25396"/>
                </a:lnTo>
                <a:close/>
              </a:path>
              <a:path w="31750" h="45084">
                <a:moveTo>
                  <a:pt x="21744" y="30098"/>
                </a:moveTo>
                <a:lnTo>
                  <a:pt x="21717" y="30479"/>
                </a:lnTo>
                <a:lnTo>
                  <a:pt x="21744" y="30098"/>
                </a:lnTo>
                <a:close/>
              </a:path>
              <a:path w="31750" h="45084">
                <a:moveTo>
                  <a:pt x="7640" y="26676"/>
                </a:moveTo>
                <a:lnTo>
                  <a:pt x="6857" y="29717"/>
                </a:lnTo>
                <a:lnTo>
                  <a:pt x="9316" y="27554"/>
                </a:lnTo>
                <a:lnTo>
                  <a:pt x="8458" y="26923"/>
                </a:lnTo>
                <a:lnTo>
                  <a:pt x="7640" y="26676"/>
                </a:lnTo>
                <a:close/>
              </a:path>
              <a:path w="31750" h="45084">
                <a:moveTo>
                  <a:pt x="9316" y="27554"/>
                </a:moveTo>
                <a:lnTo>
                  <a:pt x="6857" y="29717"/>
                </a:lnTo>
                <a:lnTo>
                  <a:pt x="12264" y="29717"/>
                </a:lnTo>
                <a:lnTo>
                  <a:pt x="9316" y="27554"/>
                </a:lnTo>
                <a:close/>
              </a:path>
              <a:path w="31750" h="45084">
                <a:moveTo>
                  <a:pt x="1712" y="23780"/>
                </a:moveTo>
                <a:lnTo>
                  <a:pt x="1650" y="24129"/>
                </a:lnTo>
                <a:lnTo>
                  <a:pt x="1524" y="28352"/>
                </a:lnTo>
                <a:lnTo>
                  <a:pt x="3342" y="25396"/>
                </a:lnTo>
                <a:lnTo>
                  <a:pt x="2539" y="25145"/>
                </a:lnTo>
                <a:lnTo>
                  <a:pt x="1712" y="23780"/>
                </a:lnTo>
                <a:close/>
              </a:path>
              <a:path w="31750" h="45084">
                <a:moveTo>
                  <a:pt x="11909" y="25272"/>
                </a:moveTo>
                <a:lnTo>
                  <a:pt x="8000" y="25272"/>
                </a:lnTo>
                <a:lnTo>
                  <a:pt x="7790" y="26433"/>
                </a:lnTo>
                <a:lnTo>
                  <a:pt x="9316" y="27554"/>
                </a:lnTo>
                <a:lnTo>
                  <a:pt x="10032" y="26923"/>
                </a:lnTo>
                <a:lnTo>
                  <a:pt x="9271" y="26923"/>
                </a:lnTo>
                <a:lnTo>
                  <a:pt x="10032" y="26669"/>
                </a:lnTo>
                <a:lnTo>
                  <a:pt x="10436" y="26569"/>
                </a:lnTo>
                <a:lnTo>
                  <a:pt x="11909" y="25272"/>
                </a:lnTo>
                <a:close/>
              </a:path>
              <a:path w="31750" h="45084">
                <a:moveTo>
                  <a:pt x="21844" y="26712"/>
                </a:moveTo>
                <a:lnTo>
                  <a:pt x="21717" y="27431"/>
                </a:lnTo>
                <a:lnTo>
                  <a:pt x="21844" y="26712"/>
                </a:lnTo>
                <a:close/>
              </a:path>
              <a:path w="31750" h="45084">
                <a:moveTo>
                  <a:pt x="7790" y="26433"/>
                </a:moveTo>
                <a:lnTo>
                  <a:pt x="7747" y="26669"/>
                </a:lnTo>
                <a:lnTo>
                  <a:pt x="8381" y="26923"/>
                </a:lnTo>
                <a:lnTo>
                  <a:pt x="7790" y="26433"/>
                </a:lnTo>
                <a:close/>
              </a:path>
              <a:path w="31750" h="45084">
                <a:moveTo>
                  <a:pt x="10436" y="26569"/>
                </a:moveTo>
                <a:lnTo>
                  <a:pt x="9905" y="26712"/>
                </a:lnTo>
                <a:lnTo>
                  <a:pt x="9271" y="26923"/>
                </a:lnTo>
                <a:lnTo>
                  <a:pt x="10032" y="26923"/>
                </a:lnTo>
                <a:lnTo>
                  <a:pt x="10436" y="26569"/>
                </a:lnTo>
                <a:close/>
              </a:path>
              <a:path w="31750" h="45084">
                <a:moveTo>
                  <a:pt x="21985" y="25907"/>
                </a:moveTo>
                <a:lnTo>
                  <a:pt x="21844" y="25907"/>
                </a:lnTo>
                <a:lnTo>
                  <a:pt x="21844" y="26712"/>
                </a:lnTo>
                <a:lnTo>
                  <a:pt x="21985" y="25907"/>
                </a:lnTo>
                <a:close/>
              </a:path>
              <a:path w="31750" h="45084">
                <a:moveTo>
                  <a:pt x="4857" y="24279"/>
                </a:moveTo>
                <a:lnTo>
                  <a:pt x="5320" y="26014"/>
                </a:lnTo>
                <a:lnTo>
                  <a:pt x="6672" y="26433"/>
                </a:lnTo>
                <a:lnTo>
                  <a:pt x="7640" y="26676"/>
                </a:lnTo>
                <a:lnTo>
                  <a:pt x="7716" y="26379"/>
                </a:lnTo>
                <a:lnTo>
                  <a:pt x="4857" y="24279"/>
                </a:lnTo>
                <a:close/>
              </a:path>
              <a:path w="31750" h="45084">
                <a:moveTo>
                  <a:pt x="7716" y="26379"/>
                </a:moveTo>
                <a:lnTo>
                  <a:pt x="7641" y="26669"/>
                </a:lnTo>
                <a:lnTo>
                  <a:pt x="7716" y="26379"/>
                </a:lnTo>
                <a:close/>
              </a:path>
              <a:path w="31750" h="45084">
                <a:moveTo>
                  <a:pt x="14340" y="23133"/>
                </a:moveTo>
                <a:lnTo>
                  <a:pt x="10436" y="26569"/>
                </a:lnTo>
                <a:lnTo>
                  <a:pt x="11049" y="26415"/>
                </a:lnTo>
                <a:lnTo>
                  <a:pt x="13461" y="25145"/>
                </a:lnTo>
                <a:lnTo>
                  <a:pt x="15494" y="23748"/>
                </a:lnTo>
                <a:lnTo>
                  <a:pt x="14477" y="23748"/>
                </a:lnTo>
                <a:lnTo>
                  <a:pt x="15426" y="23314"/>
                </a:lnTo>
                <a:lnTo>
                  <a:pt x="14340" y="23133"/>
                </a:lnTo>
                <a:close/>
              </a:path>
              <a:path w="31750" h="45084">
                <a:moveTo>
                  <a:pt x="8000" y="25272"/>
                </a:moveTo>
                <a:lnTo>
                  <a:pt x="7894" y="25687"/>
                </a:lnTo>
                <a:lnTo>
                  <a:pt x="7790" y="26433"/>
                </a:lnTo>
                <a:lnTo>
                  <a:pt x="8000" y="25272"/>
                </a:lnTo>
                <a:close/>
              </a:path>
              <a:path w="31750" h="45084">
                <a:moveTo>
                  <a:pt x="8281" y="23108"/>
                </a:moveTo>
                <a:lnTo>
                  <a:pt x="4867" y="24287"/>
                </a:lnTo>
                <a:lnTo>
                  <a:pt x="7716" y="26379"/>
                </a:lnTo>
                <a:lnTo>
                  <a:pt x="7837" y="25907"/>
                </a:lnTo>
                <a:lnTo>
                  <a:pt x="8281" y="23108"/>
                </a:lnTo>
                <a:close/>
              </a:path>
              <a:path w="31750" h="45084">
                <a:moveTo>
                  <a:pt x="4834" y="24287"/>
                </a:moveTo>
                <a:lnTo>
                  <a:pt x="3809" y="24637"/>
                </a:lnTo>
                <a:lnTo>
                  <a:pt x="3342" y="25396"/>
                </a:lnTo>
                <a:lnTo>
                  <a:pt x="5320" y="26014"/>
                </a:lnTo>
                <a:lnTo>
                  <a:pt x="4834" y="24287"/>
                </a:lnTo>
                <a:close/>
              </a:path>
              <a:path w="31750" h="45084">
                <a:moveTo>
                  <a:pt x="8381" y="23073"/>
                </a:moveTo>
                <a:lnTo>
                  <a:pt x="7894" y="25687"/>
                </a:lnTo>
                <a:lnTo>
                  <a:pt x="8000" y="25272"/>
                </a:lnTo>
                <a:lnTo>
                  <a:pt x="11909" y="25272"/>
                </a:lnTo>
                <a:lnTo>
                  <a:pt x="14073" y="23367"/>
                </a:lnTo>
                <a:lnTo>
                  <a:pt x="8381" y="23367"/>
                </a:lnTo>
                <a:lnTo>
                  <a:pt x="8381" y="23073"/>
                </a:lnTo>
                <a:close/>
              </a:path>
              <a:path w="31750" h="45084">
                <a:moveTo>
                  <a:pt x="14858" y="11302"/>
                </a:moveTo>
                <a:lnTo>
                  <a:pt x="7493" y="11302"/>
                </a:lnTo>
                <a:lnTo>
                  <a:pt x="3175" y="14858"/>
                </a:lnTo>
                <a:lnTo>
                  <a:pt x="2412" y="19812"/>
                </a:lnTo>
                <a:lnTo>
                  <a:pt x="1712" y="23780"/>
                </a:lnTo>
                <a:lnTo>
                  <a:pt x="2539" y="25145"/>
                </a:lnTo>
                <a:lnTo>
                  <a:pt x="3342" y="25396"/>
                </a:lnTo>
                <a:lnTo>
                  <a:pt x="3809" y="24637"/>
                </a:lnTo>
                <a:lnTo>
                  <a:pt x="8208" y="23133"/>
                </a:lnTo>
                <a:lnTo>
                  <a:pt x="8328" y="22793"/>
                </a:lnTo>
                <a:lnTo>
                  <a:pt x="8254" y="12064"/>
                </a:lnTo>
                <a:lnTo>
                  <a:pt x="19251" y="12064"/>
                </a:lnTo>
                <a:lnTo>
                  <a:pt x="18033" y="11429"/>
                </a:lnTo>
                <a:lnTo>
                  <a:pt x="14858" y="11302"/>
                </a:lnTo>
                <a:close/>
              </a:path>
              <a:path w="31750" h="45084">
                <a:moveTo>
                  <a:pt x="4923" y="24256"/>
                </a:moveTo>
                <a:close/>
              </a:path>
              <a:path w="31750" h="45084">
                <a:moveTo>
                  <a:pt x="21462" y="0"/>
                </a:moveTo>
                <a:lnTo>
                  <a:pt x="18033" y="507"/>
                </a:lnTo>
                <a:lnTo>
                  <a:pt x="11175" y="1650"/>
                </a:lnTo>
                <a:lnTo>
                  <a:pt x="9017" y="2793"/>
                </a:lnTo>
                <a:lnTo>
                  <a:pt x="7493" y="4444"/>
                </a:lnTo>
                <a:lnTo>
                  <a:pt x="3301" y="8635"/>
                </a:lnTo>
                <a:lnTo>
                  <a:pt x="2412" y="10287"/>
                </a:lnTo>
                <a:lnTo>
                  <a:pt x="1016" y="16763"/>
                </a:lnTo>
                <a:lnTo>
                  <a:pt x="0" y="20954"/>
                </a:lnTo>
                <a:lnTo>
                  <a:pt x="1712" y="23780"/>
                </a:lnTo>
                <a:lnTo>
                  <a:pt x="2412" y="19812"/>
                </a:lnTo>
                <a:lnTo>
                  <a:pt x="3175" y="14858"/>
                </a:lnTo>
                <a:lnTo>
                  <a:pt x="7493" y="11302"/>
                </a:lnTo>
                <a:lnTo>
                  <a:pt x="31750" y="11302"/>
                </a:lnTo>
                <a:lnTo>
                  <a:pt x="31750" y="8635"/>
                </a:lnTo>
                <a:lnTo>
                  <a:pt x="30225" y="5333"/>
                </a:lnTo>
                <a:lnTo>
                  <a:pt x="27558" y="3175"/>
                </a:lnTo>
                <a:lnTo>
                  <a:pt x="24892" y="888"/>
                </a:lnTo>
                <a:lnTo>
                  <a:pt x="21462" y="0"/>
                </a:lnTo>
                <a:close/>
              </a:path>
              <a:path w="31750" h="45084">
                <a:moveTo>
                  <a:pt x="15426" y="23314"/>
                </a:moveTo>
                <a:lnTo>
                  <a:pt x="14477" y="23748"/>
                </a:lnTo>
                <a:lnTo>
                  <a:pt x="15798" y="23408"/>
                </a:lnTo>
                <a:lnTo>
                  <a:pt x="15426" y="23314"/>
                </a:lnTo>
                <a:close/>
              </a:path>
              <a:path w="31750" h="45084">
                <a:moveTo>
                  <a:pt x="15873" y="23388"/>
                </a:moveTo>
                <a:lnTo>
                  <a:pt x="14477" y="23748"/>
                </a:lnTo>
                <a:lnTo>
                  <a:pt x="15494" y="23748"/>
                </a:lnTo>
                <a:lnTo>
                  <a:pt x="15989" y="23408"/>
                </a:lnTo>
                <a:close/>
              </a:path>
              <a:path w="31750" h="45084">
                <a:moveTo>
                  <a:pt x="17402" y="22994"/>
                </a:moveTo>
                <a:lnTo>
                  <a:pt x="16104" y="23329"/>
                </a:lnTo>
                <a:lnTo>
                  <a:pt x="18033" y="23748"/>
                </a:lnTo>
                <a:lnTo>
                  <a:pt x="17402" y="22994"/>
                </a:lnTo>
                <a:close/>
              </a:path>
              <a:path w="31750" h="45084">
                <a:moveTo>
                  <a:pt x="16855" y="22812"/>
                </a:moveTo>
                <a:lnTo>
                  <a:pt x="16477" y="22832"/>
                </a:lnTo>
                <a:lnTo>
                  <a:pt x="15426" y="23314"/>
                </a:lnTo>
                <a:lnTo>
                  <a:pt x="15873" y="23388"/>
                </a:lnTo>
                <a:lnTo>
                  <a:pt x="16126" y="23314"/>
                </a:lnTo>
                <a:lnTo>
                  <a:pt x="16855" y="22812"/>
                </a:lnTo>
                <a:close/>
              </a:path>
              <a:path w="31750" h="45084">
                <a:moveTo>
                  <a:pt x="16055" y="21385"/>
                </a:moveTo>
                <a:lnTo>
                  <a:pt x="8381" y="23367"/>
                </a:lnTo>
                <a:lnTo>
                  <a:pt x="14073" y="23367"/>
                </a:lnTo>
                <a:lnTo>
                  <a:pt x="14190" y="23108"/>
                </a:lnTo>
                <a:lnTo>
                  <a:pt x="13461" y="22987"/>
                </a:lnTo>
                <a:lnTo>
                  <a:pt x="14571" y="22930"/>
                </a:lnTo>
                <a:lnTo>
                  <a:pt x="16094" y="21589"/>
                </a:lnTo>
                <a:lnTo>
                  <a:pt x="16055" y="21385"/>
                </a:lnTo>
                <a:close/>
              </a:path>
              <a:path w="31750" h="45084">
                <a:moveTo>
                  <a:pt x="17234" y="22793"/>
                </a:moveTo>
                <a:lnTo>
                  <a:pt x="16855" y="22812"/>
                </a:lnTo>
                <a:lnTo>
                  <a:pt x="16104" y="23329"/>
                </a:lnTo>
                <a:lnTo>
                  <a:pt x="17402" y="22994"/>
                </a:lnTo>
                <a:lnTo>
                  <a:pt x="17234" y="22793"/>
                </a:lnTo>
                <a:close/>
              </a:path>
              <a:path w="31750" h="45084">
                <a:moveTo>
                  <a:pt x="16477" y="22832"/>
                </a:moveTo>
                <a:lnTo>
                  <a:pt x="14571" y="22930"/>
                </a:lnTo>
                <a:lnTo>
                  <a:pt x="14340" y="23133"/>
                </a:lnTo>
                <a:lnTo>
                  <a:pt x="15426" y="23314"/>
                </a:lnTo>
                <a:lnTo>
                  <a:pt x="16477" y="22832"/>
                </a:lnTo>
                <a:close/>
              </a:path>
              <a:path w="31750" h="45084">
                <a:moveTo>
                  <a:pt x="14571" y="22930"/>
                </a:moveTo>
                <a:lnTo>
                  <a:pt x="13461" y="22987"/>
                </a:lnTo>
                <a:lnTo>
                  <a:pt x="14340" y="23133"/>
                </a:lnTo>
                <a:lnTo>
                  <a:pt x="14571" y="22930"/>
                </a:lnTo>
                <a:close/>
              </a:path>
              <a:path w="31750" h="45084">
                <a:moveTo>
                  <a:pt x="14689" y="21589"/>
                </a:moveTo>
                <a:lnTo>
                  <a:pt x="8508" y="21589"/>
                </a:lnTo>
                <a:lnTo>
                  <a:pt x="8403" y="23066"/>
                </a:lnTo>
                <a:lnTo>
                  <a:pt x="10032" y="22605"/>
                </a:lnTo>
                <a:lnTo>
                  <a:pt x="12573" y="21970"/>
                </a:lnTo>
                <a:lnTo>
                  <a:pt x="13843" y="21716"/>
                </a:lnTo>
                <a:lnTo>
                  <a:pt x="14689" y="21589"/>
                </a:lnTo>
                <a:close/>
              </a:path>
              <a:path w="31750" h="45084">
                <a:moveTo>
                  <a:pt x="18414" y="22732"/>
                </a:moveTo>
                <a:lnTo>
                  <a:pt x="17234" y="22793"/>
                </a:lnTo>
                <a:lnTo>
                  <a:pt x="17402" y="22994"/>
                </a:lnTo>
                <a:lnTo>
                  <a:pt x="18414" y="22732"/>
                </a:lnTo>
                <a:close/>
              </a:path>
              <a:path w="31750" h="45084">
                <a:moveTo>
                  <a:pt x="16170" y="21522"/>
                </a:moveTo>
                <a:lnTo>
                  <a:pt x="14571" y="22930"/>
                </a:lnTo>
                <a:lnTo>
                  <a:pt x="16477" y="22832"/>
                </a:lnTo>
                <a:lnTo>
                  <a:pt x="16971" y="22605"/>
                </a:lnTo>
                <a:lnTo>
                  <a:pt x="16864" y="22351"/>
                </a:lnTo>
                <a:lnTo>
                  <a:pt x="16170" y="21522"/>
                </a:lnTo>
                <a:close/>
              </a:path>
              <a:path w="31750" h="45084">
                <a:moveTo>
                  <a:pt x="17048" y="22571"/>
                </a:moveTo>
                <a:lnTo>
                  <a:pt x="16477" y="22832"/>
                </a:lnTo>
                <a:lnTo>
                  <a:pt x="16855" y="22812"/>
                </a:lnTo>
                <a:lnTo>
                  <a:pt x="17048" y="22571"/>
                </a:lnTo>
                <a:close/>
              </a:path>
              <a:path w="31750" h="45084">
                <a:moveTo>
                  <a:pt x="17106" y="22640"/>
                </a:moveTo>
                <a:lnTo>
                  <a:pt x="16855" y="22812"/>
                </a:lnTo>
                <a:lnTo>
                  <a:pt x="17234" y="22793"/>
                </a:lnTo>
                <a:lnTo>
                  <a:pt x="17106" y="22640"/>
                </a:lnTo>
                <a:close/>
              </a:path>
              <a:path w="31750" h="45084">
                <a:moveTo>
                  <a:pt x="24880" y="22351"/>
                </a:moveTo>
                <a:lnTo>
                  <a:pt x="17525" y="22351"/>
                </a:lnTo>
                <a:lnTo>
                  <a:pt x="17207" y="22571"/>
                </a:lnTo>
                <a:lnTo>
                  <a:pt x="17183" y="22732"/>
                </a:lnTo>
                <a:lnTo>
                  <a:pt x="18414" y="22732"/>
                </a:lnTo>
                <a:lnTo>
                  <a:pt x="24781" y="22732"/>
                </a:lnTo>
                <a:lnTo>
                  <a:pt x="24880" y="22351"/>
                </a:lnTo>
                <a:close/>
              </a:path>
              <a:path w="31750" h="45084">
                <a:moveTo>
                  <a:pt x="17525" y="22351"/>
                </a:moveTo>
                <a:lnTo>
                  <a:pt x="17048" y="22571"/>
                </a:lnTo>
                <a:lnTo>
                  <a:pt x="17525" y="22351"/>
                </a:lnTo>
                <a:close/>
              </a:path>
              <a:path w="31750" h="45084">
                <a:moveTo>
                  <a:pt x="25146" y="21335"/>
                </a:moveTo>
                <a:lnTo>
                  <a:pt x="16382" y="21335"/>
                </a:lnTo>
                <a:lnTo>
                  <a:pt x="16227" y="21589"/>
                </a:lnTo>
                <a:lnTo>
                  <a:pt x="17048" y="22571"/>
                </a:lnTo>
                <a:lnTo>
                  <a:pt x="17525" y="22351"/>
                </a:lnTo>
                <a:lnTo>
                  <a:pt x="24880" y="22351"/>
                </a:lnTo>
                <a:lnTo>
                  <a:pt x="25146" y="21335"/>
                </a:lnTo>
                <a:close/>
              </a:path>
              <a:path w="31750" h="45084">
                <a:moveTo>
                  <a:pt x="13569" y="18414"/>
                </a:moveTo>
                <a:lnTo>
                  <a:pt x="8381" y="18414"/>
                </a:lnTo>
                <a:lnTo>
                  <a:pt x="8381" y="22436"/>
                </a:lnTo>
                <a:lnTo>
                  <a:pt x="8508" y="21589"/>
                </a:lnTo>
                <a:lnTo>
                  <a:pt x="14689" y="21589"/>
                </a:lnTo>
                <a:lnTo>
                  <a:pt x="16055" y="21385"/>
                </a:lnTo>
                <a:lnTo>
                  <a:pt x="13569" y="18414"/>
                </a:lnTo>
                <a:close/>
              </a:path>
              <a:path w="31750" h="45084">
                <a:moveTo>
                  <a:pt x="16382" y="21335"/>
                </a:moveTo>
                <a:lnTo>
                  <a:pt x="16055" y="21385"/>
                </a:lnTo>
                <a:lnTo>
                  <a:pt x="16170" y="21522"/>
                </a:lnTo>
                <a:lnTo>
                  <a:pt x="16382" y="21335"/>
                </a:lnTo>
                <a:close/>
              </a:path>
              <a:path w="31750" h="45084">
                <a:moveTo>
                  <a:pt x="19251" y="12064"/>
                </a:moveTo>
                <a:lnTo>
                  <a:pt x="8254" y="12064"/>
                </a:lnTo>
                <a:lnTo>
                  <a:pt x="16055" y="21385"/>
                </a:lnTo>
                <a:lnTo>
                  <a:pt x="16382" y="21335"/>
                </a:lnTo>
                <a:lnTo>
                  <a:pt x="25146" y="21335"/>
                </a:lnTo>
                <a:lnTo>
                  <a:pt x="24637" y="18033"/>
                </a:lnTo>
                <a:lnTo>
                  <a:pt x="22732" y="15493"/>
                </a:lnTo>
                <a:lnTo>
                  <a:pt x="20954" y="12953"/>
                </a:lnTo>
                <a:lnTo>
                  <a:pt x="19251" y="12064"/>
                </a:lnTo>
                <a:close/>
              </a:path>
              <a:path w="31750" h="45084">
                <a:moveTo>
                  <a:pt x="8254" y="12064"/>
                </a:moveTo>
                <a:lnTo>
                  <a:pt x="8381" y="18541"/>
                </a:lnTo>
                <a:lnTo>
                  <a:pt x="13569" y="18414"/>
                </a:lnTo>
                <a:lnTo>
                  <a:pt x="8254" y="12064"/>
                </a:lnTo>
                <a:close/>
              </a:path>
              <a:path w="31750" h="45084">
                <a:moveTo>
                  <a:pt x="31627" y="18414"/>
                </a:move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58833" y="1219327"/>
            <a:ext cx="415417" cy="1799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54183" y="1083691"/>
            <a:ext cx="843280" cy="4024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30432" y="1037844"/>
            <a:ext cx="489839" cy="34899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5756" y="1568196"/>
            <a:ext cx="846886" cy="12000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00579" y="1523111"/>
            <a:ext cx="765937" cy="117881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995641" y="3036316"/>
            <a:ext cx="341630" cy="389890"/>
            <a:chOff x="995641" y="3036316"/>
            <a:chExt cx="341630" cy="389890"/>
          </a:xfrm>
        </p:grpSpPr>
        <p:sp>
          <p:nvSpPr>
            <p:cNvPr id="16" name="object 16"/>
            <p:cNvSpPr/>
            <p:nvPr/>
          </p:nvSpPr>
          <p:spPr>
            <a:xfrm>
              <a:off x="1021118" y="3319018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4" h="13335">
                  <a:moveTo>
                    <a:pt x="10312" y="0"/>
                  </a:moveTo>
                  <a:lnTo>
                    <a:pt x="2971" y="0"/>
                  </a:lnTo>
                  <a:lnTo>
                    <a:pt x="0" y="2921"/>
                  </a:lnTo>
                  <a:lnTo>
                    <a:pt x="0" y="10287"/>
                  </a:lnTo>
                  <a:lnTo>
                    <a:pt x="2971" y="13208"/>
                  </a:lnTo>
                  <a:lnTo>
                    <a:pt x="10312" y="13208"/>
                  </a:lnTo>
                  <a:lnTo>
                    <a:pt x="13284" y="10287"/>
                  </a:lnTo>
                  <a:lnTo>
                    <a:pt x="13284" y="6604"/>
                  </a:lnTo>
                  <a:lnTo>
                    <a:pt x="13284" y="2921"/>
                  </a:lnTo>
                  <a:lnTo>
                    <a:pt x="1031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5641" y="3036316"/>
              <a:ext cx="341414" cy="389763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72258" y="2901442"/>
            <a:ext cx="531876" cy="23634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02531" y="3022600"/>
            <a:ext cx="450525" cy="5207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76854" y="2844545"/>
            <a:ext cx="405256" cy="2489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614" y="2758694"/>
            <a:ext cx="1576591" cy="37287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133594" y="2701289"/>
            <a:ext cx="507618" cy="1826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85815" y="2623057"/>
            <a:ext cx="368808" cy="20447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531102" y="2579242"/>
            <a:ext cx="636270" cy="27762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389114" y="2584195"/>
            <a:ext cx="270721" cy="37972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772018" y="2567813"/>
            <a:ext cx="343026" cy="23914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35136" y="2467101"/>
            <a:ext cx="1104392" cy="21602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76490" y="2394711"/>
            <a:ext cx="260166" cy="2028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019395" y="2317750"/>
            <a:ext cx="470931" cy="22313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597466" y="2320670"/>
            <a:ext cx="400860" cy="22021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08050" y="3489959"/>
            <a:ext cx="413893" cy="282956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826516" y="3022980"/>
            <a:ext cx="85090" cy="150495"/>
          </a:xfrm>
          <a:custGeom>
            <a:avLst/>
            <a:gdLst/>
            <a:ahLst/>
            <a:cxnLst/>
            <a:rect l="l" t="t" r="r" b="b"/>
            <a:pathLst>
              <a:path w="85090" h="150494">
                <a:moveTo>
                  <a:pt x="26225" y="47244"/>
                </a:moveTo>
                <a:lnTo>
                  <a:pt x="25425" y="27559"/>
                </a:lnTo>
                <a:lnTo>
                  <a:pt x="25387" y="26670"/>
                </a:lnTo>
                <a:lnTo>
                  <a:pt x="25146" y="20320"/>
                </a:lnTo>
                <a:lnTo>
                  <a:pt x="21247" y="16510"/>
                </a:lnTo>
                <a:lnTo>
                  <a:pt x="21247" y="44069"/>
                </a:lnTo>
                <a:lnTo>
                  <a:pt x="21145" y="45085"/>
                </a:lnTo>
                <a:lnTo>
                  <a:pt x="21018" y="47244"/>
                </a:lnTo>
                <a:lnTo>
                  <a:pt x="21082" y="45085"/>
                </a:lnTo>
                <a:lnTo>
                  <a:pt x="21183" y="44488"/>
                </a:lnTo>
                <a:lnTo>
                  <a:pt x="21247" y="44069"/>
                </a:lnTo>
                <a:lnTo>
                  <a:pt x="21247" y="16510"/>
                </a:lnTo>
                <a:lnTo>
                  <a:pt x="20739" y="16002"/>
                </a:lnTo>
                <a:lnTo>
                  <a:pt x="15316" y="15875"/>
                </a:lnTo>
                <a:lnTo>
                  <a:pt x="8356" y="15875"/>
                </a:lnTo>
                <a:lnTo>
                  <a:pt x="3911" y="19939"/>
                </a:lnTo>
                <a:lnTo>
                  <a:pt x="2921" y="31457"/>
                </a:lnTo>
                <a:lnTo>
                  <a:pt x="2997" y="30988"/>
                </a:lnTo>
                <a:lnTo>
                  <a:pt x="2895" y="31750"/>
                </a:lnTo>
                <a:lnTo>
                  <a:pt x="2921" y="31457"/>
                </a:lnTo>
                <a:lnTo>
                  <a:pt x="2870" y="31750"/>
                </a:lnTo>
                <a:lnTo>
                  <a:pt x="1231" y="41783"/>
                </a:lnTo>
                <a:lnTo>
                  <a:pt x="1104" y="42926"/>
                </a:lnTo>
                <a:lnTo>
                  <a:pt x="457" y="56769"/>
                </a:lnTo>
                <a:lnTo>
                  <a:pt x="0" y="72263"/>
                </a:lnTo>
                <a:lnTo>
                  <a:pt x="88" y="86233"/>
                </a:lnTo>
                <a:lnTo>
                  <a:pt x="6477" y="106934"/>
                </a:lnTo>
                <a:lnTo>
                  <a:pt x="7899" y="107696"/>
                </a:lnTo>
                <a:lnTo>
                  <a:pt x="9537" y="107823"/>
                </a:lnTo>
                <a:lnTo>
                  <a:pt x="11023" y="107188"/>
                </a:lnTo>
                <a:lnTo>
                  <a:pt x="14795" y="105791"/>
                </a:lnTo>
                <a:lnTo>
                  <a:pt x="15709" y="104013"/>
                </a:lnTo>
                <a:lnTo>
                  <a:pt x="15557" y="103505"/>
                </a:lnTo>
                <a:lnTo>
                  <a:pt x="15074" y="101828"/>
                </a:lnTo>
                <a:lnTo>
                  <a:pt x="15646" y="100076"/>
                </a:lnTo>
                <a:lnTo>
                  <a:pt x="16433" y="97663"/>
                </a:lnTo>
                <a:lnTo>
                  <a:pt x="16764" y="96139"/>
                </a:lnTo>
                <a:lnTo>
                  <a:pt x="19431" y="73279"/>
                </a:lnTo>
                <a:lnTo>
                  <a:pt x="20459" y="56769"/>
                </a:lnTo>
                <a:lnTo>
                  <a:pt x="20713" y="52451"/>
                </a:lnTo>
                <a:lnTo>
                  <a:pt x="20739" y="52006"/>
                </a:lnTo>
                <a:lnTo>
                  <a:pt x="21894" y="51943"/>
                </a:lnTo>
                <a:lnTo>
                  <a:pt x="26225" y="47244"/>
                </a:lnTo>
                <a:close/>
              </a:path>
              <a:path w="85090" h="150494">
                <a:moveTo>
                  <a:pt x="84543" y="9144"/>
                </a:moveTo>
                <a:lnTo>
                  <a:pt x="83731" y="5715"/>
                </a:lnTo>
                <a:lnTo>
                  <a:pt x="81495" y="3302"/>
                </a:lnTo>
                <a:lnTo>
                  <a:pt x="79248" y="1016"/>
                </a:lnTo>
                <a:lnTo>
                  <a:pt x="75907" y="0"/>
                </a:lnTo>
                <a:lnTo>
                  <a:pt x="69583" y="1524"/>
                </a:lnTo>
                <a:lnTo>
                  <a:pt x="55803" y="42291"/>
                </a:lnTo>
                <a:lnTo>
                  <a:pt x="48209" y="93472"/>
                </a:lnTo>
                <a:lnTo>
                  <a:pt x="47244" y="121285"/>
                </a:lnTo>
                <a:lnTo>
                  <a:pt x="47383" y="148336"/>
                </a:lnTo>
                <a:lnTo>
                  <a:pt x="48514" y="149606"/>
                </a:lnTo>
                <a:lnTo>
                  <a:pt x="50025" y="149733"/>
                </a:lnTo>
                <a:lnTo>
                  <a:pt x="51523" y="149987"/>
                </a:lnTo>
                <a:lnTo>
                  <a:pt x="68021" y="69215"/>
                </a:lnTo>
                <a:lnTo>
                  <a:pt x="68072" y="68783"/>
                </a:lnTo>
                <a:lnTo>
                  <a:pt x="73075" y="47498"/>
                </a:lnTo>
                <a:lnTo>
                  <a:pt x="73113" y="47307"/>
                </a:lnTo>
                <a:lnTo>
                  <a:pt x="73215" y="46990"/>
                </a:lnTo>
                <a:lnTo>
                  <a:pt x="83604" y="12192"/>
                </a:lnTo>
                <a:lnTo>
                  <a:pt x="84543" y="9144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599312" y="3791965"/>
            <a:ext cx="11593195" cy="2859405"/>
            <a:chOff x="599312" y="3791965"/>
            <a:chExt cx="11593195" cy="2859405"/>
          </a:xfrm>
        </p:grpSpPr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49998" y="4042409"/>
              <a:ext cx="604139" cy="30861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27924" y="3936872"/>
              <a:ext cx="592835" cy="24663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254237" y="4050156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652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17526"/>
                  </a:lnTo>
                  <a:lnTo>
                    <a:pt x="5079" y="22606"/>
                  </a:lnTo>
                  <a:lnTo>
                    <a:pt x="17652" y="22606"/>
                  </a:lnTo>
                  <a:lnTo>
                    <a:pt x="22732" y="17526"/>
                  </a:lnTo>
                  <a:lnTo>
                    <a:pt x="22732" y="11303"/>
                  </a:lnTo>
                  <a:lnTo>
                    <a:pt x="22732" y="5080"/>
                  </a:lnTo>
                  <a:lnTo>
                    <a:pt x="1765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9312" y="3857497"/>
              <a:ext cx="11592686" cy="27936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85021" y="3791965"/>
              <a:ext cx="512572" cy="44691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339853" y="3871721"/>
              <a:ext cx="778363" cy="41719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903207" y="4324476"/>
              <a:ext cx="1351915" cy="48260"/>
            </a:xfrm>
            <a:custGeom>
              <a:avLst/>
              <a:gdLst/>
              <a:ahLst/>
              <a:cxnLst/>
              <a:rect l="l" t="t" r="r" b="b"/>
              <a:pathLst>
                <a:path w="1351915" h="48260">
                  <a:moveTo>
                    <a:pt x="1332489" y="46281"/>
                  </a:moveTo>
                  <a:lnTo>
                    <a:pt x="1333881" y="47371"/>
                  </a:lnTo>
                  <a:lnTo>
                    <a:pt x="1337691" y="48260"/>
                  </a:lnTo>
                  <a:lnTo>
                    <a:pt x="1344930" y="46736"/>
                  </a:lnTo>
                  <a:lnTo>
                    <a:pt x="1345282" y="46481"/>
                  </a:lnTo>
                  <a:lnTo>
                    <a:pt x="1336040" y="46481"/>
                  </a:lnTo>
                  <a:lnTo>
                    <a:pt x="1332489" y="46281"/>
                  </a:lnTo>
                  <a:close/>
                </a:path>
                <a:path w="1351915" h="48260">
                  <a:moveTo>
                    <a:pt x="1329563" y="44068"/>
                  </a:moveTo>
                  <a:lnTo>
                    <a:pt x="1330960" y="45085"/>
                  </a:lnTo>
                  <a:lnTo>
                    <a:pt x="1332489" y="46281"/>
                  </a:lnTo>
                  <a:lnTo>
                    <a:pt x="1336040" y="46481"/>
                  </a:lnTo>
                  <a:lnTo>
                    <a:pt x="1329563" y="44068"/>
                  </a:lnTo>
                  <a:close/>
                </a:path>
                <a:path w="1351915" h="48260">
                  <a:moveTo>
                    <a:pt x="1348318" y="44068"/>
                  </a:moveTo>
                  <a:lnTo>
                    <a:pt x="1329563" y="44068"/>
                  </a:lnTo>
                  <a:lnTo>
                    <a:pt x="1336040" y="46481"/>
                  </a:lnTo>
                  <a:lnTo>
                    <a:pt x="1345282" y="46481"/>
                  </a:lnTo>
                  <a:lnTo>
                    <a:pt x="1348105" y="44450"/>
                  </a:lnTo>
                  <a:lnTo>
                    <a:pt x="1348318" y="44068"/>
                  </a:lnTo>
                  <a:close/>
                </a:path>
                <a:path w="1351915" h="48260">
                  <a:moveTo>
                    <a:pt x="1325471" y="34036"/>
                  </a:moveTo>
                  <a:lnTo>
                    <a:pt x="1156716" y="34036"/>
                  </a:lnTo>
                  <a:lnTo>
                    <a:pt x="1224026" y="40259"/>
                  </a:lnTo>
                  <a:lnTo>
                    <a:pt x="1272032" y="44196"/>
                  </a:lnTo>
                  <a:lnTo>
                    <a:pt x="1272413" y="44196"/>
                  </a:lnTo>
                  <a:lnTo>
                    <a:pt x="1306957" y="45720"/>
                  </a:lnTo>
                  <a:lnTo>
                    <a:pt x="1327403" y="45974"/>
                  </a:lnTo>
                  <a:lnTo>
                    <a:pt x="1327023" y="45974"/>
                  </a:lnTo>
                  <a:lnTo>
                    <a:pt x="1332489" y="46281"/>
                  </a:lnTo>
                  <a:lnTo>
                    <a:pt x="1330960" y="45085"/>
                  </a:lnTo>
                  <a:lnTo>
                    <a:pt x="1329563" y="44068"/>
                  </a:lnTo>
                  <a:lnTo>
                    <a:pt x="1348318" y="44068"/>
                  </a:lnTo>
                  <a:lnTo>
                    <a:pt x="1349883" y="41275"/>
                  </a:lnTo>
                  <a:lnTo>
                    <a:pt x="1327658" y="41275"/>
                  </a:lnTo>
                  <a:lnTo>
                    <a:pt x="1327277" y="40640"/>
                  </a:lnTo>
                  <a:lnTo>
                    <a:pt x="1326261" y="38735"/>
                  </a:lnTo>
                  <a:lnTo>
                    <a:pt x="1325670" y="36728"/>
                  </a:lnTo>
                  <a:lnTo>
                    <a:pt x="1325587" y="34162"/>
                  </a:lnTo>
                  <a:close/>
                </a:path>
                <a:path w="1351915" h="48260">
                  <a:moveTo>
                    <a:pt x="1325626" y="34205"/>
                  </a:moveTo>
                  <a:lnTo>
                    <a:pt x="1325670" y="36728"/>
                  </a:lnTo>
                  <a:lnTo>
                    <a:pt x="1326261" y="38735"/>
                  </a:lnTo>
                  <a:lnTo>
                    <a:pt x="1327277" y="40640"/>
                  </a:lnTo>
                  <a:lnTo>
                    <a:pt x="1327658" y="41275"/>
                  </a:lnTo>
                  <a:lnTo>
                    <a:pt x="1328581" y="36728"/>
                  </a:lnTo>
                  <a:lnTo>
                    <a:pt x="1326515" y="35179"/>
                  </a:lnTo>
                  <a:lnTo>
                    <a:pt x="1325626" y="34205"/>
                  </a:lnTo>
                  <a:close/>
                </a:path>
                <a:path w="1351915" h="48260">
                  <a:moveTo>
                    <a:pt x="1328581" y="36728"/>
                  </a:moveTo>
                  <a:lnTo>
                    <a:pt x="1327658" y="41275"/>
                  </a:lnTo>
                  <a:lnTo>
                    <a:pt x="1349883" y="41275"/>
                  </a:lnTo>
                  <a:lnTo>
                    <a:pt x="1350137" y="40640"/>
                  </a:lnTo>
                  <a:lnTo>
                    <a:pt x="1351280" y="38735"/>
                  </a:lnTo>
                  <a:lnTo>
                    <a:pt x="1331087" y="38608"/>
                  </a:lnTo>
                  <a:lnTo>
                    <a:pt x="1328581" y="36728"/>
                  </a:lnTo>
                  <a:close/>
                </a:path>
                <a:path w="1351915" h="48260">
                  <a:moveTo>
                    <a:pt x="1329207" y="33645"/>
                  </a:moveTo>
                  <a:lnTo>
                    <a:pt x="1328581" y="36728"/>
                  </a:lnTo>
                  <a:lnTo>
                    <a:pt x="1331087" y="38608"/>
                  </a:lnTo>
                  <a:lnTo>
                    <a:pt x="1329207" y="33645"/>
                  </a:lnTo>
                  <a:close/>
                </a:path>
                <a:path w="1351915" h="48260">
                  <a:moveTo>
                    <a:pt x="1350884" y="23622"/>
                  </a:moveTo>
                  <a:lnTo>
                    <a:pt x="1336040" y="23622"/>
                  </a:lnTo>
                  <a:lnTo>
                    <a:pt x="1330851" y="25555"/>
                  </a:lnTo>
                  <a:lnTo>
                    <a:pt x="1329257" y="33400"/>
                  </a:lnTo>
                  <a:lnTo>
                    <a:pt x="1329334" y="33978"/>
                  </a:lnTo>
                  <a:lnTo>
                    <a:pt x="1331087" y="38608"/>
                  </a:lnTo>
                  <a:lnTo>
                    <a:pt x="1351309" y="38608"/>
                  </a:lnTo>
                  <a:lnTo>
                    <a:pt x="1351668" y="37084"/>
                  </a:lnTo>
                  <a:lnTo>
                    <a:pt x="1351793" y="34290"/>
                  </a:lnTo>
                  <a:lnTo>
                    <a:pt x="1351776" y="28321"/>
                  </a:lnTo>
                  <a:lnTo>
                    <a:pt x="1351534" y="26543"/>
                  </a:lnTo>
                  <a:lnTo>
                    <a:pt x="1351280" y="25527"/>
                  </a:lnTo>
                  <a:lnTo>
                    <a:pt x="1350884" y="23622"/>
                  </a:lnTo>
                  <a:close/>
                </a:path>
                <a:path w="1351915" h="48260">
                  <a:moveTo>
                    <a:pt x="957580" y="5461"/>
                  </a:moveTo>
                  <a:lnTo>
                    <a:pt x="692785" y="5461"/>
                  </a:lnTo>
                  <a:lnTo>
                    <a:pt x="431800" y="9017"/>
                  </a:lnTo>
                  <a:lnTo>
                    <a:pt x="221361" y="15621"/>
                  </a:lnTo>
                  <a:lnTo>
                    <a:pt x="73190" y="16718"/>
                  </a:lnTo>
                  <a:lnTo>
                    <a:pt x="11684" y="34417"/>
                  </a:lnTo>
                  <a:lnTo>
                    <a:pt x="9682" y="34955"/>
                  </a:lnTo>
                  <a:lnTo>
                    <a:pt x="15367" y="36068"/>
                  </a:lnTo>
                  <a:lnTo>
                    <a:pt x="17018" y="36195"/>
                  </a:lnTo>
                  <a:lnTo>
                    <a:pt x="41148" y="36575"/>
                  </a:lnTo>
                  <a:lnTo>
                    <a:pt x="143128" y="37084"/>
                  </a:lnTo>
                  <a:lnTo>
                    <a:pt x="221742" y="36449"/>
                  </a:lnTo>
                  <a:lnTo>
                    <a:pt x="432181" y="30099"/>
                  </a:lnTo>
                  <a:lnTo>
                    <a:pt x="432053" y="30099"/>
                  </a:lnTo>
                  <a:lnTo>
                    <a:pt x="693039" y="26543"/>
                  </a:lnTo>
                  <a:lnTo>
                    <a:pt x="1320202" y="26543"/>
                  </a:lnTo>
                  <a:lnTo>
                    <a:pt x="1319230" y="25018"/>
                  </a:lnTo>
                  <a:lnTo>
                    <a:pt x="1319109" y="24384"/>
                  </a:lnTo>
                  <a:lnTo>
                    <a:pt x="1307211" y="24384"/>
                  </a:lnTo>
                  <a:lnTo>
                    <a:pt x="1307695" y="24377"/>
                  </a:lnTo>
                  <a:lnTo>
                    <a:pt x="1276442" y="23114"/>
                  </a:lnTo>
                  <a:lnTo>
                    <a:pt x="1273683" y="23114"/>
                  </a:lnTo>
                  <a:lnTo>
                    <a:pt x="1225803" y="19177"/>
                  </a:lnTo>
                  <a:lnTo>
                    <a:pt x="1225931" y="19177"/>
                  </a:lnTo>
                  <a:lnTo>
                    <a:pt x="1158621" y="12954"/>
                  </a:lnTo>
                  <a:lnTo>
                    <a:pt x="1069594" y="6223"/>
                  </a:lnTo>
                  <a:lnTo>
                    <a:pt x="1068832" y="6096"/>
                  </a:lnTo>
                  <a:lnTo>
                    <a:pt x="957580" y="5461"/>
                  </a:lnTo>
                  <a:close/>
                </a:path>
                <a:path w="1351915" h="48260">
                  <a:moveTo>
                    <a:pt x="1326134" y="25527"/>
                  </a:moveTo>
                  <a:lnTo>
                    <a:pt x="1325761" y="28321"/>
                  </a:lnTo>
                  <a:lnTo>
                    <a:pt x="1325703" y="34290"/>
                  </a:lnTo>
                  <a:lnTo>
                    <a:pt x="1326515" y="35179"/>
                  </a:lnTo>
                  <a:lnTo>
                    <a:pt x="1328581" y="36728"/>
                  </a:lnTo>
                  <a:lnTo>
                    <a:pt x="1329140" y="33978"/>
                  </a:lnTo>
                  <a:lnTo>
                    <a:pt x="1329115" y="33400"/>
                  </a:lnTo>
                  <a:lnTo>
                    <a:pt x="1326134" y="25527"/>
                  </a:lnTo>
                  <a:close/>
                </a:path>
                <a:path w="1351915" h="48260">
                  <a:moveTo>
                    <a:pt x="4688" y="33978"/>
                  </a:moveTo>
                  <a:lnTo>
                    <a:pt x="4952" y="34290"/>
                  </a:lnTo>
                  <a:lnTo>
                    <a:pt x="8382" y="35306"/>
                  </a:lnTo>
                  <a:lnTo>
                    <a:pt x="9682" y="34955"/>
                  </a:lnTo>
                  <a:lnTo>
                    <a:pt x="4688" y="33978"/>
                  </a:lnTo>
                  <a:close/>
                </a:path>
                <a:path w="1351915" h="48260">
                  <a:moveTo>
                    <a:pt x="83312" y="0"/>
                  </a:moveTo>
                  <a:lnTo>
                    <a:pt x="79756" y="762"/>
                  </a:lnTo>
                  <a:lnTo>
                    <a:pt x="7366" y="17653"/>
                  </a:lnTo>
                  <a:lnTo>
                    <a:pt x="4530" y="18273"/>
                  </a:lnTo>
                  <a:lnTo>
                    <a:pt x="2794" y="19431"/>
                  </a:lnTo>
                  <a:lnTo>
                    <a:pt x="640" y="24130"/>
                  </a:lnTo>
                  <a:lnTo>
                    <a:pt x="613" y="25527"/>
                  </a:lnTo>
                  <a:lnTo>
                    <a:pt x="734" y="29461"/>
                  </a:lnTo>
                  <a:lnTo>
                    <a:pt x="2794" y="31750"/>
                  </a:lnTo>
                  <a:lnTo>
                    <a:pt x="4688" y="33978"/>
                  </a:lnTo>
                  <a:lnTo>
                    <a:pt x="9682" y="34955"/>
                  </a:lnTo>
                  <a:lnTo>
                    <a:pt x="11684" y="34417"/>
                  </a:lnTo>
                  <a:lnTo>
                    <a:pt x="70826" y="17399"/>
                  </a:lnTo>
                  <a:lnTo>
                    <a:pt x="17018" y="17399"/>
                  </a:lnTo>
                  <a:lnTo>
                    <a:pt x="73190" y="16718"/>
                  </a:lnTo>
                  <a:lnTo>
                    <a:pt x="86614" y="12827"/>
                  </a:lnTo>
                  <a:lnTo>
                    <a:pt x="88646" y="9143"/>
                  </a:lnTo>
                  <a:lnTo>
                    <a:pt x="87693" y="5461"/>
                  </a:lnTo>
                  <a:lnTo>
                    <a:pt x="86868" y="2159"/>
                  </a:lnTo>
                  <a:lnTo>
                    <a:pt x="83312" y="0"/>
                  </a:lnTo>
                  <a:close/>
                </a:path>
                <a:path w="1351915" h="48260">
                  <a:moveTo>
                    <a:pt x="1336040" y="23622"/>
                  </a:moveTo>
                  <a:lnTo>
                    <a:pt x="1327023" y="24130"/>
                  </a:lnTo>
                  <a:lnTo>
                    <a:pt x="1327403" y="24130"/>
                  </a:lnTo>
                  <a:lnTo>
                    <a:pt x="1319098" y="24234"/>
                  </a:lnTo>
                  <a:lnTo>
                    <a:pt x="1319109" y="24377"/>
                  </a:lnTo>
                  <a:lnTo>
                    <a:pt x="1319230" y="25018"/>
                  </a:lnTo>
                  <a:lnTo>
                    <a:pt x="1323848" y="32258"/>
                  </a:lnTo>
                  <a:lnTo>
                    <a:pt x="1325626" y="34205"/>
                  </a:lnTo>
                  <a:lnTo>
                    <a:pt x="1325642" y="29210"/>
                  </a:lnTo>
                  <a:lnTo>
                    <a:pt x="1326134" y="25527"/>
                  </a:lnTo>
                  <a:lnTo>
                    <a:pt x="1330261" y="25527"/>
                  </a:lnTo>
                  <a:lnTo>
                    <a:pt x="1330960" y="25018"/>
                  </a:lnTo>
                  <a:lnTo>
                    <a:pt x="1332290" y="25018"/>
                  </a:lnTo>
                  <a:lnTo>
                    <a:pt x="1336040" y="23622"/>
                  </a:lnTo>
                  <a:close/>
                </a:path>
                <a:path w="1351915" h="48260">
                  <a:moveTo>
                    <a:pt x="1320202" y="26543"/>
                  </a:moveTo>
                  <a:lnTo>
                    <a:pt x="957452" y="26543"/>
                  </a:lnTo>
                  <a:lnTo>
                    <a:pt x="1068705" y="27305"/>
                  </a:lnTo>
                  <a:lnTo>
                    <a:pt x="1067943" y="27305"/>
                  </a:lnTo>
                  <a:lnTo>
                    <a:pt x="1156843" y="34162"/>
                  </a:lnTo>
                  <a:lnTo>
                    <a:pt x="1325471" y="34036"/>
                  </a:lnTo>
                  <a:lnTo>
                    <a:pt x="1323848" y="32258"/>
                  </a:lnTo>
                  <a:lnTo>
                    <a:pt x="1320202" y="26543"/>
                  </a:lnTo>
                  <a:close/>
                </a:path>
                <a:path w="1351915" h="48260">
                  <a:moveTo>
                    <a:pt x="734" y="29461"/>
                  </a:moveTo>
                  <a:lnTo>
                    <a:pt x="762" y="30353"/>
                  </a:lnTo>
                  <a:lnTo>
                    <a:pt x="3683" y="33781"/>
                  </a:lnTo>
                  <a:lnTo>
                    <a:pt x="4688" y="33978"/>
                  </a:lnTo>
                  <a:lnTo>
                    <a:pt x="2794" y="31750"/>
                  </a:lnTo>
                  <a:lnTo>
                    <a:pt x="734" y="29461"/>
                  </a:lnTo>
                  <a:close/>
                </a:path>
                <a:path w="1351915" h="48260">
                  <a:moveTo>
                    <a:pt x="1330261" y="25527"/>
                  </a:moveTo>
                  <a:lnTo>
                    <a:pt x="1326134" y="25527"/>
                  </a:lnTo>
                  <a:lnTo>
                    <a:pt x="1329207" y="33645"/>
                  </a:lnTo>
                  <a:lnTo>
                    <a:pt x="1330753" y="26035"/>
                  </a:lnTo>
                  <a:lnTo>
                    <a:pt x="1329563" y="26035"/>
                  </a:lnTo>
                  <a:lnTo>
                    <a:pt x="1330261" y="25527"/>
                  </a:lnTo>
                  <a:close/>
                </a:path>
                <a:path w="1351915" h="48260">
                  <a:moveTo>
                    <a:pt x="574" y="24272"/>
                  </a:moveTo>
                  <a:lnTo>
                    <a:pt x="0" y="25527"/>
                  </a:lnTo>
                  <a:lnTo>
                    <a:pt x="508" y="29210"/>
                  </a:lnTo>
                  <a:lnTo>
                    <a:pt x="734" y="29461"/>
                  </a:lnTo>
                  <a:lnTo>
                    <a:pt x="574" y="24272"/>
                  </a:lnTo>
                  <a:close/>
                </a:path>
                <a:path w="1351915" h="48260">
                  <a:moveTo>
                    <a:pt x="1330960" y="25018"/>
                  </a:moveTo>
                  <a:lnTo>
                    <a:pt x="1329563" y="26035"/>
                  </a:lnTo>
                  <a:lnTo>
                    <a:pt x="1330851" y="25555"/>
                  </a:lnTo>
                  <a:lnTo>
                    <a:pt x="1330960" y="25018"/>
                  </a:lnTo>
                  <a:close/>
                </a:path>
                <a:path w="1351915" h="48260">
                  <a:moveTo>
                    <a:pt x="1330851" y="25555"/>
                  </a:moveTo>
                  <a:lnTo>
                    <a:pt x="1329563" y="26035"/>
                  </a:lnTo>
                  <a:lnTo>
                    <a:pt x="1330753" y="26035"/>
                  </a:lnTo>
                  <a:lnTo>
                    <a:pt x="1330851" y="25555"/>
                  </a:lnTo>
                  <a:close/>
                </a:path>
                <a:path w="1351915" h="48260">
                  <a:moveTo>
                    <a:pt x="1332290" y="25018"/>
                  </a:moveTo>
                  <a:lnTo>
                    <a:pt x="1330960" y="25018"/>
                  </a:lnTo>
                  <a:lnTo>
                    <a:pt x="1330851" y="25555"/>
                  </a:lnTo>
                  <a:lnTo>
                    <a:pt x="1332290" y="25018"/>
                  </a:lnTo>
                  <a:close/>
                </a:path>
                <a:path w="1351915" h="48260">
                  <a:moveTo>
                    <a:pt x="1307695" y="24377"/>
                  </a:moveTo>
                  <a:lnTo>
                    <a:pt x="1307211" y="24384"/>
                  </a:lnTo>
                  <a:lnTo>
                    <a:pt x="1307846" y="24384"/>
                  </a:lnTo>
                  <a:lnTo>
                    <a:pt x="1307695" y="24377"/>
                  </a:lnTo>
                  <a:close/>
                </a:path>
                <a:path w="1351915" h="48260">
                  <a:moveTo>
                    <a:pt x="1319098" y="24234"/>
                  </a:moveTo>
                  <a:lnTo>
                    <a:pt x="1307695" y="24377"/>
                  </a:lnTo>
                  <a:lnTo>
                    <a:pt x="1307846" y="24384"/>
                  </a:lnTo>
                  <a:lnTo>
                    <a:pt x="1319109" y="24384"/>
                  </a:lnTo>
                  <a:lnTo>
                    <a:pt x="1319098" y="24234"/>
                  </a:lnTo>
                  <a:close/>
                </a:path>
                <a:path w="1351915" h="48260">
                  <a:moveTo>
                    <a:pt x="4530" y="18273"/>
                  </a:moveTo>
                  <a:lnTo>
                    <a:pt x="3301" y="18542"/>
                  </a:lnTo>
                  <a:lnTo>
                    <a:pt x="508" y="22098"/>
                  </a:lnTo>
                  <a:lnTo>
                    <a:pt x="574" y="24272"/>
                  </a:lnTo>
                  <a:lnTo>
                    <a:pt x="2794" y="19431"/>
                  </a:lnTo>
                  <a:lnTo>
                    <a:pt x="4530" y="18273"/>
                  </a:lnTo>
                  <a:close/>
                </a:path>
                <a:path w="1351915" h="48260">
                  <a:moveTo>
                    <a:pt x="1343278" y="14350"/>
                  </a:moveTo>
                  <a:lnTo>
                    <a:pt x="1330833" y="16510"/>
                  </a:lnTo>
                  <a:lnTo>
                    <a:pt x="1322959" y="18668"/>
                  </a:lnTo>
                  <a:lnTo>
                    <a:pt x="1321435" y="19050"/>
                  </a:lnTo>
                  <a:lnTo>
                    <a:pt x="1320165" y="20193"/>
                  </a:lnTo>
                  <a:lnTo>
                    <a:pt x="1319657" y="21717"/>
                  </a:lnTo>
                  <a:lnTo>
                    <a:pt x="1319127" y="22987"/>
                  </a:lnTo>
                  <a:lnTo>
                    <a:pt x="1319098" y="24234"/>
                  </a:lnTo>
                  <a:lnTo>
                    <a:pt x="1327403" y="24130"/>
                  </a:lnTo>
                  <a:lnTo>
                    <a:pt x="1327023" y="24130"/>
                  </a:lnTo>
                  <a:lnTo>
                    <a:pt x="1336040" y="23622"/>
                  </a:lnTo>
                  <a:lnTo>
                    <a:pt x="1350884" y="23622"/>
                  </a:lnTo>
                  <a:lnTo>
                    <a:pt x="1349883" y="18796"/>
                  </a:lnTo>
                  <a:lnTo>
                    <a:pt x="1343278" y="14350"/>
                  </a:lnTo>
                  <a:close/>
                </a:path>
                <a:path w="1351915" h="48260">
                  <a:moveTo>
                    <a:pt x="1273302" y="22987"/>
                  </a:moveTo>
                  <a:lnTo>
                    <a:pt x="1273683" y="23114"/>
                  </a:lnTo>
                  <a:lnTo>
                    <a:pt x="1276442" y="23114"/>
                  </a:lnTo>
                  <a:lnTo>
                    <a:pt x="1273302" y="22987"/>
                  </a:lnTo>
                  <a:close/>
                </a:path>
                <a:path w="1351915" h="48260">
                  <a:moveTo>
                    <a:pt x="8454" y="17399"/>
                  </a:moveTo>
                  <a:lnTo>
                    <a:pt x="5842" y="17399"/>
                  </a:lnTo>
                  <a:lnTo>
                    <a:pt x="4530" y="18273"/>
                  </a:lnTo>
                  <a:lnTo>
                    <a:pt x="8454" y="17399"/>
                  </a:lnTo>
                  <a:close/>
                </a:path>
                <a:path w="1351915" h="48260">
                  <a:moveTo>
                    <a:pt x="73190" y="16718"/>
                  </a:moveTo>
                  <a:lnTo>
                    <a:pt x="17018" y="17399"/>
                  </a:lnTo>
                  <a:lnTo>
                    <a:pt x="70826" y="17399"/>
                  </a:lnTo>
                  <a:lnTo>
                    <a:pt x="73190" y="16718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273" y="5745860"/>
            <a:ext cx="173291" cy="2323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583" y="1131442"/>
            <a:ext cx="945337" cy="5151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8357" y="1145921"/>
            <a:ext cx="502285" cy="4483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0055" y="1161414"/>
            <a:ext cx="449580" cy="420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4232" y="1048003"/>
            <a:ext cx="457454" cy="20573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30828" y="913257"/>
            <a:ext cx="961390" cy="528955"/>
            <a:chOff x="3830828" y="913257"/>
            <a:chExt cx="961390" cy="52895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0828" y="913257"/>
              <a:ext cx="522986" cy="5287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84294" y="983234"/>
              <a:ext cx="407669" cy="17907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50638" y="1041527"/>
            <a:ext cx="230411" cy="1334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01513" y="909319"/>
            <a:ext cx="991107" cy="42113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06438" y="916686"/>
            <a:ext cx="421385" cy="2095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00290" y="817117"/>
            <a:ext cx="905255" cy="4587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35416" y="740409"/>
            <a:ext cx="600582" cy="26682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359010" y="707770"/>
            <a:ext cx="922528" cy="5571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449052" y="685165"/>
            <a:ext cx="358952" cy="22478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873613" y="619125"/>
            <a:ext cx="853439" cy="4635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892" y="1326896"/>
            <a:ext cx="397489" cy="23241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2695829" y="1991995"/>
            <a:ext cx="218440" cy="53975"/>
          </a:xfrm>
          <a:custGeom>
            <a:avLst/>
            <a:gdLst/>
            <a:ahLst/>
            <a:cxnLst/>
            <a:rect l="l" t="t" r="r" b="b"/>
            <a:pathLst>
              <a:path w="218439" h="53975">
                <a:moveTo>
                  <a:pt x="40495" y="50898"/>
                </a:moveTo>
                <a:lnTo>
                  <a:pt x="12072" y="53261"/>
                </a:lnTo>
                <a:lnTo>
                  <a:pt x="15875" y="53466"/>
                </a:lnTo>
                <a:lnTo>
                  <a:pt x="28828" y="53720"/>
                </a:lnTo>
                <a:lnTo>
                  <a:pt x="32131" y="53212"/>
                </a:lnTo>
                <a:lnTo>
                  <a:pt x="40495" y="50898"/>
                </a:lnTo>
                <a:close/>
              </a:path>
              <a:path w="218439" h="53975">
                <a:moveTo>
                  <a:pt x="7610" y="53097"/>
                </a:moveTo>
                <a:lnTo>
                  <a:pt x="8635" y="53593"/>
                </a:lnTo>
                <a:lnTo>
                  <a:pt x="12072" y="53261"/>
                </a:lnTo>
                <a:lnTo>
                  <a:pt x="11175" y="53212"/>
                </a:lnTo>
                <a:lnTo>
                  <a:pt x="7610" y="53097"/>
                </a:lnTo>
                <a:close/>
              </a:path>
              <a:path w="218439" h="53975">
                <a:moveTo>
                  <a:pt x="11797" y="31081"/>
                </a:moveTo>
                <a:lnTo>
                  <a:pt x="194" y="44077"/>
                </a:lnTo>
                <a:lnTo>
                  <a:pt x="1878" y="47431"/>
                </a:lnTo>
                <a:lnTo>
                  <a:pt x="2539" y="48387"/>
                </a:lnTo>
                <a:lnTo>
                  <a:pt x="4432" y="51282"/>
                </a:lnTo>
                <a:lnTo>
                  <a:pt x="6182" y="52406"/>
                </a:lnTo>
                <a:lnTo>
                  <a:pt x="7610" y="53097"/>
                </a:lnTo>
                <a:lnTo>
                  <a:pt x="11175" y="53212"/>
                </a:lnTo>
                <a:lnTo>
                  <a:pt x="12072" y="53261"/>
                </a:lnTo>
                <a:lnTo>
                  <a:pt x="40495" y="50898"/>
                </a:lnTo>
                <a:lnTo>
                  <a:pt x="46025" y="49367"/>
                </a:lnTo>
                <a:lnTo>
                  <a:pt x="48640" y="46481"/>
                </a:lnTo>
                <a:lnTo>
                  <a:pt x="48513" y="36829"/>
                </a:lnTo>
                <a:lnTo>
                  <a:pt x="44703" y="32892"/>
                </a:lnTo>
                <a:lnTo>
                  <a:pt x="11797" y="31081"/>
                </a:lnTo>
                <a:close/>
              </a:path>
              <a:path w="218439" h="53975">
                <a:moveTo>
                  <a:pt x="6182" y="52406"/>
                </a:moveTo>
                <a:lnTo>
                  <a:pt x="7238" y="53085"/>
                </a:lnTo>
                <a:lnTo>
                  <a:pt x="7610" y="53097"/>
                </a:lnTo>
                <a:lnTo>
                  <a:pt x="6182" y="52406"/>
                </a:lnTo>
                <a:close/>
              </a:path>
              <a:path w="218439" h="53975">
                <a:moveTo>
                  <a:pt x="4432" y="51282"/>
                </a:moveTo>
                <a:lnTo>
                  <a:pt x="4698" y="51688"/>
                </a:lnTo>
                <a:lnTo>
                  <a:pt x="6182" y="52406"/>
                </a:lnTo>
                <a:lnTo>
                  <a:pt x="4432" y="51282"/>
                </a:lnTo>
                <a:close/>
              </a:path>
              <a:path w="218439" h="53975">
                <a:moveTo>
                  <a:pt x="1878" y="47431"/>
                </a:moveTo>
                <a:lnTo>
                  <a:pt x="3682" y="50800"/>
                </a:lnTo>
                <a:lnTo>
                  <a:pt x="4432" y="51282"/>
                </a:lnTo>
                <a:lnTo>
                  <a:pt x="2539" y="48387"/>
                </a:lnTo>
                <a:lnTo>
                  <a:pt x="1878" y="47431"/>
                </a:lnTo>
                <a:close/>
              </a:path>
              <a:path w="218439" h="53975">
                <a:moveTo>
                  <a:pt x="46025" y="49367"/>
                </a:moveTo>
                <a:lnTo>
                  <a:pt x="40495" y="50898"/>
                </a:lnTo>
                <a:lnTo>
                  <a:pt x="44957" y="50545"/>
                </a:lnTo>
                <a:lnTo>
                  <a:pt x="46025" y="49367"/>
                </a:lnTo>
                <a:close/>
              </a:path>
              <a:path w="218439" h="53975">
                <a:moveTo>
                  <a:pt x="27428" y="30635"/>
                </a:moveTo>
                <a:lnTo>
                  <a:pt x="16256" y="30860"/>
                </a:lnTo>
                <a:lnTo>
                  <a:pt x="15875" y="30860"/>
                </a:lnTo>
                <a:lnTo>
                  <a:pt x="11797" y="31081"/>
                </a:lnTo>
                <a:lnTo>
                  <a:pt x="44703" y="32892"/>
                </a:lnTo>
                <a:lnTo>
                  <a:pt x="48513" y="36829"/>
                </a:lnTo>
                <a:lnTo>
                  <a:pt x="48640" y="46481"/>
                </a:lnTo>
                <a:lnTo>
                  <a:pt x="46025" y="49367"/>
                </a:lnTo>
                <a:lnTo>
                  <a:pt x="51865" y="47751"/>
                </a:lnTo>
                <a:lnTo>
                  <a:pt x="51688" y="47751"/>
                </a:lnTo>
                <a:lnTo>
                  <a:pt x="77596" y="42037"/>
                </a:lnTo>
                <a:lnTo>
                  <a:pt x="77793" y="42037"/>
                </a:lnTo>
                <a:lnTo>
                  <a:pt x="106679" y="36829"/>
                </a:lnTo>
                <a:lnTo>
                  <a:pt x="107158" y="36829"/>
                </a:lnTo>
                <a:lnTo>
                  <a:pt x="135508" y="32638"/>
                </a:lnTo>
                <a:lnTo>
                  <a:pt x="146322" y="31114"/>
                </a:lnTo>
                <a:lnTo>
                  <a:pt x="25781" y="31114"/>
                </a:lnTo>
                <a:lnTo>
                  <a:pt x="27428" y="30635"/>
                </a:lnTo>
                <a:close/>
              </a:path>
              <a:path w="218439" h="53975">
                <a:moveTo>
                  <a:pt x="52323" y="47625"/>
                </a:moveTo>
                <a:lnTo>
                  <a:pt x="51688" y="47751"/>
                </a:lnTo>
                <a:lnTo>
                  <a:pt x="51865" y="47751"/>
                </a:lnTo>
                <a:lnTo>
                  <a:pt x="52323" y="47625"/>
                </a:lnTo>
                <a:close/>
              </a:path>
              <a:path w="218439" h="53975">
                <a:moveTo>
                  <a:pt x="194" y="44077"/>
                </a:moveTo>
                <a:lnTo>
                  <a:pt x="253" y="45084"/>
                </a:lnTo>
                <a:lnTo>
                  <a:pt x="1878" y="47431"/>
                </a:lnTo>
                <a:lnTo>
                  <a:pt x="194" y="44077"/>
                </a:lnTo>
                <a:close/>
              </a:path>
              <a:path w="218439" h="53975">
                <a:moveTo>
                  <a:pt x="87" y="42249"/>
                </a:moveTo>
                <a:lnTo>
                  <a:pt x="0" y="43687"/>
                </a:lnTo>
                <a:lnTo>
                  <a:pt x="194" y="44077"/>
                </a:lnTo>
                <a:lnTo>
                  <a:pt x="87" y="42249"/>
                </a:lnTo>
                <a:close/>
              </a:path>
              <a:path w="218439" h="53975">
                <a:moveTo>
                  <a:pt x="77793" y="42037"/>
                </a:moveTo>
                <a:lnTo>
                  <a:pt x="77596" y="42037"/>
                </a:lnTo>
                <a:lnTo>
                  <a:pt x="77088" y="42163"/>
                </a:lnTo>
                <a:lnTo>
                  <a:pt x="77793" y="42037"/>
                </a:lnTo>
                <a:close/>
              </a:path>
              <a:path w="218439" h="53975">
                <a:moveTo>
                  <a:pt x="2104" y="36557"/>
                </a:moveTo>
                <a:lnTo>
                  <a:pt x="253" y="39496"/>
                </a:lnTo>
                <a:lnTo>
                  <a:pt x="201" y="40364"/>
                </a:lnTo>
                <a:lnTo>
                  <a:pt x="2104" y="36557"/>
                </a:lnTo>
                <a:close/>
              </a:path>
              <a:path w="218439" h="53975">
                <a:moveTo>
                  <a:pt x="107158" y="36829"/>
                </a:moveTo>
                <a:lnTo>
                  <a:pt x="106679" y="36829"/>
                </a:lnTo>
                <a:lnTo>
                  <a:pt x="106298" y="36956"/>
                </a:lnTo>
                <a:lnTo>
                  <a:pt x="107158" y="36829"/>
                </a:lnTo>
                <a:close/>
              </a:path>
              <a:path w="218439" h="53975">
                <a:moveTo>
                  <a:pt x="4337" y="33124"/>
                </a:moveTo>
                <a:lnTo>
                  <a:pt x="3556" y="33654"/>
                </a:lnTo>
                <a:lnTo>
                  <a:pt x="2104" y="36557"/>
                </a:lnTo>
                <a:lnTo>
                  <a:pt x="4337" y="33124"/>
                </a:lnTo>
                <a:close/>
              </a:path>
              <a:path w="218439" h="53975">
                <a:moveTo>
                  <a:pt x="5689" y="32207"/>
                </a:moveTo>
                <a:lnTo>
                  <a:pt x="4571" y="32765"/>
                </a:lnTo>
                <a:lnTo>
                  <a:pt x="4337" y="33124"/>
                </a:lnTo>
                <a:lnTo>
                  <a:pt x="5689" y="32207"/>
                </a:lnTo>
                <a:close/>
              </a:path>
              <a:path w="218439" h="53975">
                <a:moveTo>
                  <a:pt x="7653" y="31225"/>
                </a:moveTo>
                <a:lnTo>
                  <a:pt x="7112" y="31241"/>
                </a:lnTo>
                <a:lnTo>
                  <a:pt x="5689" y="32207"/>
                </a:lnTo>
                <a:lnTo>
                  <a:pt x="7653" y="31225"/>
                </a:lnTo>
                <a:close/>
              </a:path>
              <a:path w="218439" h="53975">
                <a:moveTo>
                  <a:pt x="8381" y="30860"/>
                </a:moveTo>
                <a:lnTo>
                  <a:pt x="7653" y="31225"/>
                </a:lnTo>
                <a:lnTo>
                  <a:pt x="11797" y="31081"/>
                </a:lnTo>
                <a:lnTo>
                  <a:pt x="8381" y="30860"/>
                </a:lnTo>
                <a:close/>
              </a:path>
              <a:path w="218439" h="53975">
                <a:moveTo>
                  <a:pt x="28828" y="30606"/>
                </a:moveTo>
                <a:lnTo>
                  <a:pt x="27428" y="30635"/>
                </a:lnTo>
                <a:lnTo>
                  <a:pt x="25781" y="31114"/>
                </a:lnTo>
                <a:lnTo>
                  <a:pt x="28828" y="30606"/>
                </a:lnTo>
                <a:close/>
              </a:path>
              <a:path w="218439" h="53975">
                <a:moveTo>
                  <a:pt x="149968" y="30606"/>
                </a:moveTo>
                <a:lnTo>
                  <a:pt x="28828" y="30606"/>
                </a:lnTo>
                <a:lnTo>
                  <a:pt x="25781" y="31114"/>
                </a:lnTo>
                <a:lnTo>
                  <a:pt x="146322" y="31114"/>
                </a:lnTo>
                <a:lnTo>
                  <a:pt x="149968" y="30606"/>
                </a:lnTo>
                <a:close/>
              </a:path>
              <a:path w="218439" h="53975">
                <a:moveTo>
                  <a:pt x="198932" y="1241"/>
                </a:moveTo>
                <a:lnTo>
                  <a:pt x="192404" y="1904"/>
                </a:lnTo>
                <a:lnTo>
                  <a:pt x="192531" y="1904"/>
                </a:lnTo>
                <a:lnTo>
                  <a:pt x="179196" y="3047"/>
                </a:lnTo>
                <a:lnTo>
                  <a:pt x="178815" y="3047"/>
                </a:lnTo>
                <a:lnTo>
                  <a:pt x="157860" y="5587"/>
                </a:lnTo>
                <a:lnTo>
                  <a:pt x="157606" y="5587"/>
                </a:lnTo>
                <a:lnTo>
                  <a:pt x="132079" y="9270"/>
                </a:lnTo>
                <a:lnTo>
                  <a:pt x="102869" y="13588"/>
                </a:lnTo>
                <a:lnTo>
                  <a:pt x="102362" y="13588"/>
                </a:lnTo>
                <a:lnTo>
                  <a:pt x="72897" y="19176"/>
                </a:lnTo>
                <a:lnTo>
                  <a:pt x="72516" y="19303"/>
                </a:lnTo>
                <a:lnTo>
                  <a:pt x="46608" y="25018"/>
                </a:lnTo>
                <a:lnTo>
                  <a:pt x="45846" y="25272"/>
                </a:lnTo>
                <a:lnTo>
                  <a:pt x="27428" y="30635"/>
                </a:lnTo>
                <a:lnTo>
                  <a:pt x="28828" y="30606"/>
                </a:lnTo>
                <a:lnTo>
                  <a:pt x="149968" y="30606"/>
                </a:lnTo>
                <a:lnTo>
                  <a:pt x="160908" y="29082"/>
                </a:lnTo>
                <a:lnTo>
                  <a:pt x="160654" y="29082"/>
                </a:lnTo>
                <a:lnTo>
                  <a:pt x="181609" y="26542"/>
                </a:lnTo>
                <a:lnTo>
                  <a:pt x="181101" y="26542"/>
                </a:lnTo>
                <a:lnTo>
                  <a:pt x="194437" y="25526"/>
                </a:lnTo>
                <a:lnTo>
                  <a:pt x="194690" y="25526"/>
                </a:lnTo>
                <a:lnTo>
                  <a:pt x="202183" y="24764"/>
                </a:lnTo>
                <a:lnTo>
                  <a:pt x="204469" y="24383"/>
                </a:lnTo>
                <a:lnTo>
                  <a:pt x="206445" y="23749"/>
                </a:lnTo>
                <a:lnTo>
                  <a:pt x="204723" y="23749"/>
                </a:lnTo>
                <a:lnTo>
                  <a:pt x="208025" y="23240"/>
                </a:lnTo>
                <a:lnTo>
                  <a:pt x="212230" y="23240"/>
                </a:lnTo>
                <a:lnTo>
                  <a:pt x="216281" y="20065"/>
                </a:lnTo>
                <a:lnTo>
                  <a:pt x="217677" y="14731"/>
                </a:lnTo>
                <a:lnTo>
                  <a:pt x="217931" y="13462"/>
                </a:lnTo>
                <a:lnTo>
                  <a:pt x="218185" y="12445"/>
                </a:lnTo>
                <a:lnTo>
                  <a:pt x="218185" y="11429"/>
                </a:lnTo>
                <a:lnTo>
                  <a:pt x="217677" y="9016"/>
                </a:lnTo>
                <a:lnTo>
                  <a:pt x="216281" y="3809"/>
                </a:lnTo>
                <a:lnTo>
                  <a:pt x="213618" y="1650"/>
                </a:lnTo>
                <a:lnTo>
                  <a:pt x="197612" y="1650"/>
                </a:lnTo>
                <a:lnTo>
                  <a:pt x="198932" y="1241"/>
                </a:lnTo>
                <a:close/>
              </a:path>
              <a:path w="218439" h="53975">
                <a:moveTo>
                  <a:pt x="208025" y="23240"/>
                </a:moveTo>
                <a:lnTo>
                  <a:pt x="204723" y="23749"/>
                </a:lnTo>
                <a:lnTo>
                  <a:pt x="206445" y="23749"/>
                </a:lnTo>
                <a:lnTo>
                  <a:pt x="208025" y="23240"/>
                </a:lnTo>
                <a:close/>
              </a:path>
              <a:path w="218439" h="53975">
                <a:moveTo>
                  <a:pt x="212230" y="23240"/>
                </a:moveTo>
                <a:lnTo>
                  <a:pt x="208025" y="23240"/>
                </a:lnTo>
                <a:lnTo>
                  <a:pt x="206445" y="23749"/>
                </a:lnTo>
                <a:lnTo>
                  <a:pt x="211581" y="23749"/>
                </a:lnTo>
                <a:lnTo>
                  <a:pt x="212230" y="23240"/>
                </a:lnTo>
                <a:close/>
              </a:path>
              <a:path w="218439" h="53975">
                <a:moveTo>
                  <a:pt x="199897" y="1142"/>
                </a:moveTo>
                <a:lnTo>
                  <a:pt x="198932" y="1241"/>
                </a:lnTo>
                <a:lnTo>
                  <a:pt x="197612" y="1650"/>
                </a:lnTo>
                <a:lnTo>
                  <a:pt x="199897" y="1142"/>
                </a:lnTo>
                <a:close/>
              </a:path>
              <a:path w="218439" h="53975">
                <a:moveTo>
                  <a:pt x="212991" y="1142"/>
                </a:moveTo>
                <a:lnTo>
                  <a:pt x="199897" y="1142"/>
                </a:lnTo>
                <a:lnTo>
                  <a:pt x="197612" y="1650"/>
                </a:lnTo>
                <a:lnTo>
                  <a:pt x="213618" y="1650"/>
                </a:lnTo>
                <a:lnTo>
                  <a:pt x="212991" y="1142"/>
                </a:lnTo>
                <a:close/>
              </a:path>
              <a:path w="218439" h="53975">
                <a:moveTo>
                  <a:pt x="211581" y="0"/>
                </a:moveTo>
                <a:lnTo>
                  <a:pt x="204723" y="0"/>
                </a:lnTo>
                <a:lnTo>
                  <a:pt x="201294" y="507"/>
                </a:lnTo>
                <a:lnTo>
                  <a:pt x="198932" y="1241"/>
                </a:lnTo>
                <a:lnTo>
                  <a:pt x="199897" y="1142"/>
                </a:lnTo>
                <a:lnTo>
                  <a:pt x="212991" y="1142"/>
                </a:lnTo>
                <a:lnTo>
                  <a:pt x="211581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885858" y="1913382"/>
            <a:ext cx="639282" cy="42570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061842" y="1849882"/>
            <a:ext cx="520699" cy="2853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62298" y="1769617"/>
            <a:ext cx="147192" cy="35445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44545" y="2234692"/>
            <a:ext cx="174498" cy="25577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23582" y="3406013"/>
            <a:ext cx="184770" cy="28155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69007" y="3367404"/>
            <a:ext cx="764286" cy="26416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86831" y="3243960"/>
            <a:ext cx="248925" cy="262381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960856" y="2620010"/>
            <a:ext cx="3407410" cy="1464310"/>
            <a:chOff x="960856" y="2620010"/>
            <a:chExt cx="3407410" cy="1464310"/>
          </a:xfrm>
        </p:grpSpPr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60856" y="3459734"/>
              <a:ext cx="1203604" cy="62445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18995" y="2620010"/>
              <a:ext cx="2748661" cy="1388490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18705" y="3434460"/>
            <a:ext cx="123050" cy="464819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339841" y="1651000"/>
            <a:ext cx="15240" cy="27305"/>
          </a:xfrm>
          <a:custGeom>
            <a:avLst/>
            <a:gdLst/>
            <a:ahLst/>
            <a:cxnLst/>
            <a:rect l="l" t="t" r="r" b="b"/>
            <a:pathLst>
              <a:path w="15239" h="27305">
                <a:moveTo>
                  <a:pt x="4191" y="20954"/>
                </a:moveTo>
                <a:lnTo>
                  <a:pt x="4318" y="22351"/>
                </a:lnTo>
                <a:lnTo>
                  <a:pt x="4953" y="25780"/>
                </a:lnTo>
                <a:lnTo>
                  <a:pt x="6223" y="26797"/>
                </a:lnTo>
                <a:lnTo>
                  <a:pt x="9017" y="26797"/>
                </a:lnTo>
                <a:lnTo>
                  <a:pt x="10160" y="25780"/>
                </a:lnTo>
                <a:lnTo>
                  <a:pt x="10795" y="22351"/>
                </a:lnTo>
                <a:lnTo>
                  <a:pt x="10922" y="21971"/>
                </a:lnTo>
                <a:lnTo>
                  <a:pt x="6096" y="21844"/>
                </a:lnTo>
                <a:lnTo>
                  <a:pt x="4191" y="20954"/>
                </a:lnTo>
                <a:close/>
              </a:path>
              <a:path w="15239" h="27305">
                <a:moveTo>
                  <a:pt x="4191" y="18541"/>
                </a:moveTo>
                <a:lnTo>
                  <a:pt x="4191" y="20954"/>
                </a:lnTo>
                <a:lnTo>
                  <a:pt x="6096" y="21844"/>
                </a:lnTo>
                <a:lnTo>
                  <a:pt x="4191" y="18541"/>
                </a:lnTo>
                <a:close/>
              </a:path>
              <a:path w="15239" h="27305">
                <a:moveTo>
                  <a:pt x="10922" y="18541"/>
                </a:moveTo>
                <a:lnTo>
                  <a:pt x="4191" y="18541"/>
                </a:lnTo>
                <a:lnTo>
                  <a:pt x="6096" y="21844"/>
                </a:lnTo>
                <a:lnTo>
                  <a:pt x="9144" y="21844"/>
                </a:lnTo>
                <a:lnTo>
                  <a:pt x="10922" y="18541"/>
                </a:lnTo>
                <a:close/>
              </a:path>
              <a:path w="15239" h="27305">
                <a:moveTo>
                  <a:pt x="10922" y="18541"/>
                </a:moveTo>
                <a:lnTo>
                  <a:pt x="9144" y="21844"/>
                </a:lnTo>
                <a:lnTo>
                  <a:pt x="10922" y="20954"/>
                </a:lnTo>
                <a:lnTo>
                  <a:pt x="10922" y="18541"/>
                </a:lnTo>
                <a:close/>
              </a:path>
              <a:path w="15239" h="27305">
                <a:moveTo>
                  <a:pt x="11018" y="20906"/>
                </a:moveTo>
                <a:lnTo>
                  <a:pt x="9144" y="21844"/>
                </a:lnTo>
                <a:lnTo>
                  <a:pt x="10933" y="21844"/>
                </a:lnTo>
                <a:lnTo>
                  <a:pt x="11018" y="20906"/>
                </a:lnTo>
                <a:close/>
              </a:path>
              <a:path w="15239" h="27305">
                <a:moveTo>
                  <a:pt x="9906" y="0"/>
                </a:moveTo>
                <a:lnTo>
                  <a:pt x="8382" y="253"/>
                </a:lnTo>
                <a:lnTo>
                  <a:pt x="7238" y="1142"/>
                </a:lnTo>
                <a:lnTo>
                  <a:pt x="3302" y="4063"/>
                </a:lnTo>
                <a:lnTo>
                  <a:pt x="1650" y="5334"/>
                </a:lnTo>
                <a:lnTo>
                  <a:pt x="635" y="7112"/>
                </a:lnTo>
                <a:lnTo>
                  <a:pt x="381" y="9016"/>
                </a:lnTo>
                <a:lnTo>
                  <a:pt x="127" y="12191"/>
                </a:lnTo>
                <a:lnTo>
                  <a:pt x="0" y="13080"/>
                </a:lnTo>
                <a:lnTo>
                  <a:pt x="0" y="17017"/>
                </a:lnTo>
                <a:lnTo>
                  <a:pt x="1650" y="19685"/>
                </a:lnTo>
                <a:lnTo>
                  <a:pt x="4191" y="20954"/>
                </a:lnTo>
                <a:lnTo>
                  <a:pt x="4191" y="18541"/>
                </a:lnTo>
                <a:lnTo>
                  <a:pt x="14169" y="18541"/>
                </a:lnTo>
                <a:lnTo>
                  <a:pt x="15112" y="17017"/>
                </a:lnTo>
                <a:lnTo>
                  <a:pt x="15112" y="12191"/>
                </a:lnTo>
                <a:lnTo>
                  <a:pt x="14732" y="9016"/>
                </a:lnTo>
                <a:lnTo>
                  <a:pt x="14605" y="8636"/>
                </a:lnTo>
                <a:lnTo>
                  <a:pt x="13588" y="2286"/>
                </a:lnTo>
                <a:lnTo>
                  <a:pt x="12573" y="1142"/>
                </a:lnTo>
                <a:lnTo>
                  <a:pt x="11303" y="635"/>
                </a:lnTo>
                <a:lnTo>
                  <a:pt x="9906" y="0"/>
                </a:lnTo>
                <a:close/>
              </a:path>
              <a:path w="15239" h="27305">
                <a:moveTo>
                  <a:pt x="14169" y="18541"/>
                </a:moveTo>
                <a:lnTo>
                  <a:pt x="10922" y="18541"/>
                </a:lnTo>
                <a:lnTo>
                  <a:pt x="11018" y="20906"/>
                </a:lnTo>
                <a:lnTo>
                  <a:pt x="13462" y="19685"/>
                </a:lnTo>
                <a:lnTo>
                  <a:pt x="14169" y="1854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268965" y="1899539"/>
            <a:ext cx="1391805" cy="160020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6376161" y="1595247"/>
            <a:ext cx="1173480" cy="655320"/>
            <a:chOff x="6376161" y="1595247"/>
            <a:chExt cx="1173480" cy="655320"/>
          </a:xfrm>
        </p:grpSpPr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76161" y="1663065"/>
              <a:ext cx="621538" cy="24917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982078" y="1595247"/>
              <a:ext cx="567209" cy="655319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7637018" y="1709166"/>
            <a:ext cx="48895" cy="78740"/>
          </a:xfrm>
          <a:custGeom>
            <a:avLst/>
            <a:gdLst/>
            <a:ahLst/>
            <a:cxnLst/>
            <a:rect l="l" t="t" r="r" b="b"/>
            <a:pathLst>
              <a:path w="48895" h="78739">
                <a:moveTo>
                  <a:pt x="35813" y="0"/>
                </a:moveTo>
                <a:lnTo>
                  <a:pt x="31368" y="1016"/>
                </a:lnTo>
                <a:lnTo>
                  <a:pt x="28321" y="3937"/>
                </a:lnTo>
                <a:lnTo>
                  <a:pt x="14858" y="16510"/>
                </a:lnTo>
                <a:lnTo>
                  <a:pt x="13334" y="18034"/>
                </a:lnTo>
                <a:lnTo>
                  <a:pt x="12191" y="19938"/>
                </a:lnTo>
                <a:lnTo>
                  <a:pt x="11683" y="22098"/>
                </a:lnTo>
                <a:lnTo>
                  <a:pt x="7365" y="39878"/>
                </a:lnTo>
                <a:lnTo>
                  <a:pt x="3428" y="56896"/>
                </a:lnTo>
                <a:lnTo>
                  <a:pt x="3428" y="57150"/>
                </a:lnTo>
                <a:lnTo>
                  <a:pt x="634" y="70738"/>
                </a:lnTo>
                <a:lnTo>
                  <a:pt x="0" y="73406"/>
                </a:lnTo>
                <a:lnTo>
                  <a:pt x="1397" y="76200"/>
                </a:lnTo>
                <a:lnTo>
                  <a:pt x="4063" y="77343"/>
                </a:lnTo>
                <a:lnTo>
                  <a:pt x="6603" y="78612"/>
                </a:lnTo>
                <a:lnTo>
                  <a:pt x="9651" y="77724"/>
                </a:lnTo>
                <a:lnTo>
                  <a:pt x="11302" y="75437"/>
                </a:lnTo>
                <a:lnTo>
                  <a:pt x="19557" y="64262"/>
                </a:lnTo>
                <a:lnTo>
                  <a:pt x="20574" y="62484"/>
                </a:lnTo>
                <a:lnTo>
                  <a:pt x="27304" y="46482"/>
                </a:lnTo>
                <a:lnTo>
                  <a:pt x="27685" y="45720"/>
                </a:lnTo>
                <a:lnTo>
                  <a:pt x="31732" y="33400"/>
                </a:lnTo>
                <a:lnTo>
                  <a:pt x="29972" y="33400"/>
                </a:lnTo>
                <a:lnTo>
                  <a:pt x="33400" y="28321"/>
                </a:lnTo>
                <a:lnTo>
                  <a:pt x="35916" y="28321"/>
                </a:lnTo>
                <a:lnTo>
                  <a:pt x="47243" y="18669"/>
                </a:lnTo>
                <a:lnTo>
                  <a:pt x="48767" y="14350"/>
                </a:lnTo>
                <a:lnTo>
                  <a:pt x="47878" y="10160"/>
                </a:lnTo>
                <a:lnTo>
                  <a:pt x="47116" y="5969"/>
                </a:lnTo>
                <a:lnTo>
                  <a:pt x="44068" y="2539"/>
                </a:lnTo>
                <a:lnTo>
                  <a:pt x="35813" y="0"/>
                </a:lnTo>
                <a:close/>
              </a:path>
              <a:path w="48895" h="78739">
                <a:moveTo>
                  <a:pt x="33400" y="28321"/>
                </a:moveTo>
                <a:lnTo>
                  <a:pt x="29972" y="33400"/>
                </a:lnTo>
                <a:lnTo>
                  <a:pt x="32419" y="31309"/>
                </a:lnTo>
                <a:lnTo>
                  <a:pt x="33400" y="28321"/>
                </a:lnTo>
                <a:close/>
              </a:path>
              <a:path w="48895" h="78739">
                <a:moveTo>
                  <a:pt x="32419" y="31309"/>
                </a:moveTo>
                <a:lnTo>
                  <a:pt x="29972" y="33400"/>
                </a:lnTo>
                <a:lnTo>
                  <a:pt x="31732" y="33400"/>
                </a:lnTo>
                <a:lnTo>
                  <a:pt x="32419" y="31309"/>
                </a:lnTo>
                <a:close/>
              </a:path>
              <a:path w="48895" h="78739">
                <a:moveTo>
                  <a:pt x="35916" y="28321"/>
                </a:moveTo>
                <a:lnTo>
                  <a:pt x="33400" y="28321"/>
                </a:lnTo>
                <a:lnTo>
                  <a:pt x="32419" y="31309"/>
                </a:lnTo>
                <a:lnTo>
                  <a:pt x="35916" y="2832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798561" y="1577086"/>
            <a:ext cx="397383" cy="29933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435725" y="2508630"/>
            <a:ext cx="860547" cy="28003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835522" y="3080892"/>
            <a:ext cx="119887" cy="28956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6044057" y="2286507"/>
            <a:ext cx="2824480" cy="1099185"/>
            <a:chOff x="6044057" y="2286507"/>
            <a:chExt cx="2824480" cy="1099185"/>
          </a:xfrm>
        </p:grpSpPr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89878" y="2286507"/>
              <a:ext cx="2478278" cy="109905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044057" y="3047237"/>
              <a:ext cx="417575" cy="27597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632321" y="3049142"/>
              <a:ext cx="165226" cy="2205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63410" y="3019043"/>
              <a:ext cx="782620" cy="251460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949055" y="2968244"/>
            <a:ext cx="768096" cy="18161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9885680" y="2781300"/>
            <a:ext cx="790955" cy="48704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44574" y="4288409"/>
            <a:ext cx="1008252" cy="31673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969767" y="4245736"/>
            <a:ext cx="686434" cy="26035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721861" y="4242942"/>
            <a:ext cx="224662" cy="16675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157598" y="4082415"/>
            <a:ext cx="970026" cy="30518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336285" y="4132960"/>
            <a:ext cx="121792" cy="146176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5532501" y="4017517"/>
            <a:ext cx="163830" cy="396875"/>
          </a:xfrm>
          <a:custGeom>
            <a:avLst/>
            <a:gdLst/>
            <a:ahLst/>
            <a:cxnLst/>
            <a:rect l="l" t="t" r="r" b="b"/>
            <a:pathLst>
              <a:path w="163829" h="396875">
                <a:moveTo>
                  <a:pt x="163322" y="179959"/>
                </a:moveTo>
                <a:lnTo>
                  <a:pt x="161290" y="175895"/>
                </a:lnTo>
                <a:lnTo>
                  <a:pt x="158877" y="174879"/>
                </a:lnTo>
                <a:lnTo>
                  <a:pt x="156718" y="175514"/>
                </a:lnTo>
                <a:lnTo>
                  <a:pt x="139954" y="179959"/>
                </a:lnTo>
                <a:lnTo>
                  <a:pt x="139446" y="180086"/>
                </a:lnTo>
                <a:lnTo>
                  <a:pt x="139827" y="179984"/>
                </a:lnTo>
                <a:lnTo>
                  <a:pt x="139319" y="180086"/>
                </a:lnTo>
                <a:lnTo>
                  <a:pt x="124028" y="183197"/>
                </a:lnTo>
                <a:lnTo>
                  <a:pt x="124460" y="183134"/>
                </a:lnTo>
                <a:lnTo>
                  <a:pt x="123698" y="183261"/>
                </a:lnTo>
                <a:lnTo>
                  <a:pt x="124028" y="183197"/>
                </a:lnTo>
                <a:lnTo>
                  <a:pt x="107061" y="185547"/>
                </a:lnTo>
                <a:lnTo>
                  <a:pt x="107950" y="185420"/>
                </a:lnTo>
                <a:lnTo>
                  <a:pt x="90678" y="186436"/>
                </a:lnTo>
                <a:lnTo>
                  <a:pt x="76327" y="187553"/>
                </a:lnTo>
                <a:lnTo>
                  <a:pt x="76581" y="185674"/>
                </a:lnTo>
                <a:lnTo>
                  <a:pt x="76581" y="185547"/>
                </a:lnTo>
                <a:lnTo>
                  <a:pt x="80391" y="152781"/>
                </a:lnTo>
                <a:lnTo>
                  <a:pt x="80391" y="152400"/>
                </a:lnTo>
                <a:lnTo>
                  <a:pt x="82892" y="122936"/>
                </a:lnTo>
                <a:lnTo>
                  <a:pt x="82931" y="122745"/>
                </a:lnTo>
                <a:lnTo>
                  <a:pt x="82931" y="122936"/>
                </a:lnTo>
                <a:lnTo>
                  <a:pt x="82969" y="122555"/>
                </a:lnTo>
                <a:lnTo>
                  <a:pt x="86106" y="96012"/>
                </a:lnTo>
                <a:lnTo>
                  <a:pt x="86106" y="95885"/>
                </a:lnTo>
                <a:lnTo>
                  <a:pt x="88760" y="72898"/>
                </a:lnTo>
                <a:lnTo>
                  <a:pt x="88900" y="71767"/>
                </a:lnTo>
                <a:lnTo>
                  <a:pt x="91313" y="60909"/>
                </a:lnTo>
                <a:lnTo>
                  <a:pt x="91313" y="64389"/>
                </a:lnTo>
                <a:lnTo>
                  <a:pt x="96393" y="69469"/>
                </a:lnTo>
                <a:lnTo>
                  <a:pt x="108712" y="69469"/>
                </a:lnTo>
                <a:lnTo>
                  <a:pt x="113792" y="64389"/>
                </a:lnTo>
                <a:lnTo>
                  <a:pt x="113893" y="18542"/>
                </a:lnTo>
                <a:lnTo>
                  <a:pt x="113919" y="11430"/>
                </a:lnTo>
                <a:lnTo>
                  <a:pt x="113919" y="8382"/>
                </a:lnTo>
                <a:lnTo>
                  <a:pt x="112776" y="5461"/>
                </a:lnTo>
                <a:lnTo>
                  <a:pt x="110617" y="3302"/>
                </a:lnTo>
                <a:lnTo>
                  <a:pt x="108458" y="1270"/>
                </a:lnTo>
                <a:lnTo>
                  <a:pt x="107696" y="939"/>
                </a:lnTo>
                <a:lnTo>
                  <a:pt x="107696" y="18542"/>
                </a:lnTo>
                <a:lnTo>
                  <a:pt x="105346" y="21539"/>
                </a:lnTo>
                <a:lnTo>
                  <a:pt x="104902" y="22098"/>
                </a:lnTo>
                <a:lnTo>
                  <a:pt x="105371" y="21475"/>
                </a:lnTo>
                <a:lnTo>
                  <a:pt x="106387" y="20193"/>
                </a:lnTo>
                <a:lnTo>
                  <a:pt x="107696" y="18542"/>
                </a:lnTo>
                <a:lnTo>
                  <a:pt x="107696" y="939"/>
                </a:lnTo>
                <a:lnTo>
                  <a:pt x="105537" y="0"/>
                </a:lnTo>
                <a:lnTo>
                  <a:pt x="100584" y="0"/>
                </a:lnTo>
                <a:lnTo>
                  <a:pt x="98425" y="127"/>
                </a:lnTo>
                <a:lnTo>
                  <a:pt x="95123" y="254"/>
                </a:lnTo>
                <a:lnTo>
                  <a:pt x="70612" y="47371"/>
                </a:lnTo>
                <a:lnTo>
                  <a:pt x="66040" y="67945"/>
                </a:lnTo>
                <a:lnTo>
                  <a:pt x="65786" y="68961"/>
                </a:lnTo>
                <a:lnTo>
                  <a:pt x="62865" y="93091"/>
                </a:lnTo>
                <a:lnTo>
                  <a:pt x="62865" y="93218"/>
                </a:lnTo>
                <a:lnTo>
                  <a:pt x="59563" y="120142"/>
                </a:lnTo>
                <a:lnTo>
                  <a:pt x="59563" y="120523"/>
                </a:lnTo>
                <a:lnTo>
                  <a:pt x="57023" y="150495"/>
                </a:lnTo>
                <a:lnTo>
                  <a:pt x="57023" y="149987"/>
                </a:lnTo>
                <a:lnTo>
                  <a:pt x="56959" y="150495"/>
                </a:lnTo>
                <a:lnTo>
                  <a:pt x="52959" y="182753"/>
                </a:lnTo>
                <a:lnTo>
                  <a:pt x="52959" y="182626"/>
                </a:lnTo>
                <a:lnTo>
                  <a:pt x="52933" y="182753"/>
                </a:lnTo>
                <a:lnTo>
                  <a:pt x="51409" y="194576"/>
                </a:lnTo>
                <a:lnTo>
                  <a:pt x="9271" y="209804"/>
                </a:lnTo>
                <a:lnTo>
                  <a:pt x="3175" y="212090"/>
                </a:lnTo>
                <a:lnTo>
                  <a:pt x="0" y="218821"/>
                </a:lnTo>
                <a:lnTo>
                  <a:pt x="2159" y="224917"/>
                </a:lnTo>
                <a:lnTo>
                  <a:pt x="4445" y="231013"/>
                </a:lnTo>
                <a:lnTo>
                  <a:pt x="11176" y="234188"/>
                </a:lnTo>
                <a:lnTo>
                  <a:pt x="47371" y="221132"/>
                </a:lnTo>
                <a:lnTo>
                  <a:pt x="42545" y="244856"/>
                </a:lnTo>
                <a:lnTo>
                  <a:pt x="42545" y="244729"/>
                </a:lnTo>
                <a:lnTo>
                  <a:pt x="42506" y="244856"/>
                </a:lnTo>
                <a:lnTo>
                  <a:pt x="36068" y="274955"/>
                </a:lnTo>
                <a:lnTo>
                  <a:pt x="36195" y="274574"/>
                </a:lnTo>
                <a:lnTo>
                  <a:pt x="29083" y="302768"/>
                </a:lnTo>
                <a:lnTo>
                  <a:pt x="28930" y="303276"/>
                </a:lnTo>
                <a:lnTo>
                  <a:pt x="21844" y="327279"/>
                </a:lnTo>
                <a:lnTo>
                  <a:pt x="21717" y="327533"/>
                </a:lnTo>
                <a:lnTo>
                  <a:pt x="16383" y="347345"/>
                </a:lnTo>
                <a:lnTo>
                  <a:pt x="16383" y="347218"/>
                </a:lnTo>
                <a:lnTo>
                  <a:pt x="16344" y="347345"/>
                </a:lnTo>
                <a:lnTo>
                  <a:pt x="12065" y="362712"/>
                </a:lnTo>
                <a:lnTo>
                  <a:pt x="9525" y="371729"/>
                </a:lnTo>
                <a:lnTo>
                  <a:pt x="9144" y="373507"/>
                </a:lnTo>
                <a:lnTo>
                  <a:pt x="8648" y="377545"/>
                </a:lnTo>
                <a:lnTo>
                  <a:pt x="7112" y="380746"/>
                </a:lnTo>
                <a:lnTo>
                  <a:pt x="8382" y="385241"/>
                </a:lnTo>
                <a:lnTo>
                  <a:pt x="8382" y="388239"/>
                </a:lnTo>
                <a:lnTo>
                  <a:pt x="9867" y="390461"/>
                </a:lnTo>
                <a:lnTo>
                  <a:pt x="10414" y="392303"/>
                </a:lnTo>
                <a:lnTo>
                  <a:pt x="16129" y="396113"/>
                </a:lnTo>
                <a:lnTo>
                  <a:pt x="18796" y="395782"/>
                </a:lnTo>
                <a:lnTo>
                  <a:pt x="20193" y="396367"/>
                </a:lnTo>
                <a:lnTo>
                  <a:pt x="25400" y="395351"/>
                </a:lnTo>
                <a:lnTo>
                  <a:pt x="25996" y="394779"/>
                </a:lnTo>
                <a:lnTo>
                  <a:pt x="28067" y="394462"/>
                </a:lnTo>
                <a:lnTo>
                  <a:pt x="32512" y="389382"/>
                </a:lnTo>
                <a:lnTo>
                  <a:pt x="32512" y="388493"/>
                </a:lnTo>
                <a:lnTo>
                  <a:pt x="32512" y="382524"/>
                </a:lnTo>
                <a:lnTo>
                  <a:pt x="32639" y="381254"/>
                </a:lnTo>
                <a:lnTo>
                  <a:pt x="32639" y="381520"/>
                </a:lnTo>
                <a:lnTo>
                  <a:pt x="32512" y="382524"/>
                </a:lnTo>
                <a:lnTo>
                  <a:pt x="32524" y="388467"/>
                </a:lnTo>
                <a:lnTo>
                  <a:pt x="35306" y="384302"/>
                </a:lnTo>
                <a:lnTo>
                  <a:pt x="38989" y="374142"/>
                </a:lnTo>
                <a:lnTo>
                  <a:pt x="39624" y="371729"/>
                </a:lnTo>
                <a:lnTo>
                  <a:pt x="40894" y="359410"/>
                </a:lnTo>
                <a:lnTo>
                  <a:pt x="40894" y="357378"/>
                </a:lnTo>
                <a:lnTo>
                  <a:pt x="40208" y="351980"/>
                </a:lnTo>
                <a:lnTo>
                  <a:pt x="44196" y="337185"/>
                </a:lnTo>
                <a:lnTo>
                  <a:pt x="45085" y="333883"/>
                </a:lnTo>
                <a:lnTo>
                  <a:pt x="45085" y="334137"/>
                </a:lnTo>
                <a:lnTo>
                  <a:pt x="45148" y="333883"/>
                </a:lnTo>
                <a:lnTo>
                  <a:pt x="52197" y="309626"/>
                </a:lnTo>
                <a:lnTo>
                  <a:pt x="59563" y="279908"/>
                </a:lnTo>
                <a:lnTo>
                  <a:pt x="60693" y="274574"/>
                </a:lnTo>
                <a:lnTo>
                  <a:pt x="66040" y="249682"/>
                </a:lnTo>
                <a:lnTo>
                  <a:pt x="66040" y="249555"/>
                </a:lnTo>
                <a:lnTo>
                  <a:pt x="72517" y="217043"/>
                </a:lnTo>
                <a:lnTo>
                  <a:pt x="72644" y="216281"/>
                </a:lnTo>
                <a:lnTo>
                  <a:pt x="73126" y="212471"/>
                </a:lnTo>
                <a:lnTo>
                  <a:pt x="73202" y="211810"/>
                </a:lnTo>
                <a:lnTo>
                  <a:pt x="74180" y="211455"/>
                </a:lnTo>
                <a:lnTo>
                  <a:pt x="74536" y="211328"/>
                </a:lnTo>
                <a:lnTo>
                  <a:pt x="81597" y="210820"/>
                </a:lnTo>
                <a:lnTo>
                  <a:pt x="109474" y="208915"/>
                </a:lnTo>
                <a:lnTo>
                  <a:pt x="111379" y="208534"/>
                </a:lnTo>
                <a:lnTo>
                  <a:pt x="147828" y="195707"/>
                </a:lnTo>
                <a:lnTo>
                  <a:pt x="159296" y="185547"/>
                </a:lnTo>
                <a:lnTo>
                  <a:pt x="161899" y="183261"/>
                </a:lnTo>
                <a:lnTo>
                  <a:pt x="162052" y="183134"/>
                </a:lnTo>
                <a:lnTo>
                  <a:pt x="162941" y="182372"/>
                </a:lnTo>
                <a:lnTo>
                  <a:pt x="163322" y="17995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857747" y="3973829"/>
            <a:ext cx="672719" cy="26416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918452" y="3909948"/>
            <a:ext cx="284339" cy="295782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8031480" y="3825747"/>
            <a:ext cx="20955" cy="20955"/>
          </a:xfrm>
          <a:custGeom>
            <a:avLst/>
            <a:gdLst/>
            <a:ahLst/>
            <a:cxnLst/>
            <a:rect l="l" t="t" r="r" b="b"/>
            <a:pathLst>
              <a:path w="20954" h="20954">
                <a:moveTo>
                  <a:pt x="15875" y="0"/>
                </a:moveTo>
                <a:lnTo>
                  <a:pt x="4572" y="0"/>
                </a:lnTo>
                <a:lnTo>
                  <a:pt x="0" y="4571"/>
                </a:lnTo>
                <a:lnTo>
                  <a:pt x="0" y="15875"/>
                </a:lnTo>
                <a:lnTo>
                  <a:pt x="4572" y="20446"/>
                </a:lnTo>
                <a:lnTo>
                  <a:pt x="15875" y="20446"/>
                </a:lnTo>
                <a:lnTo>
                  <a:pt x="20447" y="15875"/>
                </a:lnTo>
                <a:lnTo>
                  <a:pt x="20447" y="10159"/>
                </a:lnTo>
                <a:lnTo>
                  <a:pt x="20447" y="4571"/>
                </a:lnTo>
                <a:lnTo>
                  <a:pt x="1587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545068" y="3850894"/>
            <a:ext cx="931068" cy="27051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586976" y="3748404"/>
            <a:ext cx="348615" cy="42125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0072278" y="3826509"/>
            <a:ext cx="919824" cy="19050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306957" y="4756530"/>
            <a:ext cx="244221" cy="26809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781175" y="4764404"/>
            <a:ext cx="486537" cy="27419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615057" y="4612259"/>
            <a:ext cx="651509" cy="28066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3560210" y="4591558"/>
            <a:ext cx="167239" cy="25018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830573" y="4471161"/>
            <a:ext cx="1003046" cy="33528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164602" y="4366259"/>
            <a:ext cx="86172" cy="9232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901438" y="4478020"/>
            <a:ext cx="63881" cy="105537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025897" y="4614290"/>
            <a:ext cx="483362" cy="234950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5843523" y="3862070"/>
            <a:ext cx="4476750" cy="1047750"/>
            <a:chOff x="5843523" y="3862070"/>
            <a:chExt cx="4476750" cy="1047750"/>
          </a:xfrm>
        </p:grpSpPr>
        <p:pic>
          <p:nvPicPr>
            <p:cNvPr id="68" name="object 6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843523" y="3862070"/>
              <a:ext cx="4043679" cy="104762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018523" y="4213606"/>
              <a:ext cx="1301623" cy="372999"/>
            </a:xfrm>
            <a:prstGeom prst="rect">
              <a:avLst/>
            </a:prstGeom>
          </p:spPr>
        </p:pic>
      </p:grpSp>
      <p:sp>
        <p:nvSpPr>
          <p:cNvPr id="70" name="object 70"/>
          <p:cNvSpPr/>
          <p:nvPr/>
        </p:nvSpPr>
        <p:spPr>
          <a:xfrm>
            <a:off x="10558271" y="4330065"/>
            <a:ext cx="67310" cy="46355"/>
          </a:xfrm>
          <a:custGeom>
            <a:avLst/>
            <a:gdLst/>
            <a:ahLst/>
            <a:cxnLst/>
            <a:rect l="l" t="t" r="r" b="b"/>
            <a:pathLst>
              <a:path w="67309" h="46354">
                <a:moveTo>
                  <a:pt x="56387" y="0"/>
                </a:moveTo>
                <a:lnTo>
                  <a:pt x="51053" y="0"/>
                </a:lnTo>
                <a:lnTo>
                  <a:pt x="46735" y="2667"/>
                </a:lnTo>
                <a:lnTo>
                  <a:pt x="1397" y="30987"/>
                </a:lnTo>
                <a:lnTo>
                  <a:pt x="0" y="36068"/>
                </a:lnTo>
                <a:lnTo>
                  <a:pt x="4318" y="44577"/>
                </a:lnTo>
                <a:lnTo>
                  <a:pt x="9271" y="46355"/>
                </a:lnTo>
                <a:lnTo>
                  <a:pt x="63373" y="24257"/>
                </a:lnTo>
                <a:lnTo>
                  <a:pt x="66548" y="19812"/>
                </a:lnTo>
                <a:lnTo>
                  <a:pt x="67309" y="9906"/>
                </a:lnTo>
                <a:lnTo>
                  <a:pt x="64897" y="5080"/>
                </a:lnTo>
                <a:lnTo>
                  <a:pt x="5638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0076942" y="4809616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5">
                <a:moveTo>
                  <a:pt x="18033" y="0"/>
                </a:moveTo>
                <a:lnTo>
                  <a:pt x="5206" y="0"/>
                </a:lnTo>
                <a:lnTo>
                  <a:pt x="0" y="5206"/>
                </a:lnTo>
                <a:lnTo>
                  <a:pt x="0" y="18033"/>
                </a:lnTo>
                <a:lnTo>
                  <a:pt x="5206" y="23240"/>
                </a:lnTo>
                <a:lnTo>
                  <a:pt x="18033" y="23240"/>
                </a:lnTo>
                <a:lnTo>
                  <a:pt x="23240" y="18033"/>
                </a:lnTo>
                <a:lnTo>
                  <a:pt x="23240" y="11683"/>
                </a:lnTo>
                <a:lnTo>
                  <a:pt x="23240" y="5206"/>
                </a:lnTo>
                <a:lnTo>
                  <a:pt x="1803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75666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Data</a:t>
            </a:r>
            <a:r>
              <a:rPr dirty="0" spc="-80"/>
              <a:t> </a:t>
            </a:r>
            <a:r>
              <a:rPr dirty="0"/>
              <a:t>Description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1009" y="1330071"/>
          <a:ext cx="10763885" cy="5109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5120"/>
                <a:gridCol w="9149715"/>
              </a:tblGrid>
              <a:tr h="3798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004BB8"/>
                      </a:solidFill>
                      <a:prstDash val="solid"/>
                    </a:lnL>
                    <a:lnT w="12700">
                      <a:solidFill>
                        <a:srgbClr val="004BB8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3345">
                    <a:lnR w="12700">
                      <a:solidFill>
                        <a:srgbClr val="004BB8"/>
                      </a:solidFill>
                      <a:prstDash val="solid"/>
                    </a:lnR>
                    <a:lnT w="12700">
                      <a:solidFill>
                        <a:srgbClr val="004BB8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5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r>
                        <a:rPr dirty="0" sz="1200" spc="-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Customer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2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Job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21456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Job</a:t>
                      </a:r>
                      <a:r>
                        <a:rPr dirty="0" sz="1200" spc="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“admin”,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”blue-collar”,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“entrepreneur”,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“housemaid”,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”management”,</a:t>
                      </a:r>
                      <a:r>
                        <a:rPr dirty="0" sz="1200" spc="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"retired","self-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employed","services","student","technician","unemployed","unknown")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  <a:spcBef>
                          <a:spcPts val="1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Marital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5"/>
                        </a:lnSpc>
                        <a:spcBef>
                          <a:spcPts val="1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marital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status(categorical:"divorced","married","single","unknown")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306"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education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“basic.4y”,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“basic.6y”,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“basic.9y”,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“high.school”,</a:t>
                      </a:r>
                      <a:r>
                        <a:rPr dirty="0" sz="1200" spc="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“illiterate”,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“professional.course”,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“university.degree”,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“unknown”)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default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5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default: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has credit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default?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“no”,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“yes”,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“unknown”)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  <a:spcBef>
                          <a:spcPts val="2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housing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5"/>
                        </a:lnSpc>
                        <a:spcBef>
                          <a:spcPts val="2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housing: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housing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loan?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“no”,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“yes”,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“unknown”)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loan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loan: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has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personal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loan?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“no”,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“yes”,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“unknown”)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0"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contact: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type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“cellular”,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“telephone”)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month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month: last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month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“jan”,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“feb”,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“mar”,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…,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“nov”,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“dec”)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358">
                <a:tc>
                  <a:txBody>
                    <a:bodyPr/>
                    <a:lstStyle/>
                    <a:p>
                      <a:pPr marL="372745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day_of_week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day_of_week: last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day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 the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week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“mon”,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“tue”,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“wed”,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“thu”,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“fri”)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marL="523240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3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duration:</a:t>
                      </a:r>
                      <a:r>
                        <a:rPr dirty="0" sz="1200" spc="-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last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duration,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in seconds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(numeric).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179">
                <a:tc>
                  <a:txBody>
                    <a:bodyPr/>
                    <a:lstStyle/>
                    <a:p>
                      <a:pPr marL="49149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campaign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campaign: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contacts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performed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during this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campaign</a:t>
                      </a:r>
                      <a:r>
                        <a:rPr dirty="0" sz="1200" spc="3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client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(numeric,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includes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last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405"/>
                        </a:lnSpc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pdays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pdays: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days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passed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client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last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contacted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previous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campaign</a:t>
                      </a:r>
                      <a:r>
                        <a:rPr dirty="0" sz="1200" spc="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(numeric;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999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15265">
                        <a:lnSpc>
                          <a:spcPct val="100000"/>
                        </a:lnSpc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previously</a:t>
                      </a:r>
                      <a:r>
                        <a:rPr dirty="0" sz="1200" spc="-4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contacted)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marL="610235">
                        <a:lnSpc>
                          <a:spcPts val="1405"/>
                        </a:lnSpc>
                        <a:spcBef>
                          <a:spcPts val="4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previous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  <a:spcBef>
                          <a:spcPts val="45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previous:</a:t>
                      </a:r>
                      <a:r>
                        <a:rPr dirty="0" sz="1200" spc="-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contacts</a:t>
                      </a:r>
                      <a:r>
                        <a:rPr dirty="0" sz="1200" spc="-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performed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campaign</a:t>
                      </a:r>
                      <a:r>
                        <a:rPr dirty="0" sz="1200" spc="3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client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marL="526415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poutcome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poutcome: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outcome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previous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marketing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campaign</a:t>
                      </a:r>
                      <a:r>
                        <a:rPr dirty="0" sz="1200" spc="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(categorical: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“failure”,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“nonexistent”,“success”)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31">
                <a:tc>
                  <a:txBody>
                    <a:bodyPr/>
                    <a:lstStyle/>
                    <a:p>
                      <a:pPr algn="r" marR="320675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emp.var.rate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emp.var.rate:</a:t>
                      </a:r>
                      <a:r>
                        <a:rPr dirty="0" sz="1200" spc="-4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employment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variation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rate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18">
                <a:tc>
                  <a:txBody>
                    <a:bodyPr/>
                    <a:lstStyle/>
                    <a:p>
                      <a:pPr algn="r" marR="299720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cons.price.idx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cons.price.idx:</a:t>
                      </a:r>
                      <a:r>
                        <a:rPr dirty="0" sz="1200" spc="-3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consumer price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index</a:t>
                      </a:r>
                      <a:r>
                        <a:rPr dirty="0" sz="1200" spc="2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(numeric)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43">
                <a:tc>
                  <a:txBody>
                    <a:bodyPr/>
                    <a:lstStyle/>
                    <a:p>
                      <a:pPr algn="r" marR="305435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cons.conf.idx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405"/>
                        </a:lnSpc>
                        <a:spcBef>
                          <a:spcPts val="50"/>
                        </a:spcBef>
                      </a:pP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cons.conf.idx:</a:t>
                      </a:r>
                      <a:r>
                        <a:rPr dirty="0" sz="1200" spc="-3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consumer confidence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index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43">
                <a:tc>
                  <a:txBody>
                    <a:bodyPr/>
                    <a:lstStyle/>
                    <a:p>
                      <a:pPr marL="513080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euribor3m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euribor3m: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euribor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3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month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r>
                        <a:rPr dirty="0" sz="1200" spc="-3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1200" spc="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43">
                <a:tc>
                  <a:txBody>
                    <a:bodyPr/>
                    <a:lstStyle/>
                    <a:p>
                      <a:pPr algn="r" marR="323850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nr.employed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nr.employed: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number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r>
                        <a:rPr dirty="0" sz="1200" spc="2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1200" spc="1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(numeric)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243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variable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has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the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client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subscribed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to term</a:t>
                      </a:r>
                      <a:r>
                        <a:rPr dirty="0" sz="1200" spc="-1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deposit </a:t>
                      </a:r>
                      <a:r>
                        <a:rPr dirty="0" sz="1200" b="1">
                          <a:solidFill>
                            <a:srgbClr val="0D0D0D"/>
                          </a:solidFill>
                          <a:latin typeface="Calibri"/>
                          <a:cs typeface="Calibri"/>
                        </a:rPr>
                        <a:t>(1/0)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7182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Exploratory </a:t>
            </a:r>
            <a:r>
              <a:rPr dirty="0" spc="-30"/>
              <a:t>Data</a:t>
            </a:r>
            <a:r>
              <a:rPr dirty="0" spc="-10"/>
              <a:t> 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6112"/>
            <a:ext cx="10721975" cy="4421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0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Understanding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Univariate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Analysis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Calibri"/>
              <a:cs typeface="Calibri"/>
            </a:endParaRPr>
          </a:p>
          <a:p>
            <a:pPr marL="243204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243840" algn="l"/>
              </a:tabLst>
            </a:pPr>
            <a:r>
              <a:rPr dirty="0" sz="2200" spc="-10">
                <a:latin typeface="Calibri"/>
                <a:cs typeface="Calibri"/>
              </a:rPr>
              <a:t>How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well populated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is the</a:t>
            </a:r>
            <a:r>
              <a:rPr dirty="0" sz="2200" spc="-15">
                <a:latin typeface="Calibri"/>
                <a:cs typeface="Calibri"/>
              </a:rPr>
              <a:t> data?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243204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243840" algn="l"/>
              </a:tabLst>
            </a:pPr>
            <a:r>
              <a:rPr dirty="0" sz="2200" spc="-10">
                <a:latin typeface="Calibri"/>
                <a:cs typeface="Calibri"/>
              </a:rPr>
              <a:t>How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much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variation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is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there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in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the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variables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given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to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you?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243204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243840" algn="l"/>
              </a:tabLst>
            </a:pPr>
            <a:r>
              <a:rPr dirty="0" sz="2200" spc="-10">
                <a:latin typeface="Calibri"/>
                <a:cs typeface="Calibri"/>
              </a:rPr>
              <a:t>What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are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unique levels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for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the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categorical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variables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243204" indent="-180340">
              <a:lnSpc>
                <a:spcPts val="2510"/>
              </a:lnSpc>
              <a:buClr>
                <a:srgbClr val="00ADDE"/>
              </a:buClr>
              <a:buFont typeface="Wingdings"/>
              <a:buChar char=""/>
              <a:tabLst>
                <a:tab pos="243840" algn="l"/>
              </a:tabLst>
            </a:pPr>
            <a:r>
              <a:rPr dirty="0" sz="2200" spc="-10">
                <a:latin typeface="Calibri"/>
                <a:cs typeface="Calibri"/>
              </a:rPr>
              <a:t>What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is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proportion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of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missing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data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for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given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raw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variables?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Discard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variables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that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are</a:t>
            </a:r>
            <a:endParaRPr sz="2200">
              <a:latin typeface="Calibri"/>
              <a:cs typeface="Calibri"/>
            </a:endParaRPr>
          </a:p>
          <a:p>
            <a:pPr marL="243204">
              <a:lnSpc>
                <a:spcPts val="2510"/>
              </a:lnSpc>
            </a:pPr>
            <a:r>
              <a:rPr dirty="0" sz="2200" spc="-10">
                <a:latin typeface="Calibri"/>
                <a:cs typeface="Calibri"/>
              </a:rPr>
              <a:t>more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than 25%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missing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in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values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Calibri"/>
              <a:cs typeface="Calibri"/>
            </a:endParaRPr>
          </a:p>
          <a:p>
            <a:pPr marL="243204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243840" algn="l"/>
              </a:tabLst>
            </a:pPr>
            <a:r>
              <a:rPr dirty="0" sz="2200" spc="-5">
                <a:latin typeface="Calibri"/>
                <a:cs typeface="Calibri"/>
              </a:rPr>
              <a:t>Missing </a:t>
            </a:r>
            <a:r>
              <a:rPr dirty="0" sz="2200" spc="-30">
                <a:latin typeface="Calibri"/>
                <a:cs typeface="Calibri"/>
              </a:rPr>
              <a:t>Value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Imputation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Methods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: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Mean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for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Numeric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and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Mode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for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Categorical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1820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Bi-Variate</a:t>
            </a:r>
            <a:r>
              <a:rPr dirty="0" spc="-60"/>
              <a:t> </a:t>
            </a:r>
            <a:r>
              <a:rPr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666112"/>
            <a:ext cx="10344785" cy="293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Visualizations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reveal</a:t>
            </a:r>
            <a:r>
              <a:rPr dirty="0" sz="25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25" b="1">
                <a:solidFill>
                  <a:srgbClr val="C00000"/>
                </a:solidFill>
                <a:latin typeface="Calibri"/>
                <a:cs typeface="Calibri"/>
              </a:rPr>
              <a:t>Bi-Variate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patterns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relationships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193040" algn="l"/>
              </a:tabLst>
            </a:pPr>
            <a:r>
              <a:rPr dirty="0" sz="2200" spc="-5">
                <a:latin typeface="Calibri"/>
                <a:cs typeface="Calibri"/>
              </a:rPr>
              <a:t>Plot </a:t>
            </a:r>
            <a:r>
              <a:rPr dirty="0" sz="2200" spc="-15">
                <a:latin typeface="Calibri"/>
                <a:cs typeface="Calibri"/>
              </a:rPr>
              <a:t>Categorical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Independent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Variable </a:t>
            </a:r>
            <a:r>
              <a:rPr dirty="0" sz="2200" spc="-10">
                <a:latin typeface="Calibri"/>
                <a:cs typeface="Calibri"/>
              </a:rPr>
              <a:t>Levels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on</a:t>
            </a:r>
            <a:r>
              <a:rPr dirty="0" sz="2200" spc="5">
                <a:latin typeface="Calibri"/>
                <a:cs typeface="Calibri"/>
              </a:rPr>
              <a:t> X-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Axis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spcBef>
                <a:spcPts val="5"/>
              </a:spcBef>
              <a:buClr>
                <a:srgbClr val="00ADDE"/>
              </a:buClr>
              <a:buFont typeface="Wingdings"/>
              <a:buChar char=""/>
              <a:tabLst>
                <a:tab pos="193040" algn="l"/>
              </a:tabLst>
            </a:pPr>
            <a:r>
              <a:rPr dirty="0" sz="2200" spc="-5">
                <a:latin typeface="Calibri"/>
                <a:cs typeface="Calibri"/>
              </a:rPr>
              <a:t>Plot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Average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Value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of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Dependent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Variable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Y-Axis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192405" indent="-180340">
              <a:lnSpc>
                <a:spcPts val="2510"/>
              </a:lnSpc>
              <a:buClr>
                <a:srgbClr val="00ADDE"/>
              </a:buClr>
              <a:buFont typeface="Wingdings"/>
              <a:buChar char=""/>
              <a:tabLst>
                <a:tab pos="193040" algn="l"/>
              </a:tabLst>
            </a:pPr>
            <a:r>
              <a:rPr dirty="0" sz="2200" spc="-5">
                <a:latin typeface="Calibri"/>
                <a:cs typeface="Calibri"/>
              </a:rPr>
              <a:t>In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case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of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Continuous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Independent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variable,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break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them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into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ranks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and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then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plot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them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on</a:t>
            </a:r>
            <a:endParaRPr sz="2200">
              <a:latin typeface="Calibri"/>
              <a:cs typeface="Calibri"/>
            </a:endParaRPr>
          </a:p>
          <a:p>
            <a:pPr marL="192405">
              <a:lnSpc>
                <a:spcPts val="2510"/>
              </a:lnSpc>
            </a:pPr>
            <a:r>
              <a:rPr dirty="0" sz="2200" spc="-5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X-Axis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9229" y="4793637"/>
            <a:ext cx="2446224" cy="16081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80589" y="6443878"/>
            <a:ext cx="3175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C000"/>
                </a:solidFill>
                <a:latin typeface="Calibri"/>
                <a:cs typeface="Calibri"/>
              </a:rPr>
              <a:t>Categorical</a:t>
            </a:r>
            <a:r>
              <a:rPr dirty="0" sz="1800" spc="-1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C000"/>
                </a:solidFill>
                <a:latin typeface="Calibri"/>
                <a:cs typeface="Calibri"/>
              </a:rPr>
              <a:t>Independent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15" b="1">
                <a:solidFill>
                  <a:srgbClr val="FFC000"/>
                </a:solidFill>
                <a:latin typeface="Calibri"/>
                <a:cs typeface="Calibri"/>
              </a:rPr>
              <a:t>Variable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5507" y="5399938"/>
            <a:ext cx="1369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C000"/>
                </a:solidFill>
                <a:latin typeface="Calibri"/>
                <a:cs typeface="Calibri"/>
              </a:rPr>
              <a:t>Avg</a:t>
            </a:r>
            <a:r>
              <a:rPr dirty="0" sz="1800" spc="-3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Value</a:t>
            </a:r>
            <a:r>
              <a:rPr dirty="0" sz="1800" spc="-5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dirty="0" sz="1800" spc="-3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8429" y="4735796"/>
            <a:ext cx="2423101" cy="16086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63331" y="6394805"/>
            <a:ext cx="279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C000"/>
                </a:solidFill>
                <a:latin typeface="Calibri"/>
                <a:cs typeface="Calibri"/>
              </a:rPr>
              <a:t>Ranks</a:t>
            </a:r>
            <a:r>
              <a:rPr dirty="0" sz="1800" spc="-2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dirty="0" sz="1800" spc="-1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FFC000"/>
                </a:solidFill>
                <a:latin typeface="Calibri"/>
                <a:cs typeface="Calibri"/>
              </a:rPr>
              <a:t>Continuous</a:t>
            </a:r>
            <a:r>
              <a:rPr dirty="0" sz="1800" spc="-3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Variable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7017" y="5399938"/>
            <a:ext cx="1369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C000"/>
                </a:solidFill>
                <a:latin typeface="Calibri"/>
                <a:cs typeface="Calibri"/>
              </a:rPr>
              <a:t>Avg</a:t>
            </a:r>
            <a:r>
              <a:rPr dirty="0" sz="1800" spc="-3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Value</a:t>
            </a:r>
            <a:r>
              <a:rPr dirty="0" sz="1800" spc="-5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dirty="0" sz="1800" spc="-3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3212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Insights</a:t>
            </a:r>
            <a:r>
              <a:rPr dirty="0" spc="-15"/>
              <a:t> </a:t>
            </a:r>
            <a:r>
              <a:rPr dirty="0"/>
              <a:t>:</a:t>
            </a:r>
            <a:r>
              <a:rPr dirty="0" spc="-35"/>
              <a:t> Bi-Variate</a:t>
            </a:r>
            <a:r>
              <a:rPr dirty="0" spc="-5"/>
              <a:t> </a:t>
            </a:r>
            <a:r>
              <a:rPr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666112"/>
            <a:ext cx="10459085" cy="2629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 sz="2500" spc="-45" b="1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are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looking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variables/features</a:t>
            </a:r>
            <a:r>
              <a:rPr dirty="0" sz="25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differentiates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500" spc="-25" b="1">
                <a:solidFill>
                  <a:srgbClr val="C00000"/>
                </a:solidFill>
                <a:latin typeface="Calibri"/>
                <a:cs typeface="Calibri"/>
              </a:rPr>
              <a:t>average</a:t>
            </a:r>
            <a:r>
              <a:rPr dirty="0" sz="250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value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193040" algn="l"/>
              </a:tabLst>
            </a:pP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">
                <a:latin typeface="Calibri"/>
                <a:cs typeface="Calibri"/>
              </a:rPr>
              <a:t> plots </a:t>
            </a:r>
            <a:r>
              <a:rPr dirty="0" sz="2200" spc="-15">
                <a:latin typeface="Calibri"/>
                <a:cs typeface="Calibri"/>
              </a:rPr>
              <a:t>we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can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determine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5" b="1">
                <a:latin typeface="Calibri"/>
                <a:cs typeface="Calibri"/>
              </a:rPr>
              <a:t>which</a:t>
            </a:r>
            <a:r>
              <a:rPr dirty="0" sz="2200" spc="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variables</a:t>
            </a:r>
            <a:r>
              <a:rPr dirty="0" sz="2200" spc="1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can</a:t>
            </a:r>
            <a:r>
              <a:rPr dirty="0" sz="2200" spc="-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predict</a:t>
            </a:r>
            <a:r>
              <a:rPr dirty="0" sz="2200" spc="10" b="1">
                <a:latin typeface="Calibri"/>
                <a:cs typeface="Calibri"/>
              </a:rPr>
              <a:t> </a:t>
            </a:r>
            <a:r>
              <a:rPr dirty="0" sz="2200" spc="-5" b="1">
                <a:latin typeface="Calibri"/>
                <a:cs typeface="Calibri"/>
              </a:rPr>
              <a:t>Y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spcBef>
                <a:spcPts val="5"/>
              </a:spcBef>
              <a:buClr>
                <a:srgbClr val="00ADDE"/>
              </a:buClr>
              <a:buFont typeface="Wingdings"/>
              <a:buChar char=""/>
              <a:tabLst>
                <a:tab pos="193040" algn="l"/>
              </a:tabLst>
            </a:pPr>
            <a:r>
              <a:rPr dirty="0" sz="2200" spc="-45">
                <a:latin typeface="Calibri"/>
                <a:cs typeface="Calibri"/>
              </a:rPr>
              <a:t>We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can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even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group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up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some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or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club</a:t>
            </a:r>
            <a:r>
              <a:rPr dirty="0" sz="2200" spc="-10">
                <a:latin typeface="Calibri"/>
                <a:cs typeface="Calibri"/>
              </a:rPr>
              <a:t> variable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to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achieve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differentiation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256540" indent="-2438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256540" algn="l"/>
              </a:tabLst>
            </a:pPr>
            <a:r>
              <a:rPr dirty="0" sz="2200" spc="-10">
                <a:latin typeface="Calibri"/>
                <a:cs typeface="Calibri"/>
              </a:rPr>
              <a:t>Examples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of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good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and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bad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outcome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is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given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below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to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clearly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explain</a:t>
            </a:r>
            <a:r>
              <a:rPr dirty="0" sz="2200" spc="-5">
                <a:latin typeface="Calibri"/>
                <a:cs typeface="Calibri"/>
              </a:rPr>
              <a:t> the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expectation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589" y="6443878"/>
            <a:ext cx="3175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C000"/>
                </a:solidFill>
                <a:latin typeface="Calibri"/>
                <a:cs typeface="Calibri"/>
              </a:rPr>
              <a:t>Categorical</a:t>
            </a:r>
            <a:r>
              <a:rPr dirty="0" sz="1800" spc="-1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C000"/>
                </a:solidFill>
                <a:latin typeface="Calibri"/>
                <a:cs typeface="Calibri"/>
              </a:rPr>
              <a:t>Independent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15" b="1">
                <a:solidFill>
                  <a:srgbClr val="FFC000"/>
                </a:solidFill>
                <a:latin typeface="Calibri"/>
                <a:cs typeface="Calibri"/>
              </a:rPr>
              <a:t>Variable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507" y="5399938"/>
            <a:ext cx="1369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C000"/>
                </a:solidFill>
                <a:latin typeface="Calibri"/>
                <a:cs typeface="Calibri"/>
              </a:rPr>
              <a:t>Avg</a:t>
            </a:r>
            <a:r>
              <a:rPr dirty="0" sz="1800" spc="-3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Value</a:t>
            </a:r>
            <a:r>
              <a:rPr dirty="0" sz="1800" spc="-5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dirty="0" sz="1800" spc="-3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5406" y="4734339"/>
            <a:ext cx="2421694" cy="16100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79434" y="6393891"/>
            <a:ext cx="279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C000"/>
                </a:solidFill>
                <a:latin typeface="Calibri"/>
                <a:cs typeface="Calibri"/>
              </a:rPr>
              <a:t>Ranks</a:t>
            </a:r>
            <a:r>
              <a:rPr dirty="0" sz="1800" spc="-2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dirty="0" sz="1800" spc="-1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FFC000"/>
                </a:solidFill>
                <a:latin typeface="Calibri"/>
                <a:cs typeface="Calibri"/>
              </a:rPr>
              <a:t>Continuous</a:t>
            </a:r>
            <a:r>
              <a:rPr dirty="0" sz="1800" spc="-3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Variable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3502" y="5399023"/>
            <a:ext cx="1369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C000"/>
                </a:solidFill>
                <a:latin typeface="Calibri"/>
                <a:cs typeface="Calibri"/>
              </a:rPr>
              <a:t>Avg</a:t>
            </a:r>
            <a:r>
              <a:rPr dirty="0" sz="1800" spc="-3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C000"/>
                </a:solidFill>
                <a:latin typeface="Calibri"/>
                <a:cs typeface="Calibri"/>
              </a:rPr>
              <a:t>Value</a:t>
            </a:r>
            <a:r>
              <a:rPr dirty="0" sz="1800" spc="-5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dirty="0" sz="1800" spc="-3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9373" y="4797144"/>
            <a:ext cx="2374764" cy="157021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173095" y="4650485"/>
            <a:ext cx="13150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Bad</a:t>
            </a:r>
            <a:r>
              <a:rPr dirty="0" sz="1800" spc="-7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Calibri"/>
                <a:cs typeface="Calibri"/>
              </a:rPr>
              <a:t>Predictor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93606" y="4689170"/>
            <a:ext cx="14630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525252"/>
                </a:solidFill>
                <a:latin typeface="Calibri"/>
                <a:cs typeface="Calibri"/>
              </a:rPr>
              <a:t>Good</a:t>
            </a:r>
            <a:r>
              <a:rPr dirty="0" sz="1800" spc="-65" b="1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525252"/>
                </a:solidFill>
                <a:latin typeface="Calibri"/>
                <a:cs typeface="Calibri"/>
              </a:rPr>
              <a:t>Predictor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86455" y="5350764"/>
            <a:ext cx="2091055" cy="76200"/>
          </a:xfrm>
          <a:custGeom>
            <a:avLst/>
            <a:gdLst/>
            <a:ahLst/>
            <a:cxnLst/>
            <a:rect l="l" t="t" r="r" b="b"/>
            <a:pathLst>
              <a:path w="2091054" h="76200">
                <a:moveTo>
                  <a:pt x="63500" y="30099"/>
                </a:moveTo>
                <a:lnTo>
                  <a:pt x="0" y="30099"/>
                </a:lnTo>
                <a:lnTo>
                  <a:pt x="0" y="45974"/>
                </a:lnTo>
                <a:lnTo>
                  <a:pt x="63500" y="45974"/>
                </a:lnTo>
                <a:lnTo>
                  <a:pt x="63500" y="30099"/>
                </a:lnTo>
                <a:close/>
              </a:path>
              <a:path w="2091054" h="76200">
                <a:moveTo>
                  <a:pt x="174625" y="30099"/>
                </a:moveTo>
                <a:lnTo>
                  <a:pt x="111125" y="30099"/>
                </a:lnTo>
                <a:lnTo>
                  <a:pt x="111125" y="45974"/>
                </a:lnTo>
                <a:lnTo>
                  <a:pt x="174625" y="45974"/>
                </a:lnTo>
                <a:lnTo>
                  <a:pt x="174625" y="30099"/>
                </a:lnTo>
                <a:close/>
              </a:path>
              <a:path w="2091054" h="76200">
                <a:moveTo>
                  <a:pt x="285750" y="30099"/>
                </a:moveTo>
                <a:lnTo>
                  <a:pt x="222250" y="30099"/>
                </a:lnTo>
                <a:lnTo>
                  <a:pt x="222250" y="45974"/>
                </a:lnTo>
                <a:lnTo>
                  <a:pt x="285750" y="45974"/>
                </a:lnTo>
                <a:lnTo>
                  <a:pt x="285750" y="30099"/>
                </a:lnTo>
                <a:close/>
              </a:path>
              <a:path w="2091054" h="76200">
                <a:moveTo>
                  <a:pt x="396874" y="30099"/>
                </a:moveTo>
                <a:lnTo>
                  <a:pt x="333375" y="30099"/>
                </a:lnTo>
                <a:lnTo>
                  <a:pt x="333375" y="45974"/>
                </a:lnTo>
                <a:lnTo>
                  <a:pt x="396874" y="45974"/>
                </a:lnTo>
                <a:lnTo>
                  <a:pt x="396874" y="30099"/>
                </a:lnTo>
                <a:close/>
              </a:path>
              <a:path w="2091054" h="76200">
                <a:moveTo>
                  <a:pt x="507999" y="30099"/>
                </a:moveTo>
                <a:lnTo>
                  <a:pt x="444499" y="30099"/>
                </a:lnTo>
                <a:lnTo>
                  <a:pt x="444499" y="45974"/>
                </a:lnTo>
                <a:lnTo>
                  <a:pt x="507999" y="45974"/>
                </a:lnTo>
                <a:lnTo>
                  <a:pt x="507999" y="30099"/>
                </a:lnTo>
                <a:close/>
              </a:path>
              <a:path w="2091054" h="76200">
                <a:moveTo>
                  <a:pt x="619124" y="30099"/>
                </a:moveTo>
                <a:lnTo>
                  <a:pt x="555624" y="30099"/>
                </a:lnTo>
                <a:lnTo>
                  <a:pt x="555624" y="45974"/>
                </a:lnTo>
                <a:lnTo>
                  <a:pt x="619124" y="45974"/>
                </a:lnTo>
                <a:lnTo>
                  <a:pt x="619124" y="30099"/>
                </a:lnTo>
                <a:close/>
              </a:path>
              <a:path w="2091054" h="76200">
                <a:moveTo>
                  <a:pt x="730249" y="30099"/>
                </a:moveTo>
                <a:lnTo>
                  <a:pt x="666749" y="30099"/>
                </a:lnTo>
                <a:lnTo>
                  <a:pt x="666749" y="45974"/>
                </a:lnTo>
                <a:lnTo>
                  <a:pt x="730249" y="45974"/>
                </a:lnTo>
                <a:lnTo>
                  <a:pt x="730249" y="30099"/>
                </a:lnTo>
                <a:close/>
              </a:path>
              <a:path w="2091054" h="76200">
                <a:moveTo>
                  <a:pt x="841374" y="30099"/>
                </a:moveTo>
                <a:lnTo>
                  <a:pt x="777874" y="30099"/>
                </a:lnTo>
                <a:lnTo>
                  <a:pt x="777874" y="45974"/>
                </a:lnTo>
                <a:lnTo>
                  <a:pt x="841374" y="45974"/>
                </a:lnTo>
                <a:lnTo>
                  <a:pt x="841374" y="30099"/>
                </a:lnTo>
                <a:close/>
              </a:path>
              <a:path w="2091054" h="76200">
                <a:moveTo>
                  <a:pt x="952499" y="30099"/>
                </a:moveTo>
                <a:lnTo>
                  <a:pt x="888999" y="30099"/>
                </a:lnTo>
                <a:lnTo>
                  <a:pt x="888999" y="45974"/>
                </a:lnTo>
                <a:lnTo>
                  <a:pt x="952499" y="45974"/>
                </a:lnTo>
                <a:lnTo>
                  <a:pt x="952499" y="30099"/>
                </a:lnTo>
                <a:close/>
              </a:path>
              <a:path w="2091054" h="76200">
                <a:moveTo>
                  <a:pt x="1063624" y="30099"/>
                </a:moveTo>
                <a:lnTo>
                  <a:pt x="1000124" y="30099"/>
                </a:lnTo>
                <a:lnTo>
                  <a:pt x="1000124" y="45974"/>
                </a:lnTo>
                <a:lnTo>
                  <a:pt x="1063624" y="45974"/>
                </a:lnTo>
                <a:lnTo>
                  <a:pt x="1063624" y="30099"/>
                </a:lnTo>
                <a:close/>
              </a:path>
              <a:path w="2091054" h="76200">
                <a:moveTo>
                  <a:pt x="1174749" y="30099"/>
                </a:moveTo>
                <a:lnTo>
                  <a:pt x="1111249" y="30099"/>
                </a:lnTo>
                <a:lnTo>
                  <a:pt x="1111249" y="45974"/>
                </a:lnTo>
                <a:lnTo>
                  <a:pt x="1174749" y="45974"/>
                </a:lnTo>
                <a:lnTo>
                  <a:pt x="1174749" y="30099"/>
                </a:lnTo>
                <a:close/>
              </a:path>
              <a:path w="2091054" h="76200">
                <a:moveTo>
                  <a:pt x="1285874" y="30099"/>
                </a:moveTo>
                <a:lnTo>
                  <a:pt x="1222374" y="30099"/>
                </a:lnTo>
                <a:lnTo>
                  <a:pt x="1222374" y="45974"/>
                </a:lnTo>
                <a:lnTo>
                  <a:pt x="1285874" y="45974"/>
                </a:lnTo>
                <a:lnTo>
                  <a:pt x="1285874" y="30099"/>
                </a:lnTo>
                <a:close/>
              </a:path>
              <a:path w="2091054" h="76200">
                <a:moveTo>
                  <a:pt x="1396999" y="30099"/>
                </a:moveTo>
                <a:lnTo>
                  <a:pt x="1333499" y="30099"/>
                </a:lnTo>
                <a:lnTo>
                  <a:pt x="1333499" y="45974"/>
                </a:lnTo>
                <a:lnTo>
                  <a:pt x="1396999" y="45974"/>
                </a:lnTo>
                <a:lnTo>
                  <a:pt x="1396999" y="30099"/>
                </a:lnTo>
                <a:close/>
              </a:path>
              <a:path w="2091054" h="76200">
                <a:moveTo>
                  <a:pt x="1508124" y="30099"/>
                </a:moveTo>
                <a:lnTo>
                  <a:pt x="1444624" y="30099"/>
                </a:lnTo>
                <a:lnTo>
                  <a:pt x="1444624" y="45974"/>
                </a:lnTo>
                <a:lnTo>
                  <a:pt x="1508124" y="45974"/>
                </a:lnTo>
                <a:lnTo>
                  <a:pt x="1508124" y="30099"/>
                </a:lnTo>
                <a:close/>
              </a:path>
              <a:path w="2091054" h="76200">
                <a:moveTo>
                  <a:pt x="1619249" y="30099"/>
                </a:moveTo>
                <a:lnTo>
                  <a:pt x="1555749" y="30099"/>
                </a:lnTo>
                <a:lnTo>
                  <a:pt x="1555749" y="45974"/>
                </a:lnTo>
                <a:lnTo>
                  <a:pt x="1619249" y="45974"/>
                </a:lnTo>
                <a:lnTo>
                  <a:pt x="1619249" y="30099"/>
                </a:lnTo>
                <a:close/>
              </a:path>
              <a:path w="2091054" h="76200">
                <a:moveTo>
                  <a:pt x="1730374" y="30099"/>
                </a:moveTo>
                <a:lnTo>
                  <a:pt x="1666874" y="30099"/>
                </a:lnTo>
                <a:lnTo>
                  <a:pt x="1666874" y="45974"/>
                </a:lnTo>
                <a:lnTo>
                  <a:pt x="1730374" y="45974"/>
                </a:lnTo>
                <a:lnTo>
                  <a:pt x="1730374" y="30099"/>
                </a:lnTo>
                <a:close/>
              </a:path>
              <a:path w="2091054" h="76200">
                <a:moveTo>
                  <a:pt x="1841499" y="30099"/>
                </a:moveTo>
                <a:lnTo>
                  <a:pt x="1777999" y="30099"/>
                </a:lnTo>
                <a:lnTo>
                  <a:pt x="1777999" y="45974"/>
                </a:lnTo>
                <a:lnTo>
                  <a:pt x="1841499" y="45974"/>
                </a:lnTo>
                <a:lnTo>
                  <a:pt x="1841499" y="30099"/>
                </a:lnTo>
                <a:close/>
              </a:path>
              <a:path w="2091054" h="76200">
                <a:moveTo>
                  <a:pt x="1952624" y="30099"/>
                </a:moveTo>
                <a:lnTo>
                  <a:pt x="1889124" y="30099"/>
                </a:lnTo>
                <a:lnTo>
                  <a:pt x="1889124" y="45974"/>
                </a:lnTo>
                <a:lnTo>
                  <a:pt x="1952624" y="45974"/>
                </a:lnTo>
                <a:lnTo>
                  <a:pt x="1952624" y="30099"/>
                </a:lnTo>
                <a:close/>
              </a:path>
              <a:path w="2091054" h="76200">
                <a:moveTo>
                  <a:pt x="2014473" y="0"/>
                </a:moveTo>
                <a:lnTo>
                  <a:pt x="2014473" y="76200"/>
                </a:lnTo>
                <a:lnTo>
                  <a:pt x="2074925" y="45974"/>
                </a:lnTo>
                <a:lnTo>
                  <a:pt x="2027301" y="45974"/>
                </a:lnTo>
                <a:lnTo>
                  <a:pt x="2027301" y="30099"/>
                </a:lnTo>
                <a:lnTo>
                  <a:pt x="2074671" y="30099"/>
                </a:lnTo>
                <a:lnTo>
                  <a:pt x="2014473" y="0"/>
                </a:lnTo>
                <a:close/>
              </a:path>
              <a:path w="2091054" h="76200">
                <a:moveTo>
                  <a:pt x="2014473" y="30099"/>
                </a:moveTo>
                <a:lnTo>
                  <a:pt x="2000249" y="30099"/>
                </a:lnTo>
                <a:lnTo>
                  <a:pt x="2000249" y="45974"/>
                </a:lnTo>
                <a:lnTo>
                  <a:pt x="2014473" y="45974"/>
                </a:lnTo>
                <a:lnTo>
                  <a:pt x="2014473" y="30099"/>
                </a:lnTo>
                <a:close/>
              </a:path>
              <a:path w="2091054" h="76200">
                <a:moveTo>
                  <a:pt x="2074671" y="30099"/>
                </a:moveTo>
                <a:lnTo>
                  <a:pt x="2027301" y="30099"/>
                </a:lnTo>
                <a:lnTo>
                  <a:pt x="2027301" y="45974"/>
                </a:lnTo>
                <a:lnTo>
                  <a:pt x="2074925" y="45974"/>
                </a:lnTo>
                <a:lnTo>
                  <a:pt x="2090673" y="38100"/>
                </a:lnTo>
                <a:lnTo>
                  <a:pt x="2074671" y="300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208778" y="5043678"/>
            <a:ext cx="8775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No</a:t>
            </a:r>
            <a:r>
              <a:rPr dirty="0" sz="1800" spc="-75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Slope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10548" y="4954523"/>
            <a:ext cx="1823085" cy="944880"/>
          </a:xfrm>
          <a:custGeom>
            <a:avLst/>
            <a:gdLst/>
            <a:ahLst/>
            <a:cxnLst/>
            <a:rect l="l" t="t" r="r" b="b"/>
            <a:pathLst>
              <a:path w="1823084" h="944879">
                <a:moveTo>
                  <a:pt x="56515" y="901522"/>
                </a:moveTo>
                <a:lnTo>
                  <a:pt x="0" y="930617"/>
                </a:lnTo>
                <a:lnTo>
                  <a:pt x="7366" y="944727"/>
                </a:lnTo>
                <a:lnTo>
                  <a:pt x="63753" y="915631"/>
                </a:lnTo>
                <a:lnTo>
                  <a:pt x="56515" y="901522"/>
                </a:lnTo>
                <a:close/>
              </a:path>
              <a:path w="1823084" h="944879">
                <a:moveTo>
                  <a:pt x="155321" y="850607"/>
                </a:moveTo>
                <a:lnTo>
                  <a:pt x="98805" y="879703"/>
                </a:lnTo>
                <a:lnTo>
                  <a:pt x="106045" y="893813"/>
                </a:lnTo>
                <a:lnTo>
                  <a:pt x="162559" y="864717"/>
                </a:lnTo>
                <a:lnTo>
                  <a:pt x="155321" y="850607"/>
                </a:lnTo>
                <a:close/>
              </a:path>
              <a:path w="1823084" h="944879">
                <a:moveTo>
                  <a:pt x="254000" y="799693"/>
                </a:moveTo>
                <a:lnTo>
                  <a:pt x="197611" y="828789"/>
                </a:lnTo>
                <a:lnTo>
                  <a:pt x="204850" y="842898"/>
                </a:lnTo>
                <a:lnTo>
                  <a:pt x="261366" y="813803"/>
                </a:lnTo>
                <a:lnTo>
                  <a:pt x="254000" y="799693"/>
                </a:lnTo>
                <a:close/>
              </a:path>
              <a:path w="1823084" h="944879">
                <a:moveTo>
                  <a:pt x="352805" y="748779"/>
                </a:moveTo>
                <a:lnTo>
                  <a:pt x="296418" y="777875"/>
                </a:lnTo>
                <a:lnTo>
                  <a:pt x="303656" y="791984"/>
                </a:lnTo>
                <a:lnTo>
                  <a:pt x="360045" y="762888"/>
                </a:lnTo>
                <a:lnTo>
                  <a:pt x="352805" y="748779"/>
                </a:lnTo>
                <a:close/>
              </a:path>
              <a:path w="1823084" h="944879">
                <a:moveTo>
                  <a:pt x="451611" y="697864"/>
                </a:moveTo>
                <a:lnTo>
                  <a:pt x="395097" y="726960"/>
                </a:lnTo>
                <a:lnTo>
                  <a:pt x="402462" y="741070"/>
                </a:lnTo>
                <a:lnTo>
                  <a:pt x="458850" y="711974"/>
                </a:lnTo>
                <a:lnTo>
                  <a:pt x="451611" y="697864"/>
                </a:lnTo>
                <a:close/>
              </a:path>
              <a:path w="1823084" h="944879">
                <a:moveTo>
                  <a:pt x="550418" y="646950"/>
                </a:moveTo>
                <a:lnTo>
                  <a:pt x="493902" y="676046"/>
                </a:lnTo>
                <a:lnTo>
                  <a:pt x="501142" y="690156"/>
                </a:lnTo>
                <a:lnTo>
                  <a:pt x="557656" y="661060"/>
                </a:lnTo>
                <a:lnTo>
                  <a:pt x="550418" y="646950"/>
                </a:lnTo>
                <a:close/>
              </a:path>
              <a:path w="1823084" h="944879">
                <a:moveTo>
                  <a:pt x="649097" y="596010"/>
                </a:moveTo>
                <a:lnTo>
                  <a:pt x="592708" y="625094"/>
                </a:lnTo>
                <a:lnTo>
                  <a:pt x="599948" y="639241"/>
                </a:lnTo>
                <a:lnTo>
                  <a:pt x="656462" y="610107"/>
                </a:lnTo>
                <a:lnTo>
                  <a:pt x="649097" y="596010"/>
                </a:lnTo>
                <a:close/>
              </a:path>
              <a:path w="1823084" h="944879">
                <a:moveTo>
                  <a:pt x="747902" y="545084"/>
                </a:moveTo>
                <a:lnTo>
                  <a:pt x="691515" y="574166"/>
                </a:lnTo>
                <a:lnTo>
                  <a:pt x="698753" y="588391"/>
                </a:lnTo>
                <a:lnTo>
                  <a:pt x="755142" y="559181"/>
                </a:lnTo>
                <a:lnTo>
                  <a:pt x="747902" y="545084"/>
                </a:lnTo>
                <a:close/>
              </a:path>
              <a:path w="1823084" h="944879">
                <a:moveTo>
                  <a:pt x="846708" y="494156"/>
                </a:moveTo>
                <a:lnTo>
                  <a:pt x="790194" y="523366"/>
                </a:lnTo>
                <a:lnTo>
                  <a:pt x="797559" y="537463"/>
                </a:lnTo>
                <a:lnTo>
                  <a:pt x="853948" y="508381"/>
                </a:lnTo>
                <a:lnTo>
                  <a:pt x="846708" y="494156"/>
                </a:lnTo>
                <a:close/>
              </a:path>
              <a:path w="1823084" h="944879">
                <a:moveTo>
                  <a:pt x="945515" y="443356"/>
                </a:moveTo>
                <a:lnTo>
                  <a:pt x="889000" y="472439"/>
                </a:lnTo>
                <a:lnTo>
                  <a:pt x="896239" y="486537"/>
                </a:lnTo>
                <a:lnTo>
                  <a:pt x="952753" y="457453"/>
                </a:lnTo>
                <a:lnTo>
                  <a:pt x="945515" y="443356"/>
                </a:lnTo>
                <a:close/>
              </a:path>
              <a:path w="1823084" h="944879">
                <a:moveTo>
                  <a:pt x="1044194" y="392429"/>
                </a:moveTo>
                <a:lnTo>
                  <a:pt x="987805" y="421513"/>
                </a:lnTo>
                <a:lnTo>
                  <a:pt x="995045" y="435609"/>
                </a:lnTo>
                <a:lnTo>
                  <a:pt x="1051559" y="406526"/>
                </a:lnTo>
                <a:lnTo>
                  <a:pt x="1044194" y="392429"/>
                </a:lnTo>
                <a:close/>
              </a:path>
              <a:path w="1823084" h="944879">
                <a:moveTo>
                  <a:pt x="1143000" y="341503"/>
                </a:moveTo>
                <a:lnTo>
                  <a:pt x="1086611" y="370585"/>
                </a:lnTo>
                <a:lnTo>
                  <a:pt x="1093851" y="384682"/>
                </a:lnTo>
                <a:lnTo>
                  <a:pt x="1150239" y="355600"/>
                </a:lnTo>
                <a:lnTo>
                  <a:pt x="1143000" y="341503"/>
                </a:lnTo>
                <a:close/>
              </a:path>
              <a:path w="1823084" h="944879">
                <a:moveTo>
                  <a:pt x="1241805" y="290575"/>
                </a:moveTo>
                <a:lnTo>
                  <a:pt x="1185291" y="319659"/>
                </a:lnTo>
                <a:lnTo>
                  <a:pt x="1192656" y="333756"/>
                </a:lnTo>
                <a:lnTo>
                  <a:pt x="1249045" y="304672"/>
                </a:lnTo>
                <a:lnTo>
                  <a:pt x="1241805" y="290575"/>
                </a:lnTo>
                <a:close/>
              </a:path>
              <a:path w="1823084" h="944879">
                <a:moveTo>
                  <a:pt x="1340611" y="239649"/>
                </a:moveTo>
                <a:lnTo>
                  <a:pt x="1284097" y="268731"/>
                </a:lnTo>
                <a:lnTo>
                  <a:pt x="1291335" y="282828"/>
                </a:lnTo>
                <a:lnTo>
                  <a:pt x="1347851" y="253745"/>
                </a:lnTo>
                <a:lnTo>
                  <a:pt x="1340611" y="239649"/>
                </a:lnTo>
                <a:close/>
              </a:path>
              <a:path w="1823084" h="944879">
                <a:moveTo>
                  <a:pt x="1439291" y="188721"/>
                </a:moveTo>
                <a:lnTo>
                  <a:pt x="1382902" y="217805"/>
                </a:lnTo>
                <a:lnTo>
                  <a:pt x="1390142" y="231901"/>
                </a:lnTo>
                <a:lnTo>
                  <a:pt x="1446656" y="202819"/>
                </a:lnTo>
                <a:lnTo>
                  <a:pt x="1439291" y="188721"/>
                </a:lnTo>
                <a:close/>
              </a:path>
              <a:path w="1823084" h="944879">
                <a:moveTo>
                  <a:pt x="1538097" y="137794"/>
                </a:moveTo>
                <a:lnTo>
                  <a:pt x="1481708" y="166877"/>
                </a:lnTo>
                <a:lnTo>
                  <a:pt x="1488948" y="180975"/>
                </a:lnTo>
                <a:lnTo>
                  <a:pt x="1545335" y="151892"/>
                </a:lnTo>
                <a:lnTo>
                  <a:pt x="1538097" y="137794"/>
                </a:lnTo>
                <a:close/>
              </a:path>
              <a:path w="1823084" h="944879">
                <a:moveTo>
                  <a:pt x="1636902" y="86868"/>
                </a:moveTo>
                <a:lnTo>
                  <a:pt x="1580387" y="115950"/>
                </a:lnTo>
                <a:lnTo>
                  <a:pt x="1587753" y="130048"/>
                </a:lnTo>
                <a:lnTo>
                  <a:pt x="1644142" y="100964"/>
                </a:lnTo>
                <a:lnTo>
                  <a:pt x="1636902" y="86868"/>
                </a:lnTo>
                <a:close/>
              </a:path>
              <a:path w="1823084" h="944879">
                <a:moveTo>
                  <a:pt x="1735708" y="35940"/>
                </a:moveTo>
                <a:lnTo>
                  <a:pt x="1679194" y="65024"/>
                </a:lnTo>
                <a:lnTo>
                  <a:pt x="1686559" y="79248"/>
                </a:lnTo>
                <a:lnTo>
                  <a:pt x="1742948" y="50164"/>
                </a:lnTo>
                <a:lnTo>
                  <a:pt x="1735708" y="35940"/>
                </a:lnTo>
                <a:close/>
              </a:path>
              <a:path w="1823084" h="944879">
                <a:moveTo>
                  <a:pt x="1822830" y="0"/>
                </a:moveTo>
                <a:lnTo>
                  <a:pt x="1737614" y="1015"/>
                </a:lnTo>
                <a:lnTo>
                  <a:pt x="1772539" y="68833"/>
                </a:lnTo>
                <a:lnTo>
                  <a:pt x="18228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050905" y="4870450"/>
            <a:ext cx="551815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dirty="0" sz="1800" spc="-5" b="1">
                <a:solidFill>
                  <a:srgbClr val="FFC000"/>
                </a:solidFill>
                <a:latin typeface="Calibri"/>
                <a:cs typeface="Calibri"/>
              </a:rPr>
              <a:t>G</a:t>
            </a:r>
            <a:r>
              <a:rPr dirty="0" sz="1800" spc="5" b="1">
                <a:solidFill>
                  <a:srgbClr val="FFC000"/>
                </a:solidFill>
                <a:latin typeface="Calibri"/>
                <a:cs typeface="Calibri"/>
              </a:rPr>
              <a:t>o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od  Slope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03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Classification</a:t>
            </a:r>
            <a:r>
              <a:rPr dirty="0" spc="-50"/>
              <a:t> </a:t>
            </a:r>
            <a:r>
              <a:rPr dirty="0" spc="-5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998" y="1666112"/>
            <a:ext cx="10658475" cy="15113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4"/>
              </a:spcBef>
            </a:pP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Bi-directional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approach : Both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classifier</a:t>
            </a:r>
            <a:r>
              <a:rPr dirty="0" sz="25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algorithms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(Statistical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ML</a:t>
            </a:r>
            <a:r>
              <a:rPr dirty="0" sz="25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Based)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can </a:t>
            </a:r>
            <a:r>
              <a:rPr dirty="0" sz="2500" spc="-5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tried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out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results</a:t>
            </a:r>
            <a:r>
              <a:rPr dirty="0" sz="25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Calibri"/>
                <a:cs typeface="Calibri"/>
              </a:rPr>
              <a:t>compared</a:t>
            </a:r>
            <a:r>
              <a:rPr dirty="0" sz="25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5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final</a:t>
            </a:r>
            <a:r>
              <a:rPr dirty="0" sz="25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500" spc="-5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Calibri"/>
              <a:cs typeface="Calibri"/>
            </a:endParaRPr>
          </a:p>
          <a:p>
            <a:pPr marL="650875">
              <a:lnSpc>
                <a:spcPct val="100000"/>
              </a:lnSpc>
              <a:tabLst>
                <a:tab pos="6099810" algn="l"/>
              </a:tabLst>
            </a:pPr>
            <a:r>
              <a:rPr dirty="0" sz="2700" spc="-5" b="1">
                <a:solidFill>
                  <a:srgbClr val="8FAADC"/>
                </a:solidFill>
                <a:latin typeface="Calibri"/>
                <a:cs typeface="Calibri"/>
              </a:rPr>
              <a:t>Binomial</a:t>
            </a:r>
            <a:r>
              <a:rPr dirty="0" sz="2700" spc="5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8FAADC"/>
                </a:solidFill>
                <a:latin typeface="Calibri"/>
                <a:cs typeface="Calibri"/>
              </a:rPr>
              <a:t>LR</a:t>
            </a:r>
            <a:r>
              <a:rPr dirty="0" sz="2700" spc="15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8FAADC"/>
                </a:solidFill>
                <a:latin typeface="Calibri"/>
                <a:cs typeface="Calibri"/>
              </a:rPr>
              <a:t>Algorithm	</a:t>
            </a:r>
            <a:r>
              <a:rPr dirty="0" sz="2700" spc="-50" b="1">
                <a:solidFill>
                  <a:srgbClr val="8FAADC"/>
                </a:solidFill>
                <a:latin typeface="Calibri"/>
                <a:cs typeface="Calibri"/>
              </a:rPr>
              <a:t>Tree</a:t>
            </a:r>
            <a:r>
              <a:rPr dirty="0" sz="2700" spc="10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8FAADC"/>
                </a:solidFill>
                <a:latin typeface="Calibri"/>
                <a:cs typeface="Calibri"/>
              </a:rPr>
              <a:t>Based</a:t>
            </a:r>
            <a:r>
              <a:rPr dirty="0" sz="2700" spc="-15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8FAADC"/>
                </a:solidFill>
                <a:latin typeface="Calibri"/>
                <a:cs typeface="Calibri"/>
              </a:rPr>
              <a:t>ML</a:t>
            </a:r>
            <a:r>
              <a:rPr dirty="0" sz="2700" spc="-20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8FAADC"/>
                </a:solidFill>
                <a:latin typeface="Calibri"/>
                <a:cs typeface="Calibri"/>
              </a:rPr>
              <a:t>Algorithm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2571" y="3429000"/>
            <a:ext cx="4259580" cy="25100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847" y="3429000"/>
            <a:ext cx="4259580" cy="24957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67938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Precision</a:t>
            </a:r>
            <a:r>
              <a:rPr dirty="0" spc="-10"/>
              <a:t> </a:t>
            </a:r>
            <a:r>
              <a:rPr dirty="0"/>
              <a:t>, </a:t>
            </a:r>
            <a:r>
              <a:rPr dirty="0" spc="-25"/>
              <a:t>Recall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 spc="10"/>
              <a:t>F</a:t>
            </a:r>
            <a:r>
              <a:rPr dirty="0" spc="10">
                <a:latin typeface="Franklin Gothic Medium"/>
                <a:cs typeface="Franklin Gothic Medium"/>
              </a:rPr>
              <a:t>1</a:t>
            </a:r>
            <a:r>
              <a:rPr dirty="0" spc="-130">
                <a:latin typeface="Franklin Gothic Medium"/>
                <a:cs typeface="Franklin Gothic Medium"/>
              </a:rPr>
              <a:t> </a:t>
            </a:r>
            <a:r>
              <a:rPr dirty="0" spc="-25"/>
              <a:t>Score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246122"/>
          <a:ext cx="10041255" cy="2359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0680"/>
                <a:gridCol w="1160780"/>
                <a:gridCol w="190500"/>
                <a:gridCol w="1370964"/>
                <a:gridCol w="1435100"/>
                <a:gridCol w="2926079"/>
                <a:gridCol w="1069340"/>
                <a:gridCol w="237490"/>
              </a:tblGrid>
              <a:tr h="370839"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Actuals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13436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  <a:spcBef>
                          <a:spcPts val="245"/>
                        </a:spcBef>
                      </a:pPr>
                      <a:r>
                        <a:rPr dirty="0" sz="1800" spc="-5" b="1">
                          <a:latin typeface="Calibri"/>
                          <a:cs typeface="Calibri"/>
                        </a:rPr>
                        <a:t>Positive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12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Negative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5740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1B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70839">
                <a:tc rowSpan="3">
                  <a:txBody>
                    <a:bodyPr/>
                    <a:lstStyle/>
                    <a:p>
                      <a:pPr marL="362585" marR="354330" indent="1428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Model </a:t>
                      </a:r>
                      <a:r>
                        <a:rPr dirty="0" sz="18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800" spc="-3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edic</a:t>
                      </a:r>
                      <a:r>
                        <a:rPr dirty="0" sz="1800" spc="-20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" b="1">
                          <a:latin typeface="Calibri"/>
                          <a:cs typeface="Calibri"/>
                        </a:rPr>
                        <a:t>Positive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1B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Predicted</a:t>
                      </a:r>
                      <a:r>
                        <a:rPr dirty="0" sz="18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Positive</a:t>
                      </a:r>
                      <a:r>
                        <a:rPr dirty="0" sz="18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5" b="1">
                          <a:latin typeface="Calibri"/>
                          <a:cs typeface="Calibri"/>
                        </a:rPr>
                        <a:t>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A/(A+B)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685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F8B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022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3365">
                        <a:lnSpc>
                          <a:spcPts val="1864"/>
                        </a:lnSpc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Negative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4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1B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864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64"/>
                        </a:lnSpc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Predicted </a:t>
                      </a:r>
                      <a:r>
                        <a:rPr dirty="0" sz="1800" spc="-15" b="1">
                          <a:latin typeface="Calibri"/>
                          <a:cs typeface="Calibri"/>
                        </a:rPr>
                        <a:t>Negative Rate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864"/>
                        </a:lnSpc>
                      </a:pPr>
                      <a:r>
                        <a:rPr dirty="0" sz="1800" spc="-5" b="1">
                          <a:latin typeface="Calibri"/>
                          <a:cs typeface="Calibri"/>
                        </a:rPr>
                        <a:t>D/(C+D)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  <a:tr h="370840"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" b="1">
                          <a:latin typeface="Calibri"/>
                          <a:cs typeface="Calibri"/>
                        </a:rPr>
                        <a:t>Sensitivity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" b="1">
                          <a:latin typeface="Calibri"/>
                          <a:cs typeface="Calibri"/>
                        </a:rPr>
                        <a:t>Specificity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5" b="1">
                          <a:latin typeface="Calibri"/>
                          <a:cs typeface="Calibri"/>
                        </a:rPr>
                        <a:t>Accuracy</a:t>
                      </a:r>
                      <a:r>
                        <a:rPr dirty="0" sz="18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(A+D)</a:t>
                      </a:r>
                      <a:r>
                        <a:rPr dirty="0" sz="18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(A+B+C+D)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  <a:tr h="370839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A/(A+C)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00"/>
                      </a:solidFill>
                      <a:prstDash val="solid"/>
                    </a:lnL>
                    <a:lnR w="1905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D/(B+D)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905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  <a:tr h="12191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451603" y="4599432"/>
            <a:ext cx="76200" cy="661670"/>
          </a:xfrm>
          <a:custGeom>
            <a:avLst/>
            <a:gdLst/>
            <a:ahLst/>
            <a:cxnLst/>
            <a:rect l="l" t="t" r="r" b="b"/>
            <a:pathLst>
              <a:path w="76200" h="661670">
                <a:moveTo>
                  <a:pt x="31750" y="584962"/>
                </a:moveTo>
                <a:lnTo>
                  <a:pt x="0" y="584962"/>
                </a:lnTo>
                <a:lnTo>
                  <a:pt x="38100" y="661162"/>
                </a:lnTo>
                <a:lnTo>
                  <a:pt x="69850" y="597662"/>
                </a:lnTo>
                <a:lnTo>
                  <a:pt x="31750" y="597662"/>
                </a:lnTo>
                <a:lnTo>
                  <a:pt x="31750" y="584962"/>
                </a:lnTo>
                <a:close/>
              </a:path>
              <a:path w="76200" h="661670">
                <a:moveTo>
                  <a:pt x="44450" y="0"/>
                </a:moveTo>
                <a:lnTo>
                  <a:pt x="31750" y="0"/>
                </a:lnTo>
                <a:lnTo>
                  <a:pt x="31750" y="597662"/>
                </a:lnTo>
                <a:lnTo>
                  <a:pt x="44450" y="597662"/>
                </a:lnTo>
                <a:lnTo>
                  <a:pt x="44450" y="0"/>
                </a:lnTo>
                <a:close/>
              </a:path>
              <a:path w="76200" h="661670">
                <a:moveTo>
                  <a:pt x="76200" y="584962"/>
                </a:moveTo>
                <a:lnTo>
                  <a:pt x="44450" y="584962"/>
                </a:lnTo>
                <a:lnTo>
                  <a:pt x="44450" y="597662"/>
                </a:lnTo>
                <a:lnTo>
                  <a:pt x="69850" y="597662"/>
                </a:lnTo>
                <a:lnTo>
                  <a:pt x="76200" y="5849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19271" y="5109209"/>
            <a:ext cx="31623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Recall </a:t>
            </a:r>
            <a:r>
              <a:rPr dirty="0" sz="20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(True</a:t>
            </a:r>
            <a:r>
              <a:rPr dirty="0" sz="20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Positive</a:t>
            </a:r>
            <a:r>
              <a:rPr dirty="0" sz="20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Rate)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12195" y="1964435"/>
            <a:ext cx="76200" cy="971550"/>
          </a:xfrm>
          <a:custGeom>
            <a:avLst/>
            <a:gdLst/>
            <a:ahLst/>
            <a:cxnLst/>
            <a:rect l="l" t="t" r="r" b="b"/>
            <a:pathLst>
              <a:path w="76200" h="971550">
                <a:moveTo>
                  <a:pt x="44450" y="63500"/>
                </a:moveTo>
                <a:lnTo>
                  <a:pt x="31750" y="63500"/>
                </a:lnTo>
                <a:lnTo>
                  <a:pt x="31750" y="971041"/>
                </a:lnTo>
                <a:lnTo>
                  <a:pt x="44450" y="971041"/>
                </a:lnTo>
                <a:lnTo>
                  <a:pt x="44450" y="63500"/>
                </a:lnTo>
                <a:close/>
              </a:path>
              <a:path w="76200" h="97155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7155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31094" y="1448561"/>
            <a:ext cx="14998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P</a:t>
            </a:r>
            <a:r>
              <a:rPr dirty="0" sz="30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</a:t>
            </a:r>
            <a:r>
              <a:rPr dirty="0" sz="30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e</a:t>
            </a:r>
            <a:r>
              <a:rPr dirty="0" sz="30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cision</a:t>
            </a:r>
            <a:endParaRPr sz="30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5006" y="5035677"/>
            <a:ext cx="92011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C00000"/>
                </a:solidFill>
                <a:latin typeface="Franklin Gothic Medium"/>
                <a:cs typeface="Franklin Gothic Medium"/>
              </a:rPr>
              <a:t>F1</a:t>
            </a:r>
            <a:r>
              <a:rPr dirty="0" sz="19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9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Score</a:t>
            </a:r>
            <a:endParaRPr sz="19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939530" y="5196458"/>
            <a:ext cx="285750" cy="112395"/>
          </a:xfrm>
          <a:custGeom>
            <a:avLst/>
            <a:gdLst/>
            <a:ahLst/>
            <a:cxnLst/>
            <a:rect l="l" t="t" r="r" b="b"/>
            <a:pathLst>
              <a:path w="285750" h="112395">
                <a:moveTo>
                  <a:pt x="285496" y="67183"/>
                </a:moveTo>
                <a:lnTo>
                  <a:pt x="0" y="67183"/>
                </a:lnTo>
                <a:lnTo>
                  <a:pt x="0" y="112014"/>
                </a:lnTo>
                <a:lnTo>
                  <a:pt x="285496" y="112014"/>
                </a:lnTo>
                <a:lnTo>
                  <a:pt x="285496" y="67183"/>
                </a:lnTo>
                <a:close/>
              </a:path>
              <a:path w="285750" h="112395">
                <a:moveTo>
                  <a:pt x="285496" y="0"/>
                </a:moveTo>
                <a:lnTo>
                  <a:pt x="0" y="0"/>
                </a:lnTo>
                <a:lnTo>
                  <a:pt x="0" y="44831"/>
                </a:lnTo>
                <a:lnTo>
                  <a:pt x="285496" y="44831"/>
                </a:lnTo>
                <a:lnTo>
                  <a:pt x="2854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67671" y="4846701"/>
            <a:ext cx="2050414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C00000"/>
                </a:solidFill>
                <a:latin typeface="Franklin Gothic Medium"/>
                <a:cs typeface="Franklin Gothic Medium"/>
              </a:rPr>
              <a:t>2*</a:t>
            </a:r>
            <a:r>
              <a:rPr dirty="0" sz="19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9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Precision*Recall</a:t>
            </a:r>
            <a:endParaRPr sz="19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47859" y="5035677"/>
            <a:ext cx="2293620" cy="6019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30810" marR="5080" indent="-131445">
              <a:lnSpc>
                <a:spcPts val="2260"/>
              </a:lnSpc>
              <a:spcBef>
                <a:spcPts val="185"/>
              </a:spcBef>
              <a:tabLst>
                <a:tab pos="2280285" algn="l"/>
              </a:tabLst>
            </a:pPr>
            <a:r>
              <a:rPr dirty="0" u="sng" sz="1900" spc="-5">
                <a:solidFill>
                  <a:srgbClr val="C00000"/>
                </a:solidFill>
                <a:uFill>
                  <a:solidFill>
                    <a:srgbClr val="FFC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1900" spc="-5">
                <a:solidFill>
                  <a:srgbClr val="C00000"/>
                </a:solidFill>
                <a:uFill>
                  <a:solidFill>
                    <a:srgbClr val="FFC000"/>
                  </a:solidFill>
                </a:uFill>
                <a:latin typeface="Franklin Gothic Medium"/>
                <a:cs typeface="Franklin Gothic Medium"/>
              </a:rPr>
              <a:t>		</a:t>
            </a:r>
            <a:r>
              <a:rPr dirty="0" sz="19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9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P</a:t>
            </a:r>
            <a:r>
              <a:rPr dirty="0" sz="1900">
                <a:solidFill>
                  <a:srgbClr val="C00000"/>
                </a:solidFill>
                <a:latin typeface="Franklin Gothic Medium"/>
                <a:cs typeface="Franklin Gothic Medium"/>
              </a:rPr>
              <a:t>r</a:t>
            </a:r>
            <a:r>
              <a:rPr dirty="0" sz="19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e</a:t>
            </a:r>
            <a:r>
              <a:rPr dirty="0" sz="1900" spc="10">
                <a:solidFill>
                  <a:srgbClr val="C00000"/>
                </a:solidFill>
                <a:latin typeface="Franklin Gothic Medium"/>
                <a:cs typeface="Franklin Gothic Medium"/>
              </a:rPr>
              <a:t>c</a:t>
            </a:r>
            <a:r>
              <a:rPr dirty="0" sz="19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i</a:t>
            </a:r>
            <a:r>
              <a:rPr dirty="0" sz="19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</a:t>
            </a:r>
            <a:r>
              <a:rPr dirty="0" sz="19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i</a:t>
            </a:r>
            <a:r>
              <a:rPr dirty="0" sz="19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on</a:t>
            </a:r>
            <a:r>
              <a:rPr dirty="0" sz="19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9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+</a:t>
            </a:r>
            <a:r>
              <a:rPr dirty="0" sz="19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9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R</a:t>
            </a:r>
            <a:r>
              <a:rPr dirty="0" sz="1900" spc="-5">
                <a:solidFill>
                  <a:srgbClr val="C00000"/>
                </a:solidFill>
                <a:latin typeface="Franklin Gothic Medium"/>
                <a:cs typeface="Franklin Gothic Medium"/>
              </a:rPr>
              <a:t>e</a:t>
            </a:r>
            <a:r>
              <a:rPr dirty="0" sz="1900" spc="10">
                <a:solidFill>
                  <a:srgbClr val="C00000"/>
                </a:solidFill>
                <a:latin typeface="Franklin Gothic Medium"/>
                <a:cs typeface="Franklin Gothic Medium"/>
              </a:rPr>
              <a:t>c</a:t>
            </a:r>
            <a:r>
              <a:rPr dirty="0" sz="19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a</a:t>
            </a:r>
            <a:r>
              <a:rPr dirty="0" sz="19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l</a:t>
            </a:r>
            <a:r>
              <a:rPr dirty="0" sz="19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l</a:t>
            </a:r>
            <a:endParaRPr sz="19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02295" y="4762500"/>
            <a:ext cx="4287520" cy="977265"/>
          </a:xfrm>
          <a:custGeom>
            <a:avLst/>
            <a:gdLst/>
            <a:ahLst/>
            <a:cxnLst/>
            <a:rect l="l" t="t" r="r" b="b"/>
            <a:pathLst>
              <a:path w="4287520" h="977264">
                <a:moveTo>
                  <a:pt x="0" y="976884"/>
                </a:moveTo>
                <a:lnTo>
                  <a:pt x="4287011" y="976884"/>
                </a:lnTo>
                <a:lnTo>
                  <a:pt x="4287011" y="0"/>
                </a:lnTo>
                <a:lnTo>
                  <a:pt x="0" y="0"/>
                </a:lnTo>
                <a:lnTo>
                  <a:pt x="0" y="97688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7435" y="1757552"/>
            <a:ext cx="78739" cy="26797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688204" y="1594866"/>
            <a:ext cx="1835785" cy="590550"/>
            <a:chOff x="4688204" y="1594866"/>
            <a:chExt cx="1835785" cy="59055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8204" y="1654937"/>
              <a:ext cx="327660" cy="22987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4968" y="1594866"/>
              <a:ext cx="1818894" cy="59055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52866" y="1387728"/>
            <a:ext cx="1008887" cy="40665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08965" y="3157982"/>
            <a:ext cx="233045" cy="1676400"/>
          </a:xfrm>
          <a:custGeom>
            <a:avLst/>
            <a:gdLst/>
            <a:ahLst/>
            <a:cxnLst/>
            <a:rect l="l" t="t" r="r" b="b"/>
            <a:pathLst>
              <a:path w="233045" h="1676400">
                <a:moveTo>
                  <a:pt x="19446" y="1666784"/>
                </a:moveTo>
                <a:lnTo>
                  <a:pt x="18821" y="1676400"/>
                </a:lnTo>
                <a:lnTo>
                  <a:pt x="19494" y="1676400"/>
                </a:lnTo>
                <a:lnTo>
                  <a:pt x="19446" y="1666784"/>
                </a:lnTo>
                <a:close/>
              </a:path>
              <a:path w="233045" h="1676400">
                <a:moveTo>
                  <a:pt x="44284" y="1663700"/>
                </a:moveTo>
                <a:lnTo>
                  <a:pt x="19646" y="1663700"/>
                </a:lnTo>
                <a:lnTo>
                  <a:pt x="19455" y="1666644"/>
                </a:lnTo>
                <a:lnTo>
                  <a:pt x="19494" y="1676400"/>
                </a:lnTo>
                <a:lnTo>
                  <a:pt x="44437" y="1676400"/>
                </a:lnTo>
                <a:lnTo>
                  <a:pt x="44476" y="1666644"/>
                </a:lnTo>
                <a:lnTo>
                  <a:pt x="44284" y="1663700"/>
                </a:lnTo>
                <a:close/>
              </a:path>
              <a:path w="233045" h="1676400">
                <a:moveTo>
                  <a:pt x="44476" y="1666644"/>
                </a:moveTo>
                <a:lnTo>
                  <a:pt x="44437" y="1676400"/>
                </a:lnTo>
                <a:lnTo>
                  <a:pt x="45110" y="1676400"/>
                </a:lnTo>
                <a:lnTo>
                  <a:pt x="44476" y="1666644"/>
                </a:lnTo>
                <a:close/>
              </a:path>
              <a:path w="233045" h="1676400">
                <a:moveTo>
                  <a:pt x="19612" y="1635451"/>
                </a:moveTo>
                <a:lnTo>
                  <a:pt x="18072" y="1638300"/>
                </a:lnTo>
                <a:lnTo>
                  <a:pt x="5892" y="1638300"/>
                </a:lnTo>
                <a:lnTo>
                  <a:pt x="9359" y="1651000"/>
                </a:lnTo>
                <a:lnTo>
                  <a:pt x="19418" y="1651000"/>
                </a:lnTo>
                <a:lnTo>
                  <a:pt x="19446" y="1666784"/>
                </a:lnTo>
                <a:lnTo>
                  <a:pt x="19570" y="1663700"/>
                </a:lnTo>
                <a:lnTo>
                  <a:pt x="19612" y="1635451"/>
                </a:lnTo>
                <a:close/>
              </a:path>
              <a:path w="233045" h="1676400">
                <a:moveTo>
                  <a:pt x="44488" y="1663700"/>
                </a:moveTo>
                <a:lnTo>
                  <a:pt x="44284" y="1663700"/>
                </a:lnTo>
                <a:lnTo>
                  <a:pt x="44476" y="1666644"/>
                </a:lnTo>
                <a:lnTo>
                  <a:pt x="44488" y="1663700"/>
                </a:lnTo>
                <a:close/>
              </a:path>
              <a:path w="233045" h="1676400">
                <a:moveTo>
                  <a:pt x="30289" y="1625600"/>
                </a:moveTo>
                <a:lnTo>
                  <a:pt x="24942" y="1625600"/>
                </a:lnTo>
                <a:lnTo>
                  <a:pt x="19612" y="1635451"/>
                </a:lnTo>
                <a:lnTo>
                  <a:pt x="19570" y="1663700"/>
                </a:lnTo>
                <a:lnTo>
                  <a:pt x="44361" y="1663700"/>
                </a:lnTo>
                <a:lnTo>
                  <a:pt x="44328" y="1647507"/>
                </a:lnTo>
                <a:lnTo>
                  <a:pt x="43942" y="1638300"/>
                </a:lnTo>
                <a:lnTo>
                  <a:pt x="34670" y="1638300"/>
                </a:lnTo>
                <a:lnTo>
                  <a:pt x="30289" y="1625600"/>
                </a:lnTo>
                <a:close/>
              </a:path>
              <a:path w="233045" h="1676400">
                <a:moveTo>
                  <a:pt x="44328" y="1647507"/>
                </a:moveTo>
                <a:lnTo>
                  <a:pt x="44361" y="1663700"/>
                </a:lnTo>
                <a:lnTo>
                  <a:pt x="44513" y="1663700"/>
                </a:lnTo>
                <a:lnTo>
                  <a:pt x="44475" y="1651000"/>
                </a:lnTo>
                <a:lnTo>
                  <a:pt x="44328" y="1647507"/>
                </a:lnTo>
                <a:close/>
              </a:path>
              <a:path w="233045" h="1676400">
                <a:moveTo>
                  <a:pt x="196329" y="1638300"/>
                </a:moveTo>
                <a:lnTo>
                  <a:pt x="170789" y="1638300"/>
                </a:lnTo>
                <a:lnTo>
                  <a:pt x="171386" y="1651000"/>
                </a:lnTo>
                <a:lnTo>
                  <a:pt x="194449" y="1651000"/>
                </a:lnTo>
                <a:lnTo>
                  <a:pt x="196329" y="1638300"/>
                </a:lnTo>
                <a:close/>
              </a:path>
              <a:path w="233045" h="1676400">
                <a:moveTo>
                  <a:pt x="44321" y="1634408"/>
                </a:moveTo>
                <a:lnTo>
                  <a:pt x="39687" y="1638300"/>
                </a:lnTo>
                <a:lnTo>
                  <a:pt x="43942" y="1638300"/>
                </a:lnTo>
                <a:lnTo>
                  <a:pt x="44328" y="1647507"/>
                </a:lnTo>
                <a:lnTo>
                  <a:pt x="44321" y="1634408"/>
                </a:lnTo>
                <a:close/>
              </a:path>
              <a:path w="233045" h="1676400">
                <a:moveTo>
                  <a:pt x="19634" y="1612900"/>
                </a:moveTo>
                <a:lnTo>
                  <a:pt x="6972" y="1612900"/>
                </a:lnTo>
                <a:lnTo>
                  <a:pt x="2920" y="1625600"/>
                </a:lnTo>
                <a:lnTo>
                  <a:pt x="0" y="1625600"/>
                </a:lnTo>
                <a:lnTo>
                  <a:pt x="0" y="1638300"/>
                </a:lnTo>
                <a:lnTo>
                  <a:pt x="18072" y="1638300"/>
                </a:lnTo>
                <a:lnTo>
                  <a:pt x="19612" y="1635451"/>
                </a:lnTo>
                <a:lnTo>
                  <a:pt x="19634" y="1612900"/>
                </a:lnTo>
                <a:close/>
              </a:path>
              <a:path w="233045" h="1676400">
                <a:moveTo>
                  <a:pt x="44348" y="1625600"/>
                </a:moveTo>
                <a:lnTo>
                  <a:pt x="30289" y="1625600"/>
                </a:lnTo>
                <a:lnTo>
                  <a:pt x="34670" y="1638300"/>
                </a:lnTo>
                <a:lnTo>
                  <a:pt x="39687" y="1638300"/>
                </a:lnTo>
                <a:lnTo>
                  <a:pt x="44321" y="1634408"/>
                </a:lnTo>
                <a:lnTo>
                  <a:pt x="44348" y="1625600"/>
                </a:lnTo>
                <a:close/>
              </a:path>
              <a:path w="233045" h="1676400">
                <a:moveTo>
                  <a:pt x="200482" y="1625600"/>
                </a:moveTo>
                <a:lnTo>
                  <a:pt x="172516" y="1625600"/>
                </a:lnTo>
                <a:lnTo>
                  <a:pt x="171081" y="1638300"/>
                </a:lnTo>
                <a:lnTo>
                  <a:pt x="195440" y="1638300"/>
                </a:lnTo>
                <a:lnTo>
                  <a:pt x="200482" y="1625600"/>
                </a:lnTo>
                <a:close/>
              </a:path>
              <a:path w="233045" h="1676400">
                <a:moveTo>
                  <a:pt x="43548" y="1562100"/>
                </a:moveTo>
                <a:lnTo>
                  <a:pt x="18948" y="1562100"/>
                </a:lnTo>
                <a:lnTo>
                  <a:pt x="18897" y="1574800"/>
                </a:lnTo>
                <a:lnTo>
                  <a:pt x="19634" y="1587500"/>
                </a:lnTo>
                <a:lnTo>
                  <a:pt x="19612" y="1635451"/>
                </a:lnTo>
                <a:lnTo>
                  <a:pt x="24942" y="1625600"/>
                </a:lnTo>
                <a:lnTo>
                  <a:pt x="44348" y="1625600"/>
                </a:lnTo>
                <a:lnTo>
                  <a:pt x="44297" y="1612900"/>
                </a:lnTo>
                <a:lnTo>
                  <a:pt x="32854" y="1612900"/>
                </a:lnTo>
                <a:lnTo>
                  <a:pt x="44297" y="1603292"/>
                </a:lnTo>
                <a:lnTo>
                  <a:pt x="44297" y="1587500"/>
                </a:lnTo>
                <a:lnTo>
                  <a:pt x="43573" y="1574800"/>
                </a:lnTo>
                <a:lnTo>
                  <a:pt x="43548" y="1562100"/>
                </a:lnTo>
                <a:close/>
              </a:path>
              <a:path w="233045" h="1676400">
                <a:moveTo>
                  <a:pt x="186004" y="1600200"/>
                </a:moveTo>
                <a:lnTo>
                  <a:pt x="47980" y="1600200"/>
                </a:lnTo>
                <a:lnTo>
                  <a:pt x="44297" y="1603292"/>
                </a:lnTo>
                <a:lnTo>
                  <a:pt x="44321" y="1634408"/>
                </a:lnTo>
                <a:lnTo>
                  <a:pt x="54813" y="1625600"/>
                </a:lnTo>
                <a:lnTo>
                  <a:pt x="90538" y="1625600"/>
                </a:lnTo>
                <a:lnTo>
                  <a:pt x="111048" y="1612900"/>
                </a:lnTo>
                <a:lnTo>
                  <a:pt x="171297" y="1612900"/>
                </a:lnTo>
                <a:lnTo>
                  <a:pt x="184786" y="1602328"/>
                </a:lnTo>
                <a:lnTo>
                  <a:pt x="186004" y="1600200"/>
                </a:lnTo>
                <a:close/>
              </a:path>
              <a:path w="233045" h="1676400">
                <a:moveTo>
                  <a:pt x="207733" y="1612900"/>
                </a:moveTo>
                <a:lnTo>
                  <a:pt x="178803" y="1612900"/>
                </a:lnTo>
                <a:lnTo>
                  <a:pt x="173774" y="1625600"/>
                </a:lnTo>
                <a:lnTo>
                  <a:pt x="200596" y="1625600"/>
                </a:lnTo>
                <a:lnTo>
                  <a:pt x="207733" y="1612900"/>
                </a:lnTo>
                <a:close/>
              </a:path>
              <a:path w="233045" h="1676400">
                <a:moveTo>
                  <a:pt x="44297" y="1603292"/>
                </a:moveTo>
                <a:lnTo>
                  <a:pt x="32854" y="1612900"/>
                </a:lnTo>
                <a:lnTo>
                  <a:pt x="44297" y="1612900"/>
                </a:lnTo>
                <a:lnTo>
                  <a:pt x="44297" y="1603292"/>
                </a:lnTo>
                <a:close/>
              </a:path>
              <a:path w="233045" h="1676400">
                <a:moveTo>
                  <a:pt x="216141" y="1600200"/>
                </a:moveTo>
                <a:lnTo>
                  <a:pt x="187502" y="1600200"/>
                </a:lnTo>
                <a:lnTo>
                  <a:pt x="184786" y="1602328"/>
                </a:lnTo>
                <a:lnTo>
                  <a:pt x="178739" y="1612900"/>
                </a:lnTo>
                <a:lnTo>
                  <a:pt x="207619" y="1612900"/>
                </a:lnTo>
                <a:lnTo>
                  <a:pt x="216141" y="1600200"/>
                </a:lnTo>
                <a:close/>
              </a:path>
              <a:path w="233045" h="1676400">
                <a:moveTo>
                  <a:pt x="187502" y="1600200"/>
                </a:moveTo>
                <a:lnTo>
                  <a:pt x="186004" y="1600200"/>
                </a:lnTo>
                <a:lnTo>
                  <a:pt x="184786" y="1602328"/>
                </a:lnTo>
                <a:lnTo>
                  <a:pt x="187502" y="1600200"/>
                </a:lnTo>
                <a:close/>
              </a:path>
              <a:path w="233045" h="1676400">
                <a:moveTo>
                  <a:pt x="205092" y="1574800"/>
                </a:moveTo>
                <a:lnTo>
                  <a:pt x="186334" y="1574800"/>
                </a:lnTo>
                <a:lnTo>
                  <a:pt x="188874" y="1587500"/>
                </a:lnTo>
                <a:lnTo>
                  <a:pt x="105575" y="1587500"/>
                </a:lnTo>
                <a:lnTo>
                  <a:pt x="85039" y="1600200"/>
                </a:lnTo>
                <a:lnTo>
                  <a:pt x="186156" y="1600200"/>
                </a:lnTo>
                <a:lnTo>
                  <a:pt x="194906" y="1587500"/>
                </a:lnTo>
                <a:lnTo>
                  <a:pt x="205092" y="1574800"/>
                </a:lnTo>
                <a:close/>
              </a:path>
              <a:path w="233045" h="1676400">
                <a:moveTo>
                  <a:pt x="225666" y="1574800"/>
                </a:moveTo>
                <a:lnTo>
                  <a:pt x="205092" y="1574800"/>
                </a:lnTo>
                <a:lnTo>
                  <a:pt x="194906" y="1587500"/>
                </a:lnTo>
                <a:lnTo>
                  <a:pt x="186156" y="1600200"/>
                </a:lnTo>
                <a:lnTo>
                  <a:pt x="203657" y="1600200"/>
                </a:lnTo>
                <a:lnTo>
                  <a:pt x="203629" y="1596757"/>
                </a:lnTo>
                <a:lnTo>
                  <a:pt x="200482" y="1587500"/>
                </a:lnTo>
                <a:lnTo>
                  <a:pt x="226402" y="1587500"/>
                </a:lnTo>
                <a:lnTo>
                  <a:pt x="227045" y="1584654"/>
                </a:lnTo>
                <a:lnTo>
                  <a:pt x="225666" y="1574800"/>
                </a:lnTo>
                <a:close/>
              </a:path>
              <a:path w="233045" h="1676400">
                <a:moveTo>
                  <a:pt x="203629" y="1596757"/>
                </a:moveTo>
                <a:lnTo>
                  <a:pt x="203657" y="1600200"/>
                </a:lnTo>
                <a:lnTo>
                  <a:pt x="204452" y="1599177"/>
                </a:lnTo>
                <a:lnTo>
                  <a:pt x="203629" y="1596757"/>
                </a:lnTo>
                <a:close/>
              </a:path>
              <a:path w="233045" h="1676400">
                <a:moveTo>
                  <a:pt x="204452" y="1599177"/>
                </a:moveTo>
                <a:lnTo>
                  <a:pt x="203657" y="1600200"/>
                </a:lnTo>
                <a:lnTo>
                  <a:pt x="204800" y="1600200"/>
                </a:lnTo>
                <a:lnTo>
                  <a:pt x="204452" y="1599177"/>
                </a:lnTo>
                <a:close/>
              </a:path>
              <a:path w="233045" h="1676400">
                <a:moveTo>
                  <a:pt x="207206" y="1595638"/>
                </a:moveTo>
                <a:lnTo>
                  <a:pt x="204452" y="1599177"/>
                </a:lnTo>
                <a:lnTo>
                  <a:pt x="204800" y="1600200"/>
                </a:lnTo>
                <a:lnTo>
                  <a:pt x="209181" y="1600200"/>
                </a:lnTo>
                <a:lnTo>
                  <a:pt x="207206" y="1595638"/>
                </a:lnTo>
                <a:close/>
              </a:path>
              <a:path w="233045" h="1676400">
                <a:moveTo>
                  <a:pt x="225488" y="1587500"/>
                </a:moveTo>
                <a:lnTo>
                  <a:pt x="213537" y="1587500"/>
                </a:lnTo>
                <a:lnTo>
                  <a:pt x="207206" y="1595638"/>
                </a:lnTo>
                <a:lnTo>
                  <a:pt x="209181" y="1600200"/>
                </a:lnTo>
                <a:lnTo>
                  <a:pt x="216001" y="1600200"/>
                </a:lnTo>
                <a:lnTo>
                  <a:pt x="225488" y="1587500"/>
                </a:lnTo>
                <a:close/>
              </a:path>
              <a:path w="233045" h="1676400">
                <a:moveTo>
                  <a:pt x="228295" y="1587500"/>
                </a:moveTo>
                <a:lnTo>
                  <a:pt x="225488" y="1587500"/>
                </a:lnTo>
                <a:lnTo>
                  <a:pt x="216001" y="1600200"/>
                </a:lnTo>
                <a:lnTo>
                  <a:pt x="227952" y="1600200"/>
                </a:lnTo>
                <a:lnTo>
                  <a:pt x="228295" y="1587500"/>
                </a:lnTo>
                <a:close/>
              </a:path>
              <a:path w="233045" h="1676400">
                <a:moveTo>
                  <a:pt x="203682" y="1587500"/>
                </a:moveTo>
                <a:lnTo>
                  <a:pt x="203629" y="1596757"/>
                </a:lnTo>
                <a:lnTo>
                  <a:pt x="204452" y="1599177"/>
                </a:lnTo>
                <a:lnTo>
                  <a:pt x="207206" y="1595638"/>
                </a:lnTo>
                <a:lnTo>
                  <a:pt x="203682" y="1587500"/>
                </a:lnTo>
                <a:close/>
              </a:path>
              <a:path w="233045" h="1676400">
                <a:moveTo>
                  <a:pt x="203555" y="1587500"/>
                </a:moveTo>
                <a:lnTo>
                  <a:pt x="200482" y="1587500"/>
                </a:lnTo>
                <a:lnTo>
                  <a:pt x="203629" y="1596757"/>
                </a:lnTo>
                <a:lnTo>
                  <a:pt x="203555" y="1587500"/>
                </a:lnTo>
                <a:close/>
              </a:path>
              <a:path w="233045" h="1676400">
                <a:moveTo>
                  <a:pt x="213537" y="1587500"/>
                </a:moveTo>
                <a:lnTo>
                  <a:pt x="203682" y="1587500"/>
                </a:lnTo>
                <a:lnTo>
                  <a:pt x="207206" y="1595638"/>
                </a:lnTo>
                <a:lnTo>
                  <a:pt x="213537" y="1587500"/>
                </a:lnTo>
                <a:close/>
              </a:path>
              <a:path w="233045" h="1676400">
                <a:moveTo>
                  <a:pt x="227045" y="1584654"/>
                </a:moveTo>
                <a:lnTo>
                  <a:pt x="226402" y="1587500"/>
                </a:lnTo>
                <a:lnTo>
                  <a:pt x="227444" y="1587500"/>
                </a:lnTo>
                <a:lnTo>
                  <a:pt x="227045" y="1584654"/>
                </a:lnTo>
                <a:close/>
              </a:path>
              <a:path w="233045" h="1676400">
                <a:moveTo>
                  <a:pt x="232143" y="1562100"/>
                </a:moveTo>
                <a:lnTo>
                  <a:pt x="210121" y="1562100"/>
                </a:lnTo>
                <a:lnTo>
                  <a:pt x="216242" y="1574800"/>
                </a:lnTo>
                <a:lnTo>
                  <a:pt x="225666" y="1574800"/>
                </a:lnTo>
                <a:lnTo>
                  <a:pt x="227045" y="1584654"/>
                </a:lnTo>
                <a:lnTo>
                  <a:pt x="232143" y="1562100"/>
                </a:lnTo>
                <a:close/>
              </a:path>
              <a:path w="233045" h="1676400">
                <a:moveTo>
                  <a:pt x="209803" y="1562100"/>
                </a:moveTo>
                <a:lnTo>
                  <a:pt x="174205" y="1562100"/>
                </a:lnTo>
                <a:lnTo>
                  <a:pt x="175577" y="1574800"/>
                </a:lnTo>
                <a:lnTo>
                  <a:pt x="204025" y="1574800"/>
                </a:lnTo>
                <a:lnTo>
                  <a:pt x="209803" y="1562100"/>
                </a:lnTo>
                <a:close/>
              </a:path>
              <a:path w="233045" h="1676400">
                <a:moveTo>
                  <a:pt x="210121" y="1562100"/>
                </a:moveTo>
                <a:lnTo>
                  <a:pt x="209803" y="1562100"/>
                </a:lnTo>
                <a:lnTo>
                  <a:pt x="204025" y="1574800"/>
                </a:lnTo>
                <a:lnTo>
                  <a:pt x="216242" y="1574800"/>
                </a:lnTo>
                <a:lnTo>
                  <a:pt x="210121" y="1562100"/>
                </a:lnTo>
                <a:close/>
              </a:path>
              <a:path w="233045" h="1676400">
                <a:moveTo>
                  <a:pt x="39928" y="1524000"/>
                </a:moveTo>
                <a:lnTo>
                  <a:pt x="15354" y="1524000"/>
                </a:lnTo>
                <a:lnTo>
                  <a:pt x="16128" y="1536700"/>
                </a:lnTo>
                <a:lnTo>
                  <a:pt x="17576" y="1549400"/>
                </a:lnTo>
                <a:lnTo>
                  <a:pt x="18999" y="1562100"/>
                </a:lnTo>
                <a:lnTo>
                  <a:pt x="43484" y="1562100"/>
                </a:lnTo>
                <a:lnTo>
                  <a:pt x="40601" y="1536700"/>
                </a:lnTo>
                <a:lnTo>
                  <a:pt x="39928" y="1524000"/>
                </a:lnTo>
                <a:close/>
              </a:path>
              <a:path w="233045" h="1676400">
                <a:moveTo>
                  <a:pt x="197231" y="1549400"/>
                </a:moveTo>
                <a:lnTo>
                  <a:pt x="158927" y="1549400"/>
                </a:lnTo>
                <a:lnTo>
                  <a:pt x="163614" y="1562100"/>
                </a:lnTo>
                <a:lnTo>
                  <a:pt x="199059" y="1562100"/>
                </a:lnTo>
                <a:lnTo>
                  <a:pt x="197231" y="1549400"/>
                </a:lnTo>
                <a:close/>
              </a:path>
              <a:path w="233045" h="1676400">
                <a:moveTo>
                  <a:pt x="208978" y="1536700"/>
                </a:moveTo>
                <a:lnTo>
                  <a:pt x="209016" y="1562100"/>
                </a:lnTo>
                <a:lnTo>
                  <a:pt x="232917" y="1562100"/>
                </a:lnTo>
                <a:lnTo>
                  <a:pt x="232917" y="1549400"/>
                </a:lnTo>
                <a:lnTo>
                  <a:pt x="209765" y="1549400"/>
                </a:lnTo>
                <a:lnTo>
                  <a:pt x="208978" y="1536700"/>
                </a:lnTo>
                <a:close/>
              </a:path>
              <a:path w="233045" h="1676400">
                <a:moveTo>
                  <a:pt x="148120" y="1542653"/>
                </a:moveTo>
                <a:lnTo>
                  <a:pt x="148120" y="1549400"/>
                </a:lnTo>
                <a:lnTo>
                  <a:pt x="148336" y="1549400"/>
                </a:lnTo>
                <a:lnTo>
                  <a:pt x="148120" y="1542653"/>
                </a:lnTo>
                <a:close/>
              </a:path>
              <a:path w="233045" h="1676400">
                <a:moveTo>
                  <a:pt x="172796" y="1536700"/>
                </a:moveTo>
                <a:lnTo>
                  <a:pt x="148120" y="1536700"/>
                </a:lnTo>
                <a:lnTo>
                  <a:pt x="148120" y="1542653"/>
                </a:lnTo>
                <a:lnTo>
                  <a:pt x="148336" y="1549400"/>
                </a:lnTo>
                <a:lnTo>
                  <a:pt x="161277" y="1549400"/>
                </a:lnTo>
                <a:lnTo>
                  <a:pt x="172796" y="1536700"/>
                </a:lnTo>
                <a:close/>
              </a:path>
              <a:path w="233045" h="1676400">
                <a:moveTo>
                  <a:pt x="172834" y="1536700"/>
                </a:moveTo>
                <a:lnTo>
                  <a:pt x="161277" y="1549400"/>
                </a:lnTo>
                <a:lnTo>
                  <a:pt x="172847" y="1549400"/>
                </a:lnTo>
                <a:lnTo>
                  <a:pt x="172834" y="1536700"/>
                </a:lnTo>
                <a:close/>
              </a:path>
              <a:path w="233045" h="1676400">
                <a:moveTo>
                  <a:pt x="180759" y="1536700"/>
                </a:moveTo>
                <a:lnTo>
                  <a:pt x="172834" y="1536700"/>
                </a:lnTo>
                <a:lnTo>
                  <a:pt x="172847" y="1549400"/>
                </a:lnTo>
                <a:lnTo>
                  <a:pt x="185432" y="1549400"/>
                </a:lnTo>
                <a:lnTo>
                  <a:pt x="180759" y="1536700"/>
                </a:lnTo>
                <a:close/>
              </a:path>
              <a:path w="233045" h="1676400">
                <a:moveTo>
                  <a:pt x="208978" y="1536700"/>
                </a:moveTo>
                <a:lnTo>
                  <a:pt x="180759" y="1536700"/>
                </a:lnTo>
                <a:lnTo>
                  <a:pt x="185432" y="1549400"/>
                </a:lnTo>
                <a:lnTo>
                  <a:pt x="209016" y="1549400"/>
                </a:lnTo>
                <a:lnTo>
                  <a:pt x="208978" y="1536700"/>
                </a:lnTo>
                <a:close/>
              </a:path>
              <a:path w="233045" h="1676400">
                <a:moveTo>
                  <a:pt x="232956" y="1536700"/>
                </a:moveTo>
                <a:lnTo>
                  <a:pt x="208978" y="1536700"/>
                </a:lnTo>
                <a:lnTo>
                  <a:pt x="209765" y="1549400"/>
                </a:lnTo>
                <a:lnTo>
                  <a:pt x="232917" y="1549400"/>
                </a:lnTo>
                <a:lnTo>
                  <a:pt x="232956" y="1536700"/>
                </a:lnTo>
                <a:close/>
              </a:path>
              <a:path w="233045" h="1676400">
                <a:moveTo>
                  <a:pt x="151402" y="1528291"/>
                </a:moveTo>
                <a:lnTo>
                  <a:pt x="147929" y="1536700"/>
                </a:lnTo>
                <a:lnTo>
                  <a:pt x="148120" y="1542653"/>
                </a:lnTo>
                <a:lnTo>
                  <a:pt x="148120" y="1536700"/>
                </a:lnTo>
                <a:lnTo>
                  <a:pt x="149771" y="1536700"/>
                </a:lnTo>
                <a:lnTo>
                  <a:pt x="151402" y="1528291"/>
                </a:lnTo>
                <a:close/>
              </a:path>
              <a:path w="233045" h="1676400">
                <a:moveTo>
                  <a:pt x="167678" y="1524000"/>
                </a:moveTo>
                <a:lnTo>
                  <a:pt x="153174" y="1524000"/>
                </a:lnTo>
                <a:lnTo>
                  <a:pt x="151402" y="1528291"/>
                </a:lnTo>
                <a:lnTo>
                  <a:pt x="149771" y="1536700"/>
                </a:lnTo>
                <a:lnTo>
                  <a:pt x="171665" y="1536700"/>
                </a:lnTo>
                <a:lnTo>
                  <a:pt x="167678" y="1524000"/>
                </a:lnTo>
                <a:close/>
              </a:path>
              <a:path w="233045" h="1676400">
                <a:moveTo>
                  <a:pt x="229234" y="1524000"/>
                </a:moveTo>
                <a:lnTo>
                  <a:pt x="167678" y="1524000"/>
                </a:lnTo>
                <a:lnTo>
                  <a:pt x="171665" y="1536700"/>
                </a:lnTo>
                <a:lnTo>
                  <a:pt x="232283" y="1536700"/>
                </a:lnTo>
                <a:lnTo>
                  <a:pt x="229234" y="1524000"/>
                </a:lnTo>
                <a:close/>
              </a:path>
              <a:path w="233045" h="1676400">
                <a:moveTo>
                  <a:pt x="153174" y="1524000"/>
                </a:moveTo>
                <a:lnTo>
                  <a:pt x="152234" y="1524000"/>
                </a:lnTo>
                <a:lnTo>
                  <a:pt x="151402" y="1528291"/>
                </a:lnTo>
                <a:lnTo>
                  <a:pt x="153174" y="1524000"/>
                </a:lnTo>
                <a:close/>
              </a:path>
              <a:path w="233045" h="1676400">
                <a:moveTo>
                  <a:pt x="37985" y="1511300"/>
                </a:moveTo>
                <a:lnTo>
                  <a:pt x="13703" y="1511300"/>
                </a:lnTo>
                <a:lnTo>
                  <a:pt x="15468" y="1524000"/>
                </a:lnTo>
                <a:lnTo>
                  <a:pt x="39814" y="1524000"/>
                </a:lnTo>
                <a:lnTo>
                  <a:pt x="37985" y="1511300"/>
                </a:lnTo>
                <a:close/>
              </a:path>
              <a:path w="233045" h="1676400">
                <a:moveTo>
                  <a:pt x="38646" y="1282700"/>
                </a:moveTo>
                <a:lnTo>
                  <a:pt x="14490" y="1282700"/>
                </a:lnTo>
                <a:lnTo>
                  <a:pt x="14389" y="1384300"/>
                </a:lnTo>
                <a:lnTo>
                  <a:pt x="13639" y="1409700"/>
                </a:lnTo>
                <a:lnTo>
                  <a:pt x="13576" y="1511300"/>
                </a:lnTo>
                <a:lnTo>
                  <a:pt x="38112" y="1511300"/>
                </a:lnTo>
                <a:lnTo>
                  <a:pt x="38049" y="1409700"/>
                </a:lnTo>
                <a:lnTo>
                  <a:pt x="38747" y="1384300"/>
                </a:lnTo>
                <a:lnTo>
                  <a:pt x="38646" y="1282700"/>
                </a:lnTo>
                <a:close/>
              </a:path>
              <a:path w="233045" h="1676400">
                <a:moveTo>
                  <a:pt x="43230" y="1193800"/>
                </a:moveTo>
                <a:lnTo>
                  <a:pt x="19253" y="1193800"/>
                </a:lnTo>
                <a:lnTo>
                  <a:pt x="18529" y="1206500"/>
                </a:lnTo>
                <a:lnTo>
                  <a:pt x="16332" y="1244600"/>
                </a:lnTo>
                <a:lnTo>
                  <a:pt x="15620" y="1270000"/>
                </a:lnTo>
                <a:lnTo>
                  <a:pt x="14516" y="1282700"/>
                </a:lnTo>
                <a:lnTo>
                  <a:pt x="38607" y="1282700"/>
                </a:lnTo>
                <a:lnTo>
                  <a:pt x="39662" y="1270000"/>
                </a:lnTo>
                <a:lnTo>
                  <a:pt x="40398" y="1244600"/>
                </a:lnTo>
                <a:lnTo>
                  <a:pt x="41097" y="1231900"/>
                </a:lnTo>
                <a:lnTo>
                  <a:pt x="42519" y="1219200"/>
                </a:lnTo>
                <a:lnTo>
                  <a:pt x="43230" y="1193800"/>
                </a:lnTo>
                <a:close/>
              </a:path>
              <a:path w="233045" h="1676400">
                <a:moveTo>
                  <a:pt x="45339" y="1168400"/>
                </a:moveTo>
                <a:lnTo>
                  <a:pt x="21475" y="1168400"/>
                </a:lnTo>
                <a:lnTo>
                  <a:pt x="19316" y="1193800"/>
                </a:lnTo>
                <a:lnTo>
                  <a:pt x="43179" y="1193800"/>
                </a:lnTo>
                <a:lnTo>
                  <a:pt x="45339" y="1168400"/>
                </a:lnTo>
                <a:close/>
              </a:path>
              <a:path w="233045" h="1676400">
                <a:moveTo>
                  <a:pt x="47536" y="1104900"/>
                </a:moveTo>
                <a:lnTo>
                  <a:pt x="23596" y="1104900"/>
                </a:lnTo>
                <a:lnTo>
                  <a:pt x="22859" y="1117600"/>
                </a:lnTo>
                <a:lnTo>
                  <a:pt x="22859" y="1130300"/>
                </a:lnTo>
                <a:lnTo>
                  <a:pt x="22123" y="1155700"/>
                </a:lnTo>
                <a:lnTo>
                  <a:pt x="21412" y="1168400"/>
                </a:lnTo>
                <a:lnTo>
                  <a:pt x="45389" y="1168400"/>
                </a:lnTo>
                <a:lnTo>
                  <a:pt x="46126" y="1155700"/>
                </a:lnTo>
                <a:lnTo>
                  <a:pt x="46824" y="1130300"/>
                </a:lnTo>
                <a:lnTo>
                  <a:pt x="46812" y="1117600"/>
                </a:lnTo>
                <a:lnTo>
                  <a:pt x="47536" y="1104900"/>
                </a:lnTo>
                <a:close/>
              </a:path>
              <a:path w="233045" h="1676400">
                <a:moveTo>
                  <a:pt x="50012" y="1041400"/>
                </a:moveTo>
                <a:lnTo>
                  <a:pt x="26162" y="1041400"/>
                </a:lnTo>
                <a:lnTo>
                  <a:pt x="25069" y="1054100"/>
                </a:lnTo>
                <a:lnTo>
                  <a:pt x="24345" y="1079500"/>
                </a:lnTo>
                <a:lnTo>
                  <a:pt x="23621" y="1092200"/>
                </a:lnTo>
                <a:lnTo>
                  <a:pt x="23583" y="1104900"/>
                </a:lnTo>
                <a:lnTo>
                  <a:pt x="47548" y="1104900"/>
                </a:lnTo>
                <a:lnTo>
                  <a:pt x="47510" y="1092200"/>
                </a:lnTo>
                <a:lnTo>
                  <a:pt x="48221" y="1079500"/>
                </a:lnTo>
                <a:lnTo>
                  <a:pt x="48933" y="1054100"/>
                </a:lnTo>
                <a:lnTo>
                  <a:pt x="50012" y="1041400"/>
                </a:lnTo>
                <a:close/>
              </a:path>
              <a:path w="233045" h="1676400">
                <a:moveTo>
                  <a:pt x="51358" y="927100"/>
                </a:moveTo>
                <a:lnTo>
                  <a:pt x="27685" y="927100"/>
                </a:lnTo>
                <a:lnTo>
                  <a:pt x="27647" y="952500"/>
                </a:lnTo>
                <a:lnTo>
                  <a:pt x="26923" y="977900"/>
                </a:lnTo>
                <a:lnTo>
                  <a:pt x="26898" y="1003300"/>
                </a:lnTo>
                <a:lnTo>
                  <a:pt x="26136" y="1016000"/>
                </a:lnTo>
                <a:lnTo>
                  <a:pt x="26136" y="1041400"/>
                </a:lnTo>
                <a:lnTo>
                  <a:pt x="50025" y="1041400"/>
                </a:lnTo>
                <a:lnTo>
                  <a:pt x="50025" y="1016000"/>
                </a:lnTo>
                <a:lnTo>
                  <a:pt x="50711" y="1003300"/>
                </a:lnTo>
                <a:lnTo>
                  <a:pt x="50673" y="977900"/>
                </a:lnTo>
                <a:lnTo>
                  <a:pt x="51409" y="952500"/>
                </a:lnTo>
                <a:lnTo>
                  <a:pt x="51358" y="927100"/>
                </a:lnTo>
                <a:close/>
              </a:path>
              <a:path w="233045" h="1676400">
                <a:moveTo>
                  <a:pt x="52743" y="901700"/>
                </a:moveTo>
                <a:lnTo>
                  <a:pt x="29184" y="901700"/>
                </a:lnTo>
                <a:lnTo>
                  <a:pt x="27724" y="927100"/>
                </a:lnTo>
                <a:lnTo>
                  <a:pt x="51320" y="927100"/>
                </a:lnTo>
                <a:lnTo>
                  <a:pt x="52743" y="901700"/>
                </a:lnTo>
                <a:close/>
              </a:path>
              <a:path w="233045" h="1676400">
                <a:moveTo>
                  <a:pt x="66281" y="825500"/>
                </a:moveTo>
                <a:lnTo>
                  <a:pt x="43738" y="825500"/>
                </a:lnTo>
                <a:lnTo>
                  <a:pt x="39395" y="838200"/>
                </a:lnTo>
                <a:lnTo>
                  <a:pt x="39255" y="838200"/>
                </a:lnTo>
                <a:lnTo>
                  <a:pt x="35979" y="863600"/>
                </a:lnTo>
                <a:lnTo>
                  <a:pt x="32346" y="889000"/>
                </a:lnTo>
                <a:lnTo>
                  <a:pt x="29286" y="901700"/>
                </a:lnTo>
                <a:lnTo>
                  <a:pt x="52666" y="901700"/>
                </a:lnTo>
                <a:lnTo>
                  <a:pt x="55422" y="889000"/>
                </a:lnTo>
                <a:lnTo>
                  <a:pt x="58915" y="863600"/>
                </a:lnTo>
                <a:lnTo>
                  <a:pt x="62115" y="850900"/>
                </a:lnTo>
                <a:lnTo>
                  <a:pt x="61976" y="850900"/>
                </a:lnTo>
                <a:lnTo>
                  <a:pt x="66281" y="825500"/>
                </a:lnTo>
                <a:close/>
              </a:path>
              <a:path w="233045" h="1676400">
                <a:moveTo>
                  <a:pt x="71754" y="787400"/>
                </a:moveTo>
                <a:lnTo>
                  <a:pt x="49060" y="787400"/>
                </a:lnTo>
                <a:lnTo>
                  <a:pt x="45808" y="800100"/>
                </a:lnTo>
                <a:lnTo>
                  <a:pt x="43535" y="825500"/>
                </a:lnTo>
                <a:lnTo>
                  <a:pt x="66471" y="825500"/>
                </a:lnTo>
                <a:lnTo>
                  <a:pt x="68630" y="812800"/>
                </a:lnTo>
                <a:lnTo>
                  <a:pt x="71754" y="787400"/>
                </a:lnTo>
                <a:close/>
              </a:path>
              <a:path w="233045" h="1676400">
                <a:moveTo>
                  <a:pt x="80746" y="723900"/>
                </a:moveTo>
                <a:lnTo>
                  <a:pt x="58064" y="723900"/>
                </a:lnTo>
                <a:lnTo>
                  <a:pt x="55537" y="736600"/>
                </a:lnTo>
                <a:lnTo>
                  <a:pt x="53682" y="749300"/>
                </a:lnTo>
                <a:lnTo>
                  <a:pt x="51181" y="774700"/>
                </a:lnTo>
                <a:lnTo>
                  <a:pt x="48958" y="787400"/>
                </a:lnTo>
                <a:lnTo>
                  <a:pt x="71856" y="787400"/>
                </a:lnTo>
                <a:lnTo>
                  <a:pt x="73964" y="774700"/>
                </a:lnTo>
                <a:lnTo>
                  <a:pt x="76492" y="762000"/>
                </a:lnTo>
                <a:lnTo>
                  <a:pt x="78282" y="736600"/>
                </a:lnTo>
                <a:lnTo>
                  <a:pt x="80746" y="723900"/>
                </a:lnTo>
                <a:close/>
              </a:path>
              <a:path w="233045" h="1676400">
                <a:moveTo>
                  <a:pt x="82207" y="698500"/>
                </a:moveTo>
                <a:lnTo>
                  <a:pt x="59486" y="698500"/>
                </a:lnTo>
                <a:lnTo>
                  <a:pt x="57988" y="723900"/>
                </a:lnTo>
                <a:lnTo>
                  <a:pt x="80822" y="723900"/>
                </a:lnTo>
                <a:lnTo>
                  <a:pt x="82207" y="698500"/>
                </a:lnTo>
                <a:close/>
              </a:path>
              <a:path w="233045" h="1676400">
                <a:moveTo>
                  <a:pt x="62852" y="673100"/>
                </a:moveTo>
                <a:lnTo>
                  <a:pt x="59601" y="698500"/>
                </a:lnTo>
                <a:lnTo>
                  <a:pt x="82092" y="698500"/>
                </a:lnTo>
                <a:lnTo>
                  <a:pt x="85318" y="685800"/>
                </a:lnTo>
                <a:lnTo>
                  <a:pt x="62725" y="685800"/>
                </a:lnTo>
                <a:lnTo>
                  <a:pt x="62852" y="673100"/>
                </a:lnTo>
                <a:close/>
              </a:path>
              <a:path w="233045" h="1676400">
                <a:moveTo>
                  <a:pt x="71894" y="101600"/>
                </a:moveTo>
                <a:lnTo>
                  <a:pt x="51777" y="101600"/>
                </a:lnTo>
                <a:lnTo>
                  <a:pt x="53517" y="114300"/>
                </a:lnTo>
                <a:lnTo>
                  <a:pt x="55994" y="127000"/>
                </a:lnTo>
                <a:lnTo>
                  <a:pt x="58102" y="152400"/>
                </a:lnTo>
                <a:lnTo>
                  <a:pt x="60578" y="165100"/>
                </a:lnTo>
                <a:lnTo>
                  <a:pt x="62712" y="177800"/>
                </a:lnTo>
                <a:lnTo>
                  <a:pt x="64490" y="203200"/>
                </a:lnTo>
                <a:lnTo>
                  <a:pt x="65049" y="215900"/>
                </a:lnTo>
                <a:lnTo>
                  <a:pt x="64871" y="317500"/>
                </a:lnTo>
                <a:lnTo>
                  <a:pt x="64592" y="393700"/>
                </a:lnTo>
                <a:lnTo>
                  <a:pt x="64503" y="444500"/>
                </a:lnTo>
                <a:lnTo>
                  <a:pt x="65595" y="469900"/>
                </a:lnTo>
                <a:lnTo>
                  <a:pt x="65481" y="482600"/>
                </a:lnTo>
                <a:lnTo>
                  <a:pt x="66205" y="508000"/>
                </a:lnTo>
                <a:lnTo>
                  <a:pt x="66090" y="558800"/>
                </a:lnTo>
                <a:lnTo>
                  <a:pt x="66027" y="622300"/>
                </a:lnTo>
                <a:lnTo>
                  <a:pt x="65951" y="635000"/>
                </a:lnTo>
                <a:lnTo>
                  <a:pt x="64173" y="660400"/>
                </a:lnTo>
                <a:lnTo>
                  <a:pt x="62725" y="685800"/>
                </a:lnTo>
                <a:lnTo>
                  <a:pt x="85445" y="685800"/>
                </a:lnTo>
                <a:lnTo>
                  <a:pt x="86880" y="660400"/>
                </a:lnTo>
                <a:lnTo>
                  <a:pt x="88645" y="647700"/>
                </a:lnTo>
                <a:lnTo>
                  <a:pt x="88557" y="558800"/>
                </a:lnTo>
                <a:lnTo>
                  <a:pt x="88442" y="508000"/>
                </a:lnTo>
                <a:lnTo>
                  <a:pt x="87718" y="482600"/>
                </a:lnTo>
                <a:lnTo>
                  <a:pt x="87617" y="457200"/>
                </a:lnTo>
                <a:lnTo>
                  <a:pt x="86525" y="444500"/>
                </a:lnTo>
                <a:lnTo>
                  <a:pt x="86461" y="393700"/>
                </a:lnTo>
                <a:lnTo>
                  <a:pt x="86347" y="355600"/>
                </a:lnTo>
                <a:lnTo>
                  <a:pt x="86182" y="317500"/>
                </a:lnTo>
                <a:lnTo>
                  <a:pt x="86118" y="266700"/>
                </a:lnTo>
                <a:lnTo>
                  <a:pt x="85991" y="215900"/>
                </a:lnTo>
                <a:lnTo>
                  <a:pt x="85166" y="190500"/>
                </a:lnTo>
                <a:lnTo>
                  <a:pt x="83286" y="177800"/>
                </a:lnTo>
                <a:lnTo>
                  <a:pt x="81102" y="165100"/>
                </a:lnTo>
                <a:lnTo>
                  <a:pt x="78536" y="139700"/>
                </a:lnTo>
                <a:lnTo>
                  <a:pt x="76326" y="127000"/>
                </a:lnTo>
                <a:lnTo>
                  <a:pt x="73761" y="114300"/>
                </a:lnTo>
                <a:lnTo>
                  <a:pt x="71894" y="101600"/>
                </a:lnTo>
                <a:close/>
              </a:path>
              <a:path w="233045" h="1676400">
                <a:moveTo>
                  <a:pt x="72148" y="50800"/>
                </a:moveTo>
                <a:lnTo>
                  <a:pt x="51536" y="50800"/>
                </a:lnTo>
                <a:lnTo>
                  <a:pt x="51638" y="63500"/>
                </a:lnTo>
                <a:lnTo>
                  <a:pt x="51701" y="101600"/>
                </a:lnTo>
                <a:lnTo>
                  <a:pt x="71983" y="101600"/>
                </a:lnTo>
                <a:lnTo>
                  <a:pt x="72059" y="63500"/>
                </a:lnTo>
                <a:lnTo>
                  <a:pt x="72148" y="50800"/>
                </a:lnTo>
                <a:close/>
              </a:path>
              <a:path w="233045" h="1676400">
                <a:moveTo>
                  <a:pt x="72199" y="25400"/>
                </a:moveTo>
                <a:lnTo>
                  <a:pt x="51485" y="25400"/>
                </a:lnTo>
                <a:lnTo>
                  <a:pt x="51511" y="50800"/>
                </a:lnTo>
                <a:lnTo>
                  <a:pt x="72174" y="50800"/>
                </a:lnTo>
                <a:lnTo>
                  <a:pt x="72199" y="25400"/>
                </a:lnTo>
                <a:close/>
              </a:path>
              <a:path w="233045" h="1676400">
                <a:moveTo>
                  <a:pt x="51879" y="12700"/>
                </a:moveTo>
                <a:lnTo>
                  <a:pt x="50939" y="12700"/>
                </a:lnTo>
                <a:lnTo>
                  <a:pt x="51460" y="25400"/>
                </a:lnTo>
                <a:lnTo>
                  <a:pt x="51866" y="25400"/>
                </a:lnTo>
                <a:lnTo>
                  <a:pt x="51879" y="12700"/>
                </a:lnTo>
                <a:close/>
              </a:path>
              <a:path w="233045" h="1676400">
                <a:moveTo>
                  <a:pt x="56184" y="12700"/>
                </a:moveTo>
                <a:lnTo>
                  <a:pt x="51879" y="12700"/>
                </a:lnTo>
                <a:lnTo>
                  <a:pt x="51866" y="25400"/>
                </a:lnTo>
                <a:lnTo>
                  <a:pt x="56184" y="12700"/>
                </a:lnTo>
                <a:close/>
              </a:path>
              <a:path w="233045" h="1676400">
                <a:moveTo>
                  <a:pt x="67500" y="12700"/>
                </a:moveTo>
                <a:lnTo>
                  <a:pt x="56184" y="12700"/>
                </a:lnTo>
                <a:lnTo>
                  <a:pt x="51866" y="25400"/>
                </a:lnTo>
                <a:lnTo>
                  <a:pt x="64884" y="25400"/>
                </a:lnTo>
                <a:lnTo>
                  <a:pt x="69027" y="17178"/>
                </a:lnTo>
                <a:lnTo>
                  <a:pt x="67500" y="12700"/>
                </a:lnTo>
                <a:close/>
              </a:path>
              <a:path w="233045" h="1676400">
                <a:moveTo>
                  <a:pt x="69027" y="17178"/>
                </a:moveTo>
                <a:lnTo>
                  <a:pt x="64884" y="25400"/>
                </a:lnTo>
                <a:lnTo>
                  <a:pt x="71831" y="25400"/>
                </a:lnTo>
                <a:lnTo>
                  <a:pt x="69027" y="17178"/>
                </a:lnTo>
                <a:close/>
              </a:path>
              <a:path w="233045" h="1676400">
                <a:moveTo>
                  <a:pt x="71805" y="12700"/>
                </a:moveTo>
                <a:lnTo>
                  <a:pt x="71285" y="12700"/>
                </a:lnTo>
                <a:lnTo>
                  <a:pt x="69027" y="17178"/>
                </a:lnTo>
                <a:lnTo>
                  <a:pt x="71831" y="25400"/>
                </a:lnTo>
                <a:lnTo>
                  <a:pt x="71805" y="12700"/>
                </a:lnTo>
                <a:close/>
              </a:path>
              <a:path w="233045" h="1676400">
                <a:moveTo>
                  <a:pt x="72745" y="12700"/>
                </a:moveTo>
                <a:lnTo>
                  <a:pt x="71805" y="12700"/>
                </a:lnTo>
                <a:lnTo>
                  <a:pt x="71831" y="25400"/>
                </a:lnTo>
                <a:lnTo>
                  <a:pt x="72364" y="25400"/>
                </a:lnTo>
                <a:lnTo>
                  <a:pt x="72745" y="12700"/>
                </a:lnTo>
                <a:close/>
              </a:path>
              <a:path w="233045" h="1676400">
                <a:moveTo>
                  <a:pt x="165887" y="12700"/>
                </a:moveTo>
                <a:lnTo>
                  <a:pt x="72745" y="12700"/>
                </a:lnTo>
                <a:lnTo>
                  <a:pt x="72364" y="25400"/>
                </a:lnTo>
                <a:lnTo>
                  <a:pt x="148958" y="25400"/>
                </a:lnTo>
                <a:lnTo>
                  <a:pt x="165887" y="12700"/>
                </a:lnTo>
                <a:close/>
              </a:path>
              <a:path w="233045" h="1676400">
                <a:moveTo>
                  <a:pt x="199707" y="12700"/>
                </a:moveTo>
                <a:lnTo>
                  <a:pt x="199123" y="12700"/>
                </a:lnTo>
                <a:lnTo>
                  <a:pt x="197764" y="25400"/>
                </a:lnTo>
                <a:lnTo>
                  <a:pt x="199377" y="25400"/>
                </a:lnTo>
                <a:lnTo>
                  <a:pt x="199707" y="12700"/>
                </a:lnTo>
                <a:close/>
              </a:path>
              <a:path w="233045" h="1676400">
                <a:moveTo>
                  <a:pt x="200685" y="12700"/>
                </a:moveTo>
                <a:lnTo>
                  <a:pt x="199707" y="12700"/>
                </a:lnTo>
                <a:lnTo>
                  <a:pt x="199377" y="25400"/>
                </a:lnTo>
                <a:lnTo>
                  <a:pt x="200685" y="12700"/>
                </a:lnTo>
                <a:close/>
              </a:path>
              <a:path w="233045" h="1676400">
                <a:moveTo>
                  <a:pt x="213563" y="12700"/>
                </a:moveTo>
                <a:lnTo>
                  <a:pt x="200685" y="12700"/>
                </a:lnTo>
                <a:lnTo>
                  <a:pt x="199377" y="25400"/>
                </a:lnTo>
                <a:lnTo>
                  <a:pt x="211747" y="25400"/>
                </a:lnTo>
                <a:lnTo>
                  <a:pt x="213563" y="12700"/>
                </a:lnTo>
                <a:close/>
              </a:path>
              <a:path w="233045" h="1676400">
                <a:moveTo>
                  <a:pt x="214414" y="12700"/>
                </a:moveTo>
                <a:lnTo>
                  <a:pt x="213563" y="12700"/>
                </a:lnTo>
                <a:lnTo>
                  <a:pt x="212090" y="25400"/>
                </a:lnTo>
                <a:lnTo>
                  <a:pt x="214414" y="12700"/>
                </a:lnTo>
                <a:close/>
              </a:path>
              <a:path w="233045" h="1676400">
                <a:moveTo>
                  <a:pt x="71285" y="12700"/>
                </a:moveTo>
                <a:lnTo>
                  <a:pt x="67500" y="12700"/>
                </a:lnTo>
                <a:lnTo>
                  <a:pt x="69027" y="17178"/>
                </a:lnTo>
                <a:lnTo>
                  <a:pt x="71285" y="12700"/>
                </a:lnTo>
                <a:close/>
              </a:path>
              <a:path w="233045" h="1676400">
                <a:moveTo>
                  <a:pt x="212331" y="0"/>
                </a:moveTo>
                <a:lnTo>
                  <a:pt x="128879" y="0"/>
                </a:lnTo>
                <a:lnTo>
                  <a:pt x="110883" y="12700"/>
                </a:lnTo>
                <a:lnTo>
                  <a:pt x="210299" y="12700"/>
                </a:lnTo>
                <a:lnTo>
                  <a:pt x="212331" y="0"/>
                </a:lnTo>
                <a:close/>
              </a:path>
              <a:path w="233045" h="1676400">
                <a:moveTo>
                  <a:pt x="214769" y="0"/>
                </a:moveTo>
                <a:lnTo>
                  <a:pt x="212331" y="0"/>
                </a:lnTo>
                <a:lnTo>
                  <a:pt x="210299" y="12700"/>
                </a:lnTo>
                <a:lnTo>
                  <a:pt x="210896" y="12700"/>
                </a:lnTo>
                <a:lnTo>
                  <a:pt x="214769" y="0"/>
                </a:lnTo>
                <a:close/>
              </a:path>
              <a:path w="233045" h="1676400">
                <a:moveTo>
                  <a:pt x="226263" y="0"/>
                </a:moveTo>
                <a:lnTo>
                  <a:pt x="214769" y="0"/>
                </a:lnTo>
                <a:lnTo>
                  <a:pt x="210896" y="12700"/>
                </a:lnTo>
                <a:lnTo>
                  <a:pt x="227571" y="12700"/>
                </a:lnTo>
                <a:lnTo>
                  <a:pt x="22626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2890" y="1468627"/>
            <a:ext cx="1605279" cy="760222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919583" y="4617084"/>
            <a:ext cx="2372995" cy="789305"/>
            <a:chOff x="919583" y="4617084"/>
            <a:chExt cx="2372995" cy="78930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9583" y="4647437"/>
              <a:ext cx="412518" cy="2311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9017" y="4632578"/>
              <a:ext cx="654608" cy="77381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94278" y="4652009"/>
              <a:ext cx="297687" cy="24587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3206" y="4617084"/>
              <a:ext cx="1402080" cy="701928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6277" y="4988559"/>
            <a:ext cx="153314" cy="223773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3360292" y="4649215"/>
            <a:ext cx="1071880" cy="474980"/>
            <a:chOff x="3360292" y="4649215"/>
            <a:chExt cx="1071880" cy="47498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03472" y="4649215"/>
              <a:ext cx="1028559" cy="45529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60292" y="4992877"/>
              <a:ext cx="399828" cy="130810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1684147" y="6185230"/>
            <a:ext cx="36195" cy="70485"/>
          </a:xfrm>
          <a:custGeom>
            <a:avLst/>
            <a:gdLst/>
            <a:ahLst/>
            <a:cxnLst/>
            <a:rect l="l" t="t" r="r" b="b"/>
            <a:pathLst>
              <a:path w="36194" h="70485">
                <a:moveTo>
                  <a:pt x="13055" y="35056"/>
                </a:moveTo>
                <a:lnTo>
                  <a:pt x="0" y="61556"/>
                </a:lnTo>
                <a:lnTo>
                  <a:pt x="1269" y="65900"/>
                </a:lnTo>
                <a:lnTo>
                  <a:pt x="4571" y="68033"/>
                </a:lnTo>
                <a:lnTo>
                  <a:pt x="8000" y="70167"/>
                </a:lnTo>
                <a:lnTo>
                  <a:pt x="12445" y="69392"/>
                </a:lnTo>
                <a:lnTo>
                  <a:pt x="14985" y="66243"/>
                </a:lnTo>
                <a:lnTo>
                  <a:pt x="35432" y="40195"/>
                </a:lnTo>
                <a:lnTo>
                  <a:pt x="35643" y="38988"/>
                </a:lnTo>
                <a:lnTo>
                  <a:pt x="14096" y="38988"/>
                </a:lnTo>
                <a:lnTo>
                  <a:pt x="13055" y="35056"/>
                </a:lnTo>
                <a:close/>
              </a:path>
              <a:path w="36194" h="70485">
                <a:moveTo>
                  <a:pt x="14858" y="31394"/>
                </a:moveTo>
                <a:lnTo>
                  <a:pt x="13055" y="35056"/>
                </a:lnTo>
                <a:lnTo>
                  <a:pt x="14096" y="38988"/>
                </a:lnTo>
                <a:lnTo>
                  <a:pt x="14858" y="31394"/>
                </a:lnTo>
                <a:close/>
              </a:path>
              <a:path w="36194" h="70485">
                <a:moveTo>
                  <a:pt x="34655" y="31394"/>
                </a:moveTo>
                <a:lnTo>
                  <a:pt x="14858" y="31394"/>
                </a:lnTo>
                <a:lnTo>
                  <a:pt x="14096" y="38988"/>
                </a:lnTo>
                <a:lnTo>
                  <a:pt x="35643" y="38988"/>
                </a:lnTo>
                <a:lnTo>
                  <a:pt x="36067" y="36563"/>
                </a:lnTo>
                <a:lnTo>
                  <a:pt x="35178" y="33185"/>
                </a:lnTo>
                <a:lnTo>
                  <a:pt x="34655" y="31394"/>
                </a:lnTo>
                <a:close/>
              </a:path>
              <a:path w="36194" h="70485">
                <a:moveTo>
                  <a:pt x="15747" y="0"/>
                </a:moveTo>
                <a:lnTo>
                  <a:pt x="8127" y="5016"/>
                </a:lnTo>
                <a:lnTo>
                  <a:pt x="6350" y="9664"/>
                </a:lnTo>
                <a:lnTo>
                  <a:pt x="7523" y="14173"/>
                </a:lnTo>
                <a:lnTo>
                  <a:pt x="13055" y="35056"/>
                </a:lnTo>
                <a:lnTo>
                  <a:pt x="14858" y="31394"/>
                </a:lnTo>
                <a:lnTo>
                  <a:pt x="34655" y="31394"/>
                </a:lnTo>
                <a:lnTo>
                  <a:pt x="31253" y="19761"/>
                </a:lnTo>
                <a:lnTo>
                  <a:pt x="24256" y="19761"/>
                </a:lnTo>
                <a:lnTo>
                  <a:pt x="27939" y="8432"/>
                </a:lnTo>
                <a:lnTo>
                  <a:pt x="31315" y="8432"/>
                </a:lnTo>
                <a:lnTo>
                  <a:pt x="24256" y="2984"/>
                </a:lnTo>
                <a:lnTo>
                  <a:pt x="20700" y="190"/>
                </a:lnTo>
                <a:lnTo>
                  <a:pt x="15747" y="0"/>
                </a:lnTo>
                <a:close/>
              </a:path>
              <a:path w="36194" h="70485">
                <a:moveTo>
                  <a:pt x="27939" y="8432"/>
                </a:moveTo>
                <a:lnTo>
                  <a:pt x="24256" y="19761"/>
                </a:lnTo>
                <a:lnTo>
                  <a:pt x="29964" y="15355"/>
                </a:lnTo>
                <a:lnTo>
                  <a:pt x="27939" y="8432"/>
                </a:lnTo>
                <a:close/>
              </a:path>
              <a:path w="36194" h="70485">
                <a:moveTo>
                  <a:pt x="29964" y="15355"/>
                </a:moveTo>
                <a:lnTo>
                  <a:pt x="24256" y="19761"/>
                </a:lnTo>
                <a:lnTo>
                  <a:pt x="31253" y="19761"/>
                </a:lnTo>
                <a:lnTo>
                  <a:pt x="29964" y="15355"/>
                </a:lnTo>
                <a:close/>
              </a:path>
              <a:path w="36194" h="70485">
                <a:moveTo>
                  <a:pt x="31315" y="8432"/>
                </a:moveTo>
                <a:lnTo>
                  <a:pt x="27939" y="8432"/>
                </a:lnTo>
                <a:lnTo>
                  <a:pt x="29964" y="15355"/>
                </a:lnTo>
                <a:lnTo>
                  <a:pt x="31495" y="14173"/>
                </a:lnTo>
                <a:lnTo>
                  <a:pt x="32130" y="12814"/>
                </a:lnTo>
                <a:lnTo>
                  <a:pt x="32006" y="9664"/>
                </a:lnTo>
                <a:lnTo>
                  <a:pt x="31495" y="8572"/>
                </a:lnTo>
                <a:lnTo>
                  <a:pt x="31315" y="8432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62509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Gains</a:t>
            </a:r>
            <a:r>
              <a:rPr dirty="0" spc="-65"/>
              <a:t> </a:t>
            </a:r>
            <a:r>
              <a:rPr dirty="0" spc="-5"/>
              <a:t>Chart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6375" indent="-180340">
              <a:lnSpc>
                <a:spcPct val="100000"/>
              </a:lnSpc>
              <a:spcBef>
                <a:spcPts val="95"/>
              </a:spcBef>
              <a:buClr>
                <a:srgbClr val="00ADDE"/>
              </a:buClr>
              <a:buFont typeface="Wingdings"/>
              <a:buChar char=""/>
              <a:tabLst>
                <a:tab pos="207010" algn="l"/>
              </a:tabLst>
            </a:pPr>
            <a:r>
              <a:rPr dirty="0" spc="-5"/>
              <a:t>Build </a:t>
            </a:r>
            <a:r>
              <a:rPr dirty="0" spc="-10"/>
              <a:t>deciles</a:t>
            </a:r>
            <a:r>
              <a:rPr dirty="0" spc="5"/>
              <a:t> </a:t>
            </a:r>
            <a:r>
              <a:rPr dirty="0" spc="-5"/>
              <a:t>based</a:t>
            </a:r>
            <a:r>
              <a:rPr dirty="0" spc="-10"/>
              <a:t> </a:t>
            </a:r>
            <a:r>
              <a:rPr dirty="0" spc="-5"/>
              <a:t>on</a:t>
            </a:r>
            <a:r>
              <a:rPr dirty="0"/>
              <a:t> </a:t>
            </a:r>
            <a:r>
              <a:rPr dirty="0" spc="-10"/>
              <a:t>Predicted Probability</a:t>
            </a:r>
          </a:p>
          <a:p>
            <a:pPr marL="13970">
              <a:lnSpc>
                <a:spcPct val="100000"/>
              </a:lnSpc>
              <a:spcBef>
                <a:spcPts val="20"/>
              </a:spcBef>
              <a:buClr>
                <a:srgbClr val="00ADDE"/>
              </a:buClr>
              <a:buFont typeface="Wingdings"/>
              <a:buChar char=""/>
            </a:pPr>
            <a:endParaRPr sz="2700"/>
          </a:p>
          <a:p>
            <a:pPr marL="206375" indent="-180340">
              <a:lnSpc>
                <a:spcPct val="100000"/>
              </a:lnSpc>
              <a:buClr>
                <a:srgbClr val="00ADDE"/>
              </a:buClr>
              <a:buFont typeface="Wingdings"/>
              <a:buChar char=""/>
              <a:tabLst>
                <a:tab pos="207010" algn="l"/>
              </a:tabLst>
            </a:pPr>
            <a:r>
              <a:rPr dirty="0" spc="-15"/>
              <a:t>Summarize</a:t>
            </a:r>
            <a:r>
              <a:rPr dirty="0" spc="25"/>
              <a:t> </a:t>
            </a:r>
            <a:r>
              <a:rPr dirty="0" spc="-20"/>
              <a:t>Data</a:t>
            </a:r>
            <a:r>
              <a:rPr dirty="0" spc="-10"/>
              <a:t> across</a:t>
            </a:r>
            <a:r>
              <a:rPr dirty="0" spc="10"/>
              <a:t> </a:t>
            </a:r>
            <a:r>
              <a:rPr dirty="0" spc="-10"/>
              <a:t>the</a:t>
            </a:r>
            <a:r>
              <a:rPr dirty="0" spc="15"/>
              <a:t> </a:t>
            </a:r>
            <a:r>
              <a:rPr dirty="0" spc="-5"/>
              <a:t>deciles</a:t>
            </a:r>
            <a:r>
              <a:rPr dirty="0" spc="10"/>
              <a:t> </a:t>
            </a:r>
            <a:r>
              <a:rPr dirty="0" spc="-20"/>
              <a:t>to</a:t>
            </a:r>
            <a:r>
              <a:rPr dirty="0" spc="10"/>
              <a:t> </a:t>
            </a:r>
            <a:r>
              <a:rPr dirty="0" spc="-15"/>
              <a:t>calculate</a:t>
            </a:r>
            <a:r>
              <a:rPr dirty="0" spc="5"/>
              <a:t> </a:t>
            </a:r>
            <a:r>
              <a:rPr dirty="0" spc="-5"/>
              <a:t>the</a:t>
            </a:r>
            <a:r>
              <a:rPr dirty="0" spc="5"/>
              <a:t> </a:t>
            </a:r>
            <a:r>
              <a:rPr dirty="0" spc="-10"/>
              <a:t>Cumulative</a:t>
            </a:r>
            <a:r>
              <a:rPr dirty="0" spc="5"/>
              <a:t> </a:t>
            </a:r>
            <a:r>
              <a:rPr dirty="0" spc="-5"/>
              <a:t>Actual</a:t>
            </a:r>
            <a:r>
              <a:rPr dirty="0"/>
              <a:t> </a:t>
            </a:r>
            <a:r>
              <a:rPr dirty="0" spc="-25"/>
              <a:t>Event</a:t>
            </a:r>
            <a:r>
              <a:rPr dirty="0"/>
              <a:t> </a:t>
            </a:r>
            <a:r>
              <a:rPr dirty="0" spc="-10"/>
              <a:t>Capture</a:t>
            </a:r>
            <a:r>
              <a:rPr dirty="0" spc="5"/>
              <a:t> </a:t>
            </a:r>
            <a:r>
              <a:rPr dirty="0" spc="-15"/>
              <a:t>Rate</a:t>
            </a:r>
          </a:p>
          <a:p>
            <a:pPr lvl="1" marL="712470" indent="-180975">
              <a:lnSpc>
                <a:spcPct val="100000"/>
              </a:lnSpc>
              <a:spcBef>
                <a:spcPts val="335"/>
              </a:spcBef>
              <a:buClr>
                <a:srgbClr val="00ADDE"/>
              </a:buClr>
              <a:buFont typeface="Wingdings"/>
              <a:buChar char=""/>
              <a:tabLst>
                <a:tab pos="713105" algn="l"/>
              </a:tabLst>
            </a:pPr>
            <a:r>
              <a:rPr dirty="0" sz="2200" spc="-35" i="1">
                <a:latin typeface="Calibri"/>
                <a:cs typeface="Calibri"/>
              </a:rPr>
              <a:t>Target=1</a:t>
            </a:r>
            <a:r>
              <a:rPr dirty="0" sz="2200" spc="10" i="1">
                <a:latin typeface="Calibri"/>
                <a:cs typeface="Calibri"/>
              </a:rPr>
              <a:t> </a:t>
            </a:r>
            <a:r>
              <a:rPr dirty="0" sz="2200" spc="-5" i="1">
                <a:latin typeface="Calibri"/>
                <a:cs typeface="Calibri"/>
              </a:rPr>
              <a:t>is </a:t>
            </a:r>
            <a:r>
              <a:rPr dirty="0" sz="2200" spc="-20" i="1">
                <a:latin typeface="Calibri"/>
                <a:cs typeface="Calibri"/>
              </a:rPr>
              <a:t>Event</a:t>
            </a:r>
            <a:r>
              <a:rPr dirty="0" sz="220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and</a:t>
            </a:r>
            <a:r>
              <a:rPr dirty="0" sz="2200" i="1">
                <a:latin typeface="Calibri"/>
                <a:cs typeface="Calibri"/>
              </a:rPr>
              <a:t> </a:t>
            </a:r>
            <a:r>
              <a:rPr dirty="0" sz="2200" spc="-35" i="1">
                <a:latin typeface="Calibri"/>
                <a:cs typeface="Calibri"/>
              </a:rPr>
              <a:t>Target=0</a:t>
            </a:r>
            <a:r>
              <a:rPr dirty="0" sz="2200" spc="10" i="1">
                <a:latin typeface="Calibri"/>
                <a:cs typeface="Calibri"/>
              </a:rPr>
              <a:t> </a:t>
            </a:r>
            <a:r>
              <a:rPr dirty="0" sz="2200" spc="-5" i="1">
                <a:latin typeface="Calibri"/>
                <a:cs typeface="Calibri"/>
              </a:rPr>
              <a:t>is </a:t>
            </a:r>
            <a:r>
              <a:rPr dirty="0" sz="2200" spc="-15" i="1">
                <a:latin typeface="Calibri"/>
                <a:cs typeface="Calibri"/>
              </a:rPr>
              <a:t>Non-Event</a:t>
            </a:r>
            <a:endParaRPr sz="2200">
              <a:latin typeface="Calibri"/>
              <a:cs typeface="Calibri"/>
            </a:endParaRPr>
          </a:p>
          <a:p>
            <a:pPr lvl="1" marL="13970">
              <a:lnSpc>
                <a:spcPct val="100000"/>
              </a:lnSpc>
              <a:spcBef>
                <a:spcPts val="15"/>
              </a:spcBef>
              <a:buClr>
                <a:srgbClr val="00ADDE"/>
              </a:buClr>
              <a:buFont typeface="Wingdings"/>
              <a:buChar char=""/>
            </a:pPr>
            <a:endParaRPr sz="2700">
              <a:latin typeface="Calibri"/>
              <a:cs typeface="Calibri"/>
            </a:endParaRPr>
          </a:p>
          <a:p>
            <a:pPr marL="206375" indent="-180340">
              <a:lnSpc>
                <a:spcPct val="100000"/>
              </a:lnSpc>
              <a:spcBef>
                <a:spcPts val="5"/>
              </a:spcBef>
              <a:buClr>
                <a:srgbClr val="00ADDE"/>
              </a:buClr>
              <a:buFont typeface="Wingdings"/>
              <a:buChar char=""/>
              <a:tabLst>
                <a:tab pos="207010" algn="l"/>
              </a:tabLst>
            </a:pPr>
            <a:r>
              <a:rPr dirty="0" spc="-5"/>
              <a:t>Compare</a:t>
            </a:r>
            <a:r>
              <a:rPr dirty="0"/>
              <a:t> </a:t>
            </a:r>
            <a:r>
              <a:rPr dirty="0" spc="-10"/>
              <a:t>Models</a:t>
            </a:r>
            <a:r>
              <a:rPr dirty="0"/>
              <a:t> </a:t>
            </a:r>
            <a:r>
              <a:rPr dirty="0" spc="-5"/>
              <a:t>based</a:t>
            </a:r>
            <a:r>
              <a:rPr dirty="0" spc="5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 spc="-10"/>
              <a:t>the</a:t>
            </a:r>
            <a:r>
              <a:rPr dirty="0" spc="10"/>
              <a:t> </a:t>
            </a:r>
            <a:r>
              <a:rPr dirty="0" spc="-10"/>
              <a:t>Cumulative</a:t>
            </a:r>
            <a:r>
              <a:rPr dirty="0" spc="5"/>
              <a:t> </a:t>
            </a:r>
            <a:r>
              <a:rPr dirty="0" spc="-25"/>
              <a:t>Event</a:t>
            </a:r>
            <a:r>
              <a:rPr dirty="0" spc="-5"/>
              <a:t> </a:t>
            </a:r>
            <a:r>
              <a:rPr dirty="0" spc="-10"/>
              <a:t>Capture</a:t>
            </a:r>
            <a:r>
              <a:rPr dirty="0" spc="5"/>
              <a:t> </a:t>
            </a:r>
            <a:r>
              <a:rPr dirty="0" spc="-20"/>
              <a:t>Rate</a:t>
            </a:r>
            <a:r>
              <a:rPr dirty="0" spc="25"/>
              <a:t> </a:t>
            </a:r>
            <a:r>
              <a:rPr dirty="0" spc="-5"/>
              <a:t>till</a:t>
            </a:r>
            <a:r>
              <a:rPr dirty="0" spc="-10"/>
              <a:t> Decile</a:t>
            </a:r>
            <a:r>
              <a:rPr dirty="0" spc="50"/>
              <a:t> </a:t>
            </a:r>
            <a:r>
              <a:rPr dirty="0" spc="-5"/>
              <a:t>3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281991" y="4259384"/>
            <a:ext cx="3353435" cy="2292985"/>
            <a:chOff x="6281991" y="4259384"/>
            <a:chExt cx="3353435" cy="2292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1991" y="4259384"/>
              <a:ext cx="3353216" cy="22929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1915" y="4323841"/>
              <a:ext cx="3053461" cy="19081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437257" y="4929378"/>
            <a:ext cx="33305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8FAADC"/>
                </a:solidFill>
                <a:latin typeface="Calibri"/>
                <a:cs typeface="Calibri"/>
              </a:rPr>
              <a:t>Example</a:t>
            </a:r>
            <a:r>
              <a:rPr dirty="0" sz="2700" spc="-20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8FAADC"/>
                </a:solidFill>
                <a:latin typeface="Calibri"/>
                <a:cs typeface="Calibri"/>
              </a:rPr>
              <a:t>of</a:t>
            </a:r>
            <a:r>
              <a:rPr dirty="0" sz="2700" spc="-20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8FAADC"/>
                </a:solidFill>
                <a:latin typeface="Calibri"/>
                <a:cs typeface="Calibri"/>
              </a:rPr>
              <a:t>Gains</a:t>
            </a:r>
            <a:r>
              <a:rPr dirty="0" sz="2700" spc="-10" b="1">
                <a:solidFill>
                  <a:srgbClr val="8FAADC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8FAADC"/>
                </a:solidFill>
                <a:latin typeface="Calibri"/>
                <a:cs typeface="Calibri"/>
              </a:rPr>
              <a:t>Chart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9469" y="602106"/>
            <a:ext cx="3456812" cy="163982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944100" y="769873"/>
            <a:ext cx="1793239" cy="634365"/>
            <a:chOff x="9944100" y="769873"/>
            <a:chExt cx="1793239" cy="63436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52052" y="1217802"/>
              <a:ext cx="570560" cy="1621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43792" y="1192783"/>
              <a:ext cx="248284" cy="18757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44100" y="769873"/>
              <a:ext cx="1150062" cy="6341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76470" y="778636"/>
              <a:ext cx="560869" cy="271652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6230620" y="4027932"/>
            <a:ext cx="69215" cy="6985"/>
          </a:xfrm>
          <a:custGeom>
            <a:avLst/>
            <a:gdLst/>
            <a:ahLst/>
            <a:cxnLst/>
            <a:rect l="l" t="t" r="r" b="b"/>
            <a:pathLst>
              <a:path w="69214" h="6985">
                <a:moveTo>
                  <a:pt x="13207" y="0"/>
                </a:moveTo>
                <a:lnTo>
                  <a:pt x="1524" y="0"/>
                </a:lnTo>
                <a:lnTo>
                  <a:pt x="0" y="1524"/>
                </a:lnTo>
                <a:lnTo>
                  <a:pt x="0" y="5334"/>
                </a:lnTo>
                <a:lnTo>
                  <a:pt x="1524" y="6985"/>
                </a:lnTo>
                <a:lnTo>
                  <a:pt x="13207" y="6985"/>
                </a:lnTo>
                <a:lnTo>
                  <a:pt x="66166" y="5969"/>
                </a:lnTo>
                <a:lnTo>
                  <a:pt x="67563" y="5969"/>
                </a:lnTo>
                <a:lnTo>
                  <a:pt x="68706" y="4826"/>
                </a:lnTo>
                <a:lnTo>
                  <a:pt x="68706" y="2032"/>
                </a:lnTo>
                <a:lnTo>
                  <a:pt x="67563" y="889"/>
                </a:lnTo>
                <a:lnTo>
                  <a:pt x="66166" y="889"/>
                </a:lnTo>
                <a:lnTo>
                  <a:pt x="13207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620494" y="3600958"/>
            <a:ext cx="353695" cy="216535"/>
          </a:xfrm>
          <a:custGeom>
            <a:avLst/>
            <a:gdLst/>
            <a:ahLst/>
            <a:cxnLst/>
            <a:rect l="l" t="t" r="r" b="b"/>
            <a:pathLst>
              <a:path w="353695" h="216535">
                <a:moveTo>
                  <a:pt x="35221" y="202437"/>
                </a:moveTo>
                <a:lnTo>
                  <a:pt x="17788" y="202437"/>
                </a:lnTo>
                <a:lnTo>
                  <a:pt x="18169" y="203580"/>
                </a:lnTo>
                <a:lnTo>
                  <a:pt x="18804" y="206755"/>
                </a:lnTo>
                <a:lnTo>
                  <a:pt x="19566" y="208787"/>
                </a:lnTo>
                <a:lnTo>
                  <a:pt x="22487" y="214121"/>
                </a:lnTo>
                <a:lnTo>
                  <a:pt x="25408" y="215772"/>
                </a:lnTo>
                <a:lnTo>
                  <a:pt x="30107" y="215772"/>
                </a:lnTo>
                <a:lnTo>
                  <a:pt x="35822" y="216153"/>
                </a:lnTo>
                <a:lnTo>
                  <a:pt x="57114" y="202818"/>
                </a:lnTo>
                <a:lnTo>
                  <a:pt x="35949" y="202818"/>
                </a:lnTo>
                <a:lnTo>
                  <a:pt x="35722" y="202691"/>
                </a:lnTo>
                <a:lnTo>
                  <a:pt x="35314" y="202691"/>
                </a:lnTo>
                <a:lnTo>
                  <a:pt x="35221" y="202437"/>
                </a:lnTo>
                <a:close/>
              </a:path>
              <a:path w="353695" h="216535">
                <a:moveTo>
                  <a:pt x="30107" y="215772"/>
                </a:moveTo>
                <a:lnTo>
                  <a:pt x="28456" y="215772"/>
                </a:lnTo>
                <a:lnTo>
                  <a:pt x="30615" y="215899"/>
                </a:lnTo>
                <a:lnTo>
                  <a:pt x="30107" y="215772"/>
                </a:lnTo>
                <a:close/>
              </a:path>
              <a:path w="353695" h="216535">
                <a:moveTo>
                  <a:pt x="17892" y="202880"/>
                </a:moveTo>
                <a:lnTo>
                  <a:pt x="18057" y="203580"/>
                </a:lnTo>
                <a:lnTo>
                  <a:pt x="17892" y="202880"/>
                </a:lnTo>
                <a:close/>
              </a:path>
              <a:path w="353695" h="216535">
                <a:moveTo>
                  <a:pt x="17788" y="202437"/>
                </a:moveTo>
                <a:lnTo>
                  <a:pt x="17892" y="202880"/>
                </a:lnTo>
                <a:lnTo>
                  <a:pt x="18169" y="203580"/>
                </a:lnTo>
                <a:lnTo>
                  <a:pt x="17788" y="202437"/>
                </a:lnTo>
                <a:close/>
              </a:path>
              <a:path w="353695" h="216535">
                <a:moveTo>
                  <a:pt x="25138" y="154177"/>
                </a:moveTo>
                <a:lnTo>
                  <a:pt x="8390" y="154177"/>
                </a:lnTo>
                <a:lnTo>
                  <a:pt x="9787" y="166369"/>
                </a:lnTo>
                <a:lnTo>
                  <a:pt x="9787" y="166496"/>
                </a:lnTo>
                <a:lnTo>
                  <a:pt x="11311" y="178688"/>
                </a:lnTo>
                <a:lnTo>
                  <a:pt x="13851" y="188467"/>
                </a:lnTo>
                <a:lnTo>
                  <a:pt x="15502" y="196722"/>
                </a:lnTo>
                <a:lnTo>
                  <a:pt x="16285" y="198815"/>
                </a:lnTo>
                <a:lnTo>
                  <a:pt x="17892" y="202880"/>
                </a:lnTo>
                <a:lnTo>
                  <a:pt x="17788" y="202437"/>
                </a:lnTo>
                <a:lnTo>
                  <a:pt x="35221" y="202437"/>
                </a:lnTo>
                <a:lnTo>
                  <a:pt x="31408" y="200278"/>
                </a:lnTo>
                <a:lnTo>
                  <a:pt x="30742" y="200278"/>
                </a:lnTo>
                <a:lnTo>
                  <a:pt x="31010" y="200056"/>
                </a:lnTo>
                <a:lnTo>
                  <a:pt x="28456" y="198627"/>
                </a:lnTo>
                <a:lnTo>
                  <a:pt x="30107" y="198627"/>
                </a:lnTo>
                <a:lnTo>
                  <a:pt x="32963" y="198437"/>
                </a:lnTo>
                <a:lnTo>
                  <a:pt x="34026" y="197556"/>
                </a:lnTo>
                <a:lnTo>
                  <a:pt x="33917" y="197230"/>
                </a:lnTo>
                <a:lnTo>
                  <a:pt x="32361" y="193293"/>
                </a:lnTo>
                <a:lnTo>
                  <a:pt x="32139" y="193293"/>
                </a:lnTo>
                <a:lnTo>
                  <a:pt x="31847" y="192124"/>
                </a:lnTo>
                <a:lnTo>
                  <a:pt x="31825" y="191769"/>
                </a:lnTo>
                <a:lnTo>
                  <a:pt x="30361" y="184657"/>
                </a:lnTo>
                <a:lnTo>
                  <a:pt x="30234" y="184276"/>
                </a:lnTo>
                <a:lnTo>
                  <a:pt x="27928" y="175433"/>
                </a:lnTo>
                <a:lnTo>
                  <a:pt x="26442" y="164464"/>
                </a:lnTo>
                <a:lnTo>
                  <a:pt x="25138" y="154177"/>
                </a:lnTo>
                <a:close/>
              </a:path>
              <a:path w="353695" h="216535">
                <a:moveTo>
                  <a:pt x="34954" y="201159"/>
                </a:moveTo>
                <a:lnTo>
                  <a:pt x="35247" y="202404"/>
                </a:lnTo>
                <a:lnTo>
                  <a:pt x="35949" y="202818"/>
                </a:lnTo>
                <a:lnTo>
                  <a:pt x="34954" y="201159"/>
                </a:lnTo>
                <a:close/>
              </a:path>
              <a:path w="353695" h="216535">
                <a:moveTo>
                  <a:pt x="62172" y="198246"/>
                </a:moveTo>
                <a:lnTo>
                  <a:pt x="35822" y="198246"/>
                </a:lnTo>
                <a:lnTo>
                  <a:pt x="34402" y="198815"/>
                </a:lnTo>
                <a:lnTo>
                  <a:pt x="34954" y="201159"/>
                </a:lnTo>
                <a:lnTo>
                  <a:pt x="35949" y="202818"/>
                </a:lnTo>
                <a:lnTo>
                  <a:pt x="57114" y="202818"/>
                </a:lnTo>
                <a:lnTo>
                  <a:pt x="62172" y="198246"/>
                </a:lnTo>
                <a:close/>
              </a:path>
              <a:path w="353695" h="216535">
                <a:moveTo>
                  <a:pt x="35252" y="202429"/>
                </a:moveTo>
                <a:lnTo>
                  <a:pt x="35314" y="202691"/>
                </a:lnTo>
                <a:lnTo>
                  <a:pt x="35722" y="202691"/>
                </a:lnTo>
                <a:lnTo>
                  <a:pt x="35252" y="202429"/>
                </a:lnTo>
                <a:close/>
              </a:path>
              <a:path w="353695" h="216535">
                <a:moveTo>
                  <a:pt x="34425" y="200278"/>
                </a:moveTo>
                <a:lnTo>
                  <a:pt x="35208" y="202404"/>
                </a:lnTo>
                <a:lnTo>
                  <a:pt x="34954" y="201159"/>
                </a:lnTo>
                <a:lnTo>
                  <a:pt x="34425" y="200278"/>
                </a:lnTo>
                <a:close/>
              </a:path>
              <a:path w="353695" h="216535">
                <a:moveTo>
                  <a:pt x="34402" y="198815"/>
                </a:moveTo>
                <a:lnTo>
                  <a:pt x="31130" y="200123"/>
                </a:lnTo>
                <a:lnTo>
                  <a:pt x="35208" y="202404"/>
                </a:lnTo>
                <a:lnTo>
                  <a:pt x="34425" y="200278"/>
                </a:lnTo>
                <a:lnTo>
                  <a:pt x="34746" y="200278"/>
                </a:lnTo>
                <a:lnTo>
                  <a:pt x="34402" y="198815"/>
                </a:lnTo>
                <a:close/>
              </a:path>
              <a:path w="353695" h="216535">
                <a:moveTo>
                  <a:pt x="34746" y="200278"/>
                </a:moveTo>
                <a:lnTo>
                  <a:pt x="34425" y="200278"/>
                </a:lnTo>
                <a:lnTo>
                  <a:pt x="34954" y="201159"/>
                </a:lnTo>
                <a:lnTo>
                  <a:pt x="34746" y="200278"/>
                </a:lnTo>
                <a:close/>
              </a:path>
              <a:path w="353695" h="216535">
                <a:moveTo>
                  <a:pt x="31010" y="200056"/>
                </a:moveTo>
                <a:lnTo>
                  <a:pt x="30742" y="200278"/>
                </a:lnTo>
                <a:lnTo>
                  <a:pt x="31130" y="200123"/>
                </a:lnTo>
                <a:close/>
              </a:path>
              <a:path w="353695" h="216535">
                <a:moveTo>
                  <a:pt x="31130" y="200123"/>
                </a:moveTo>
                <a:lnTo>
                  <a:pt x="30742" y="200278"/>
                </a:lnTo>
                <a:lnTo>
                  <a:pt x="31408" y="200278"/>
                </a:lnTo>
                <a:lnTo>
                  <a:pt x="31130" y="200123"/>
                </a:lnTo>
                <a:close/>
              </a:path>
              <a:path w="353695" h="216535">
                <a:moveTo>
                  <a:pt x="34290" y="198349"/>
                </a:moveTo>
                <a:lnTo>
                  <a:pt x="32963" y="198437"/>
                </a:lnTo>
                <a:lnTo>
                  <a:pt x="31010" y="200056"/>
                </a:lnTo>
                <a:lnTo>
                  <a:pt x="34402" y="198815"/>
                </a:lnTo>
                <a:lnTo>
                  <a:pt x="34290" y="198349"/>
                </a:lnTo>
                <a:close/>
              </a:path>
              <a:path w="353695" h="216535">
                <a:moveTo>
                  <a:pt x="32963" y="198437"/>
                </a:moveTo>
                <a:lnTo>
                  <a:pt x="30107" y="198627"/>
                </a:lnTo>
                <a:lnTo>
                  <a:pt x="28456" y="198627"/>
                </a:lnTo>
                <a:lnTo>
                  <a:pt x="31010" y="200056"/>
                </a:lnTo>
                <a:lnTo>
                  <a:pt x="32963" y="198437"/>
                </a:lnTo>
                <a:close/>
              </a:path>
              <a:path w="353695" h="216535">
                <a:moveTo>
                  <a:pt x="35822" y="198246"/>
                </a:moveTo>
                <a:lnTo>
                  <a:pt x="34290" y="198349"/>
                </a:lnTo>
                <a:lnTo>
                  <a:pt x="34402" y="198815"/>
                </a:lnTo>
                <a:lnTo>
                  <a:pt x="35822" y="198246"/>
                </a:lnTo>
                <a:close/>
              </a:path>
              <a:path w="353695" h="216535">
                <a:moveTo>
                  <a:pt x="34026" y="197556"/>
                </a:moveTo>
                <a:lnTo>
                  <a:pt x="32963" y="198437"/>
                </a:lnTo>
                <a:lnTo>
                  <a:pt x="34290" y="198349"/>
                </a:lnTo>
                <a:lnTo>
                  <a:pt x="34026" y="197556"/>
                </a:lnTo>
                <a:close/>
              </a:path>
              <a:path w="353695" h="216535">
                <a:moveTo>
                  <a:pt x="69477" y="191642"/>
                </a:moveTo>
                <a:lnTo>
                  <a:pt x="41156" y="191642"/>
                </a:lnTo>
                <a:lnTo>
                  <a:pt x="34026" y="197556"/>
                </a:lnTo>
                <a:lnTo>
                  <a:pt x="34290" y="198349"/>
                </a:lnTo>
                <a:lnTo>
                  <a:pt x="35822" y="198246"/>
                </a:lnTo>
                <a:lnTo>
                  <a:pt x="62172" y="198246"/>
                </a:lnTo>
                <a:lnTo>
                  <a:pt x="69477" y="191642"/>
                </a:lnTo>
                <a:close/>
              </a:path>
              <a:path w="353695" h="216535">
                <a:moveTo>
                  <a:pt x="31758" y="191769"/>
                </a:moveTo>
                <a:lnTo>
                  <a:pt x="32139" y="193293"/>
                </a:lnTo>
                <a:lnTo>
                  <a:pt x="31899" y="192124"/>
                </a:lnTo>
                <a:lnTo>
                  <a:pt x="31758" y="191769"/>
                </a:lnTo>
                <a:close/>
              </a:path>
              <a:path w="353695" h="216535">
                <a:moveTo>
                  <a:pt x="31899" y="192124"/>
                </a:moveTo>
                <a:lnTo>
                  <a:pt x="32139" y="193293"/>
                </a:lnTo>
                <a:lnTo>
                  <a:pt x="32361" y="193293"/>
                </a:lnTo>
                <a:lnTo>
                  <a:pt x="31899" y="192124"/>
                </a:lnTo>
                <a:close/>
              </a:path>
              <a:path w="353695" h="216535">
                <a:moveTo>
                  <a:pt x="31825" y="191769"/>
                </a:moveTo>
                <a:lnTo>
                  <a:pt x="31899" y="192124"/>
                </a:lnTo>
                <a:lnTo>
                  <a:pt x="31825" y="191769"/>
                </a:lnTo>
                <a:close/>
              </a:path>
              <a:path w="353695" h="216535">
                <a:moveTo>
                  <a:pt x="291981" y="29590"/>
                </a:moveTo>
                <a:lnTo>
                  <a:pt x="254897" y="47624"/>
                </a:lnTo>
                <a:lnTo>
                  <a:pt x="254770" y="47751"/>
                </a:lnTo>
                <a:lnTo>
                  <a:pt x="214511" y="68198"/>
                </a:lnTo>
                <a:lnTo>
                  <a:pt x="176284" y="90550"/>
                </a:lnTo>
                <a:lnTo>
                  <a:pt x="176157" y="90677"/>
                </a:lnTo>
                <a:lnTo>
                  <a:pt x="140089" y="112521"/>
                </a:lnTo>
                <a:lnTo>
                  <a:pt x="138857" y="113410"/>
                </a:lnTo>
                <a:lnTo>
                  <a:pt x="106815" y="135889"/>
                </a:lnTo>
                <a:lnTo>
                  <a:pt x="78748" y="157860"/>
                </a:lnTo>
                <a:lnTo>
                  <a:pt x="78240" y="158241"/>
                </a:lnTo>
                <a:lnTo>
                  <a:pt x="58923" y="175513"/>
                </a:lnTo>
                <a:lnTo>
                  <a:pt x="40775" y="191896"/>
                </a:lnTo>
                <a:lnTo>
                  <a:pt x="41156" y="191642"/>
                </a:lnTo>
                <a:lnTo>
                  <a:pt x="69621" y="191642"/>
                </a:lnTo>
                <a:lnTo>
                  <a:pt x="91067" y="172719"/>
                </a:lnTo>
                <a:lnTo>
                  <a:pt x="118753" y="151129"/>
                </a:lnTo>
                <a:lnTo>
                  <a:pt x="118915" y="151129"/>
                </a:lnTo>
                <a:lnTo>
                  <a:pt x="150757" y="128777"/>
                </a:lnTo>
                <a:lnTo>
                  <a:pt x="186190" y="107187"/>
                </a:lnTo>
                <a:lnTo>
                  <a:pt x="224072" y="85089"/>
                </a:lnTo>
                <a:lnTo>
                  <a:pt x="223909" y="85089"/>
                </a:lnTo>
                <a:lnTo>
                  <a:pt x="299728" y="44830"/>
                </a:lnTo>
                <a:lnTo>
                  <a:pt x="300236" y="44449"/>
                </a:lnTo>
                <a:lnTo>
                  <a:pt x="322850" y="29844"/>
                </a:lnTo>
                <a:lnTo>
                  <a:pt x="291727" y="29844"/>
                </a:lnTo>
                <a:lnTo>
                  <a:pt x="291981" y="29590"/>
                </a:lnTo>
                <a:close/>
              </a:path>
              <a:path w="353695" h="216535">
                <a:moveTo>
                  <a:pt x="69621" y="191642"/>
                </a:moveTo>
                <a:lnTo>
                  <a:pt x="69477" y="191642"/>
                </a:lnTo>
                <a:lnTo>
                  <a:pt x="69621" y="191642"/>
                </a:lnTo>
                <a:close/>
              </a:path>
              <a:path w="353695" h="216535">
                <a:moveTo>
                  <a:pt x="13724" y="188086"/>
                </a:moveTo>
                <a:lnTo>
                  <a:pt x="13803" y="188467"/>
                </a:lnTo>
                <a:lnTo>
                  <a:pt x="13724" y="188086"/>
                </a:lnTo>
                <a:close/>
              </a:path>
              <a:path w="353695" h="216535">
                <a:moveTo>
                  <a:pt x="27937" y="175433"/>
                </a:moveTo>
                <a:close/>
              </a:path>
              <a:path w="353695" h="216535">
                <a:moveTo>
                  <a:pt x="27810" y="174497"/>
                </a:moveTo>
                <a:lnTo>
                  <a:pt x="27937" y="175433"/>
                </a:lnTo>
                <a:lnTo>
                  <a:pt x="27810" y="174497"/>
                </a:lnTo>
                <a:close/>
              </a:path>
              <a:path w="353695" h="216535">
                <a:moveTo>
                  <a:pt x="91173" y="172719"/>
                </a:moveTo>
                <a:lnTo>
                  <a:pt x="90686" y="173100"/>
                </a:lnTo>
                <a:lnTo>
                  <a:pt x="91173" y="172719"/>
                </a:lnTo>
                <a:close/>
              </a:path>
              <a:path w="353695" h="216535">
                <a:moveTo>
                  <a:pt x="26424" y="164337"/>
                </a:moveTo>
                <a:lnTo>
                  <a:pt x="26424" y="164464"/>
                </a:lnTo>
                <a:lnTo>
                  <a:pt x="26424" y="164337"/>
                </a:lnTo>
                <a:close/>
              </a:path>
              <a:path w="353695" h="216535">
                <a:moveTo>
                  <a:pt x="20219" y="123951"/>
                </a:moveTo>
                <a:lnTo>
                  <a:pt x="14740" y="123951"/>
                </a:lnTo>
                <a:lnTo>
                  <a:pt x="14359" y="125221"/>
                </a:lnTo>
                <a:lnTo>
                  <a:pt x="14299" y="127000"/>
                </a:lnTo>
                <a:lnTo>
                  <a:pt x="14613" y="138302"/>
                </a:lnTo>
                <a:lnTo>
                  <a:pt x="14740" y="141731"/>
                </a:lnTo>
                <a:lnTo>
                  <a:pt x="12073" y="144525"/>
                </a:lnTo>
                <a:lnTo>
                  <a:pt x="8771" y="144652"/>
                </a:lnTo>
                <a:lnTo>
                  <a:pt x="7139" y="144773"/>
                </a:lnTo>
                <a:lnTo>
                  <a:pt x="8390" y="154304"/>
                </a:lnTo>
                <a:lnTo>
                  <a:pt x="25138" y="154177"/>
                </a:lnTo>
                <a:lnTo>
                  <a:pt x="24900" y="152272"/>
                </a:lnTo>
                <a:lnTo>
                  <a:pt x="24823" y="151510"/>
                </a:lnTo>
                <a:lnTo>
                  <a:pt x="22995" y="139445"/>
                </a:lnTo>
                <a:lnTo>
                  <a:pt x="22995" y="139318"/>
                </a:lnTo>
                <a:lnTo>
                  <a:pt x="21322" y="129158"/>
                </a:lnTo>
                <a:lnTo>
                  <a:pt x="21217" y="128142"/>
                </a:lnTo>
                <a:lnTo>
                  <a:pt x="20219" y="123951"/>
                </a:lnTo>
                <a:close/>
              </a:path>
              <a:path w="353695" h="216535">
                <a:moveTo>
                  <a:pt x="118915" y="151129"/>
                </a:moveTo>
                <a:lnTo>
                  <a:pt x="118753" y="151129"/>
                </a:lnTo>
                <a:lnTo>
                  <a:pt x="118372" y="151510"/>
                </a:lnTo>
                <a:lnTo>
                  <a:pt x="118915" y="151129"/>
                </a:lnTo>
                <a:close/>
              </a:path>
              <a:path w="353695" h="216535">
                <a:moveTo>
                  <a:pt x="4318" y="125348"/>
                </a:moveTo>
                <a:lnTo>
                  <a:pt x="1151" y="125348"/>
                </a:lnTo>
                <a:lnTo>
                  <a:pt x="1278" y="126364"/>
                </a:lnTo>
                <a:lnTo>
                  <a:pt x="1312" y="127507"/>
                </a:lnTo>
                <a:lnTo>
                  <a:pt x="2421" y="142366"/>
                </a:lnTo>
                <a:lnTo>
                  <a:pt x="5342" y="144906"/>
                </a:lnTo>
                <a:lnTo>
                  <a:pt x="7139" y="144773"/>
                </a:lnTo>
                <a:lnTo>
                  <a:pt x="6823" y="142366"/>
                </a:lnTo>
                <a:lnTo>
                  <a:pt x="6739" y="141477"/>
                </a:lnTo>
                <a:lnTo>
                  <a:pt x="5574" y="131571"/>
                </a:lnTo>
                <a:lnTo>
                  <a:pt x="5523" y="130682"/>
                </a:lnTo>
                <a:lnTo>
                  <a:pt x="4318" y="125348"/>
                </a:lnTo>
                <a:close/>
              </a:path>
              <a:path w="353695" h="216535">
                <a:moveTo>
                  <a:pt x="3691" y="120522"/>
                </a:moveTo>
                <a:lnTo>
                  <a:pt x="3691" y="121919"/>
                </a:lnTo>
                <a:lnTo>
                  <a:pt x="3945" y="123697"/>
                </a:lnTo>
                <a:lnTo>
                  <a:pt x="5723" y="131571"/>
                </a:lnTo>
                <a:lnTo>
                  <a:pt x="5574" y="131571"/>
                </a:lnTo>
                <a:lnTo>
                  <a:pt x="6739" y="141477"/>
                </a:lnTo>
                <a:lnTo>
                  <a:pt x="6823" y="142366"/>
                </a:lnTo>
                <a:lnTo>
                  <a:pt x="7139" y="144773"/>
                </a:lnTo>
                <a:lnTo>
                  <a:pt x="8771" y="144652"/>
                </a:lnTo>
                <a:lnTo>
                  <a:pt x="12073" y="144525"/>
                </a:lnTo>
                <a:lnTo>
                  <a:pt x="14740" y="141731"/>
                </a:lnTo>
                <a:lnTo>
                  <a:pt x="14613" y="138302"/>
                </a:lnTo>
                <a:lnTo>
                  <a:pt x="14426" y="131571"/>
                </a:lnTo>
                <a:lnTo>
                  <a:pt x="5723" y="131571"/>
                </a:lnTo>
                <a:lnTo>
                  <a:pt x="5469" y="130682"/>
                </a:lnTo>
                <a:lnTo>
                  <a:pt x="14402" y="130682"/>
                </a:lnTo>
                <a:lnTo>
                  <a:pt x="14338" y="128396"/>
                </a:lnTo>
                <a:lnTo>
                  <a:pt x="10295" y="128396"/>
                </a:lnTo>
                <a:lnTo>
                  <a:pt x="8408" y="127888"/>
                </a:lnTo>
                <a:lnTo>
                  <a:pt x="8009" y="127888"/>
                </a:lnTo>
                <a:lnTo>
                  <a:pt x="6358" y="127253"/>
                </a:lnTo>
                <a:lnTo>
                  <a:pt x="8928" y="127253"/>
                </a:lnTo>
                <a:lnTo>
                  <a:pt x="9960" y="127000"/>
                </a:lnTo>
                <a:lnTo>
                  <a:pt x="3691" y="120522"/>
                </a:lnTo>
                <a:close/>
              </a:path>
              <a:path w="353695" h="216535">
                <a:moveTo>
                  <a:pt x="5523" y="130682"/>
                </a:moveTo>
                <a:lnTo>
                  <a:pt x="5723" y="131571"/>
                </a:lnTo>
                <a:lnTo>
                  <a:pt x="5523" y="130682"/>
                </a:lnTo>
                <a:close/>
              </a:path>
              <a:path w="353695" h="216535">
                <a:moveTo>
                  <a:pt x="150873" y="128777"/>
                </a:moveTo>
                <a:lnTo>
                  <a:pt x="150249" y="129158"/>
                </a:lnTo>
                <a:lnTo>
                  <a:pt x="150873" y="128777"/>
                </a:lnTo>
                <a:close/>
              </a:path>
              <a:path w="353695" h="216535">
                <a:moveTo>
                  <a:pt x="9960" y="127000"/>
                </a:moveTo>
                <a:lnTo>
                  <a:pt x="7422" y="127623"/>
                </a:lnTo>
                <a:lnTo>
                  <a:pt x="10295" y="128396"/>
                </a:lnTo>
                <a:lnTo>
                  <a:pt x="11311" y="128396"/>
                </a:lnTo>
                <a:lnTo>
                  <a:pt x="9960" y="127000"/>
                </a:lnTo>
                <a:close/>
              </a:path>
              <a:path w="353695" h="216535">
                <a:moveTo>
                  <a:pt x="13279" y="126186"/>
                </a:moveTo>
                <a:lnTo>
                  <a:pt x="9960" y="127000"/>
                </a:lnTo>
                <a:lnTo>
                  <a:pt x="11311" y="128396"/>
                </a:lnTo>
                <a:lnTo>
                  <a:pt x="14338" y="128396"/>
                </a:lnTo>
                <a:lnTo>
                  <a:pt x="14306" y="127253"/>
                </a:lnTo>
                <a:lnTo>
                  <a:pt x="12581" y="127253"/>
                </a:lnTo>
                <a:lnTo>
                  <a:pt x="13279" y="126186"/>
                </a:lnTo>
                <a:close/>
              </a:path>
              <a:path w="353695" h="216535">
                <a:moveTo>
                  <a:pt x="7078" y="127530"/>
                </a:moveTo>
                <a:lnTo>
                  <a:pt x="8009" y="127888"/>
                </a:lnTo>
                <a:lnTo>
                  <a:pt x="7374" y="127634"/>
                </a:lnTo>
                <a:lnTo>
                  <a:pt x="7078" y="127530"/>
                </a:lnTo>
                <a:close/>
              </a:path>
              <a:path w="353695" h="216535">
                <a:moveTo>
                  <a:pt x="7422" y="127623"/>
                </a:moveTo>
                <a:lnTo>
                  <a:pt x="8009" y="127888"/>
                </a:lnTo>
                <a:lnTo>
                  <a:pt x="8408" y="127888"/>
                </a:lnTo>
                <a:lnTo>
                  <a:pt x="7422" y="127623"/>
                </a:lnTo>
                <a:close/>
              </a:path>
              <a:path w="353695" h="216535">
                <a:moveTo>
                  <a:pt x="8928" y="127253"/>
                </a:moveTo>
                <a:lnTo>
                  <a:pt x="6358" y="127253"/>
                </a:lnTo>
                <a:lnTo>
                  <a:pt x="7078" y="127530"/>
                </a:lnTo>
                <a:lnTo>
                  <a:pt x="7422" y="127623"/>
                </a:lnTo>
                <a:lnTo>
                  <a:pt x="8928" y="127253"/>
                </a:lnTo>
                <a:close/>
              </a:path>
              <a:path w="353695" h="216535">
                <a:moveTo>
                  <a:pt x="14105" y="125983"/>
                </a:moveTo>
                <a:lnTo>
                  <a:pt x="13279" y="126186"/>
                </a:lnTo>
                <a:lnTo>
                  <a:pt x="12581" y="127253"/>
                </a:lnTo>
                <a:lnTo>
                  <a:pt x="14105" y="125983"/>
                </a:lnTo>
                <a:close/>
              </a:path>
              <a:path w="353695" h="216535">
                <a:moveTo>
                  <a:pt x="14132" y="125983"/>
                </a:moveTo>
                <a:lnTo>
                  <a:pt x="12581" y="127253"/>
                </a:lnTo>
                <a:lnTo>
                  <a:pt x="14306" y="127253"/>
                </a:lnTo>
                <a:lnTo>
                  <a:pt x="14282" y="126364"/>
                </a:lnTo>
                <a:lnTo>
                  <a:pt x="14105" y="126364"/>
                </a:lnTo>
                <a:lnTo>
                  <a:pt x="14132" y="125983"/>
                </a:lnTo>
                <a:close/>
              </a:path>
              <a:path w="353695" h="216535">
                <a:moveTo>
                  <a:pt x="19367" y="120522"/>
                </a:moveTo>
                <a:lnTo>
                  <a:pt x="3691" y="120522"/>
                </a:lnTo>
                <a:lnTo>
                  <a:pt x="9960" y="127000"/>
                </a:lnTo>
                <a:lnTo>
                  <a:pt x="13279" y="126186"/>
                </a:lnTo>
                <a:lnTo>
                  <a:pt x="14740" y="123951"/>
                </a:lnTo>
                <a:lnTo>
                  <a:pt x="20219" y="123951"/>
                </a:lnTo>
                <a:lnTo>
                  <a:pt x="19736" y="121919"/>
                </a:lnTo>
                <a:lnTo>
                  <a:pt x="19566" y="121919"/>
                </a:lnTo>
                <a:lnTo>
                  <a:pt x="19367" y="120522"/>
                </a:lnTo>
                <a:close/>
              </a:path>
              <a:path w="353695" h="216535">
                <a:moveTo>
                  <a:pt x="1208" y="126106"/>
                </a:moveTo>
                <a:lnTo>
                  <a:pt x="1227" y="126364"/>
                </a:lnTo>
                <a:lnTo>
                  <a:pt x="1208" y="126106"/>
                </a:lnTo>
                <a:close/>
              </a:path>
              <a:path w="353695" h="216535">
                <a:moveTo>
                  <a:pt x="14236" y="124723"/>
                </a:moveTo>
                <a:lnTo>
                  <a:pt x="14105" y="126364"/>
                </a:lnTo>
                <a:lnTo>
                  <a:pt x="14175" y="125983"/>
                </a:lnTo>
                <a:lnTo>
                  <a:pt x="14236" y="124723"/>
                </a:lnTo>
                <a:close/>
              </a:path>
              <a:path w="353695" h="216535">
                <a:moveTo>
                  <a:pt x="14258" y="125523"/>
                </a:moveTo>
                <a:lnTo>
                  <a:pt x="14105" y="126364"/>
                </a:lnTo>
                <a:lnTo>
                  <a:pt x="14282" y="126364"/>
                </a:lnTo>
                <a:lnTo>
                  <a:pt x="14258" y="125523"/>
                </a:lnTo>
                <a:close/>
              </a:path>
              <a:path w="353695" h="216535">
                <a:moveTo>
                  <a:pt x="14221" y="124746"/>
                </a:moveTo>
                <a:lnTo>
                  <a:pt x="13279" y="126186"/>
                </a:lnTo>
                <a:lnTo>
                  <a:pt x="14105" y="125983"/>
                </a:lnTo>
                <a:lnTo>
                  <a:pt x="14221" y="124746"/>
                </a:lnTo>
                <a:close/>
              </a:path>
              <a:path w="353695" h="216535">
                <a:moveTo>
                  <a:pt x="13470" y="112521"/>
                </a:moveTo>
                <a:lnTo>
                  <a:pt x="11311" y="112521"/>
                </a:lnTo>
                <a:lnTo>
                  <a:pt x="10295" y="112648"/>
                </a:lnTo>
                <a:lnTo>
                  <a:pt x="0" y="121919"/>
                </a:lnTo>
                <a:lnTo>
                  <a:pt x="1024" y="125221"/>
                </a:lnTo>
                <a:lnTo>
                  <a:pt x="1049" y="125523"/>
                </a:lnTo>
                <a:lnTo>
                  <a:pt x="1208" y="126106"/>
                </a:lnTo>
                <a:lnTo>
                  <a:pt x="1151" y="125348"/>
                </a:lnTo>
                <a:lnTo>
                  <a:pt x="4318" y="125348"/>
                </a:lnTo>
                <a:lnTo>
                  <a:pt x="3945" y="123697"/>
                </a:lnTo>
                <a:lnTo>
                  <a:pt x="3691" y="121919"/>
                </a:lnTo>
                <a:lnTo>
                  <a:pt x="3691" y="120522"/>
                </a:lnTo>
                <a:lnTo>
                  <a:pt x="19367" y="120522"/>
                </a:lnTo>
                <a:lnTo>
                  <a:pt x="19312" y="120141"/>
                </a:lnTo>
                <a:lnTo>
                  <a:pt x="19566" y="120141"/>
                </a:lnTo>
                <a:lnTo>
                  <a:pt x="19566" y="118363"/>
                </a:lnTo>
                <a:lnTo>
                  <a:pt x="18677" y="116331"/>
                </a:lnTo>
                <a:lnTo>
                  <a:pt x="15629" y="113283"/>
                </a:lnTo>
                <a:lnTo>
                  <a:pt x="13470" y="112521"/>
                </a:lnTo>
                <a:close/>
              </a:path>
              <a:path w="353695" h="216535">
                <a:moveTo>
                  <a:pt x="14740" y="123951"/>
                </a:moveTo>
                <a:lnTo>
                  <a:pt x="14325" y="124586"/>
                </a:lnTo>
                <a:lnTo>
                  <a:pt x="14258" y="125523"/>
                </a:lnTo>
                <a:lnTo>
                  <a:pt x="14359" y="124967"/>
                </a:lnTo>
                <a:lnTo>
                  <a:pt x="14740" y="123951"/>
                </a:lnTo>
                <a:close/>
              </a:path>
              <a:path w="353695" h="216535">
                <a:moveTo>
                  <a:pt x="897" y="124967"/>
                </a:moveTo>
                <a:lnTo>
                  <a:pt x="967" y="125221"/>
                </a:lnTo>
                <a:lnTo>
                  <a:pt x="897" y="124967"/>
                </a:lnTo>
                <a:close/>
              </a:path>
              <a:path w="353695" h="216535">
                <a:moveTo>
                  <a:pt x="14359" y="124967"/>
                </a:moveTo>
                <a:lnTo>
                  <a:pt x="14313" y="125221"/>
                </a:lnTo>
                <a:lnTo>
                  <a:pt x="14359" y="124967"/>
                </a:lnTo>
                <a:close/>
              </a:path>
              <a:path w="353695" h="216535">
                <a:moveTo>
                  <a:pt x="14435" y="124967"/>
                </a:moveTo>
                <a:lnTo>
                  <a:pt x="14359" y="125221"/>
                </a:lnTo>
                <a:lnTo>
                  <a:pt x="14435" y="124967"/>
                </a:lnTo>
                <a:close/>
              </a:path>
              <a:path w="353695" h="216535">
                <a:moveTo>
                  <a:pt x="14325" y="124586"/>
                </a:moveTo>
                <a:lnTo>
                  <a:pt x="14236" y="124723"/>
                </a:lnTo>
                <a:lnTo>
                  <a:pt x="14325" y="124586"/>
                </a:lnTo>
                <a:close/>
              </a:path>
              <a:path w="353695" h="216535">
                <a:moveTo>
                  <a:pt x="19312" y="120141"/>
                </a:moveTo>
                <a:lnTo>
                  <a:pt x="19566" y="121919"/>
                </a:lnTo>
                <a:lnTo>
                  <a:pt x="19566" y="121208"/>
                </a:lnTo>
                <a:lnTo>
                  <a:pt x="19312" y="120141"/>
                </a:lnTo>
                <a:close/>
              </a:path>
              <a:path w="353695" h="216535">
                <a:moveTo>
                  <a:pt x="19566" y="121208"/>
                </a:moveTo>
                <a:lnTo>
                  <a:pt x="19566" y="121919"/>
                </a:lnTo>
                <a:lnTo>
                  <a:pt x="19736" y="121919"/>
                </a:lnTo>
                <a:lnTo>
                  <a:pt x="19566" y="121208"/>
                </a:lnTo>
                <a:close/>
              </a:path>
              <a:path w="353695" h="216535">
                <a:moveTo>
                  <a:pt x="19566" y="120141"/>
                </a:moveTo>
                <a:lnTo>
                  <a:pt x="19312" y="120141"/>
                </a:lnTo>
                <a:lnTo>
                  <a:pt x="19566" y="121208"/>
                </a:lnTo>
                <a:lnTo>
                  <a:pt x="19566" y="120141"/>
                </a:lnTo>
                <a:close/>
              </a:path>
              <a:path w="353695" h="216535">
                <a:moveTo>
                  <a:pt x="7264" y="113348"/>
                </a:moveTo>
                <a:lnTo>
                  <a:pt x="6993" y="113410"/>
                </a:lnTo>
                <a:lnTo>
                  <a:pt x="6358" y="113791"/>
                </a:lnTo>
                <a:lnTo>
                  <a:pt x="6793" y="113624"/>
                </a:lnTo>
                <a:lnTo>
                  <a:pt x="7264" y="113348"/>
                </a:lnTo>
                <a:close/>
              </a:path>
              <a:path w="353695" h="216535">
                <a:moveTo>
                  <a:pt x="7882" y="113205"/>
                </a:moveTo>
                <a:lnTo>
                  <a:pt x="7264" y="113348"/>
                </a:lnTo>
                <a:lnTo>
                  <a:pt x="6793" y="113624"/>
                </a:lnTo>
                <a:lnTo>
                  <a:pt x="7882" y="113205"/>
                </a:lnTo>
                <a:close/>
              </a:path>
              <a:path w="353695" h="216535">
                <a:moveTo>
                  <a:pt x="8009" y="113156"/>
                </a:moveTo>
                <a:lnTo>
                  <a:pt x="7374" y="113283"/>
                </a:lnTo>
                <a:lnTo>
                  <a:pt x="7882" y="113205"/>
                </a:lnTo>
                <a:lnTo>
                  <a:pt x="8009" y="113156"/>
                </a:lnTo>
                <a:close/>
              </a:path>
              <a:path w="353695" h="216535">
                <a:moveTo>
                  <a:pt x="224290" y="84962"/>
                </a:moveTo>
                <a:lnTo>
                  <a:pt x="223909" y="85089"/>
                </a:lnTo>
                <a:lnTo>
                  <a:pt x="224072" y="85089"/>
                </a:lnTo>
                <a:lnTo>
                  <a:pt x="224290" y="84962"/>
                </a:lnTo>
                <a:close/>
              </a:path>
              <a:path w="353695" h="216535">
                <a:moveTo>
                  <a:pt x="350020" y="0"/>
                </a:moveTo>
                <a:lnTo>
                  <a:pt x="348623" y="762"/>
                </a:lnTo>
                <a:lnTo>
                  <a:pt x="323731" y="12826"/>
                </a:lnTo>
                <a:lnTo>
                  <a:pt x="291727" y="29844"/>
                </a:lnTo>
                <a:lnTo>
                  <a:pt x="322850" y="29844"/>
                </a:lnTo>
                <a:lnTo>
                  <a:pt x="330716" y="24764"/>
                </a:lnTo>
                <a:lnTo>
                  <a:pt x="331605" y="24129"/>
                </a:lnTo>
                <a:lnTo>
                  <a:pt x="353195" y="4825"/>
                </a:lnTo>
                <a:lnTo>
                  <a:pt x="353449" y="3047"/>
                </a:lnTo>
                <a:lnTo>
                  <a:pt x="351671" y="507"/>
                </a:lnTo>
                <a:lnTo>
                  <a:pt x="35002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264132" y="4154042"/>
            <a:ext cx="1323340" cy="1831339"/>
            <a:chOff x="264132" y="4154042"/>
            <a:chExt cx="1323340" cy="1831339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1432" y="4227067"/>
              <a:ext cx="445432" cy="3843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132" y="4154042"/>
              <a:ext cx="1283997" cy="1831047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61998" y="4080002"/>
            <a:ext cx="1272413" cy="51015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70354" y="4057141"/>
            <a:ext cx="250009" cy="32194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70571" y="4107941"/>
            <a:ext cx="434500" cy="31280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4050665" y="4129913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6763" y="0"/>
                </a:moveTo>
                <a:lnTo>
                  <a:pt x="4825" y="0"/>
                </a:lnTo>
                <a:lnTo>
                  <a:pt x="0" y="4953"/>
                </a:lnTo>
                <a:lnTo>
                  <a:pt x="0" y="16891"/>
                </a:lnTo>
                <a:lnTo>
                  <a:pt x="4825" y="21843"/>
                </a:lnTo>
                <a:lnTo>
                  <a:pt x="16763" y="21843"/>
                </a:lnTo>
                <a:lnTo>
                  <a:pt x="21717" y="16891"/>
                </a:lnTo>
                <a:lnTo>
                  <a:pt x="21717" y="10922"/>
                </a:lnTo>
                <a:lnTo>
                  <a:pt x="21717" y="4953"/>
                </a:lnTo>
                <a:lnTo>
                  <a:pt x="16763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84401" y="5537200"/>
            <a:ext cx="498094" cy="44505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34589" y="5581777"/>
            <a:ext cx="517906" cy="40224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13044" y="5537708"/>
            <a:ext cx="694034" cy="37009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3871595" y="563358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16509" y="0"/>
                </a:moveTo>
                <a:lnTo>
                  <a:pt x="4699" y="0"/>
                </a:lnTo>
                <a:lnTo>
                  <a:pt x="0" y="4762"/>
                </a:lnTo>
                <a:lnTo>
                  <a:pt x="0" y="16497"/>
                </a:lnTo>
                <a:lnTo>
                  <a:pt x="4699" y="21247"/>
                </a:lnTo>
                <a:lnTo>
                  <a:pt x="16509" y="21247"/>
                </a:lnTo>
                <a:lnTo>
                  <a:pt x="21208" y="16497"/>
                </a:lnTo>
                <a:lnTo>
                  <a:pt x="21208" y="10629"/>
                </a:lnTo>
                <a:lnTo>
                  <a:pt x="21208" y="4762"/>
                </a:lnTo>
                <a:lnTo>
                  <a:pt x="1650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820" y="1520571"/>
            <a:ext cx="190868" cy="2807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426" y="1490725"/>
            <a:ext cx="123062" cy="2815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0583" y="1457197"/>
            <a:ext cx="236693" cy="3097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30247" y="1837054"/>
            <a:ext cx="240665" cy="52069"/>
          </a:xfrm>
          <a:custGeom>
            <a:avLst/>
            <a:gdLst/>
            <a:ahLst/>
            <a:cxnLst/>
            <a:rect l="l" t="t" r="r" b="b"/>
            <a:pathLst>
              <a:path w="240664" h="52069">
                <a:moveTo>
                  <a:pt x="164464" y="24130"/>
                </a:moveTo>
                <a:lnTo>
                  <a:pt x="143509" y="26670"/>
                </a:lnTo>
                <a:lnTo>
                  <a:pt x="143763" y="26670"/>
                </a:lnTo>
                <a:lnTo>
                  <a:pt x="120014" y="28829"/>
                </a:lnTo>
                <a:lnTo>
                  <a:pt x="94360" y="31750"/>
                </a:lnTo>
                <a:lnTo>
                  <a:pt x="94868" y="31750"/>
                </a:lnTo>
                <a:lnTo>
                  <a:pt x="68960" y="33147"/>
                </a:lnTo>
                <a:lnTo>
                  <a:pt x="67022" y="33159"/>
                </a:lnTo>
                <a:lnTo>
                  <a:pt x="68579" y="34544"/>
                </a:lnTo>
                <a:lnTo>
                  <a:pt x="69087" y="42418"/>
                </a:lnTo>
                <a:lnTo>
                  <a:pt x="66166" y="45847"/>
                </a:lnTo>
                <a:lnTo>
                  <a:pt x="9277" y="51381"/>
                </a:lnTo>
                <a:lnTo>
                  <a:pt x="9905" y="51435"/>
                </a:lnTo>
                <a:lnTo>
                  <a:pt x="69468" y="51943"/>
                </a:lnTo>
                <a:lnTo>
                  <a:pt x="69976" y="51943"/>
                </a:lnTo>
                <a:lnTo>
                  <a:pt x="95884" y="50546"/>
                </a:lnTo>
                <a:lnTo>
                  <a:pt x="96392" y="50419"/>
                </a:lnTo>
                <a:lnTo>
                  <a:pt x="121919" y="47625"/>
                </a:lnTo>
                <a:lnTo>
                  <a:pt x="121792" y="47625"/>
                </a:lnTo>
                <a:lnTo>
                  <a:pt x="145541" y="45466"/>
                </a:lnTo>
                <a:lnTo>
                  <a:pt x="145795" y="45466"/>
                </a:lnTo>
                <a:lnTo>
                  <a:pt x="166750" y="42925"/>
                </a:lnTo>
                <a:lnTo>
                  <a:pt x="167258" y="42925"/>
                </a:lnTo>
                <a:lnTo>
                  <a:pt x="185292" y="39624"/>
                </a:lnTo>
                <a:lnTo>
                  <a:pt x="185673" y="39497"/>
                </a:lnTo>
                <a:lnTo>
                  <a:pt x="198246" y="36703"/>
                </a:lnTo>
                <a:lnTo>
                  <a:pt x="222569" y="24257"/>
                </a:lnTo>
                <a:lnTo>
                  <a:pt x="163829" y="24257"/>
                </a:lnTo>
                <a:lnTo>
                  <a:pt x="164464" y="24130"/>
                </a:lnTo>
                <a:close/>
              </a:path>
              <a:path w="240664" h="52069">
                <a:moveTo>
                  <a:pt x="6134" y="51114"/>
                </a:moveTo>
                <a:lnTo>
                  <a:pt x="7111" y="51562"/>
                </a:lnTo>
                <a:lnTo>
                  <a:pt x="9277" y="51381"/>
                </a:lnTo>
                <a:lnTo>
                  <a:pt x="6134" y="51114"/>
                </a:lnTo>
                <a:close/>
              </a:path>
              <a:path w="240664" h="52069">
                <a:moveTo>
                  <a:pt x="67022" y="33159"/>
                </a:moveTo>
                <a:lnTo>
                  <a:pt x="12496" y="33638"/>
                </a:lnTo>
                <a:lnTo>
                  <a:pt x="1032" y="39624"/>
                </a:lnTo>
                <a:lnTo>
                  <a:pt x="555" y="40621"/>
                </a:lnTo>
                <a:lnTo>
                  <a:pt x="9277" y="51381"/>
                </a:lnTo>
                <a:lnTo>
                  <a:pt x="66166" y="45847"/>
                </a:lnTo>
                <a:lnTo>
                  <a:pt x="69087" y="42418"/>
                </a:lnTo>
                <a:lnTo>
                  <a:pt x="68579" y="34544"/>
                </a:lnTo>
                <a:lnTo>
                  <a:pt x="67022" y="33159"/>
                </a:lnTo>
                <a:close/>
              </a:path>
              <a:path w="240664" h="52069">
                <a:moveTo>
                  <a:pt x="431" y="45156"/>
                </a:moveTo>
                <a:lnTo>
                  <a:pt x="380" y="46990"/>
                </a:lnTo>
                <a:lnTo>
                  <a:pt x="3936" y="50927"/>
                </a:lnTo>
                <a:lnTo>
                  <a:pt x="6134" y="51114"/>
                </a:lnTo>
                <a:lnTo>
                  <a:pt x="4063" y="50165"/>
                </a:lnTo>
                <a:lnTo>
                  <a:pt x="2158" y="47625"/>
                </a:lnTo>
                <a:lnTo>
                  <a:pt x="431" y="45156"/>
                </a:lnTo>
                <a:close/>
              </a:path>
              <a:path w="240664" h="52069">
                <a:moveTo>
                  <a:pt x="555" y="40621"/>
                </a:moveTo>
                <a:lnTo>
                  <a:pt x="0" y="41783"/>
                </a:lnTo>
                <a:lnTo>
                  <a:pt x="380" y="45085"/>
                </a:lnTo>
                <a:lnTo>
                  <a:pt x="555" y="40621"/>
                </a:lnTo>
                <a:close/>
              </a:path>
              <a:path w="240664" h="52069">
                <a:moveTo>
                  <a:pt x="8077" y="33807"/>
                </a:moveTo>
                <a:lnTo>
                  <a:pt x="4317" y="33909"/>
                </a:lnTo>
                <a:lnTo>
                  <a:pt x="634" y="37719"/>
                </a:lnTo>
                <a:lnTo>
                  <a:pt x="555" y="40621"/>
                </a:lnTo>
                <a:lnTo>
                  <a:pt x="1396" y="38862"/>
                </a:lnTo>
                <a:lnTo>
                  <a:pt x="2666" y="36068"/>
                </a:lnTo>
                <a:lnTo>
                  <a:pt x="5333" y="34036"/>
                </a:lnTo>
                <a:lnTo>
                  <a:pt x="8077" y="33807"/>
                </a:lnTo>
                <a:close/>
              </a:path>
              <a:path w="240664" h="52069">
                <a:moveTo>
                  <a:pt x="12496" y="33638"/>
                </a:moveTo>
                <a:lnTo>
                  <a:pt x="10667" y="33655"/>
                </a:lnTo>
                <a:lnTo>
                  <a:pt x="9905" y="33655"/>
                </a:lnTo>
                <a:lnTo>
                  <a:pt x="8077" y="33807"/>
                </a:lnTo>
                <a:lnTo>
                  <a:pt x="12496" y="33638"/>
                </a:lnTo>
                <a:close/>
              </a:path>
              <a:path w="240664" h="52069">
                <a:moveTo>
                  <a:pt x="65150" y="31496"/>
                </a:moveTo>
                <a:lnTo>
                  <a:pt x="12496" y="33638"/>
                </a:lnTo>
                <a:lnTo>
                  <a:pt x="67022" y="33159"/>
                </a:lnTo>
                <a:lnTo>
                  <a:pt x="65150" y="31496"/>
                </a:lnTo>
                <a:close/>
              </a:path>
              <a:path w="240664" h="52069">
                <a:moveTo>
                  <a:pt x="181863" y="20955"/>
                </a:moveTo>
                <a:lnTo>
                  <a:pt x="163829" y="24257"/>
                </a:lnTo>
                <a:lnTo>
                  <a:pt x="222569" y="24257"/>
                </a:lnTo>
                <a:lnTo>
                  <a:pt x="223646" y="22860"/>
                </a:lnTo>
                <a:lnTo>
                  <a:pt x="223955" y="22860"/>
                </a:lnTo>
                <a:lnTo>
                  <a:pt x="225987" y="21082"/>
                </a:lnTo>
                <a:lnTo>
                  <a:pt x="181482" y="21082"/>
                </a:lnTo>
                <a:lnTo>
                  <a:pt x="181863" y="20955"/>
                </a:lnTo>
                <a:close/>
              </a:path>
              <a:path w="240664" h="52069">
                <a:moveTo>
                  <a:pt x="223646" y="22860"/>
                </a:moveTo>
                <a:lnTo>
                  <a:pt x="222503" y="24130"/>
                </a:lnTo>
                <a:lnTo>
                  <a:pt x="223006" y="23690"/>
                </a:lnTo>
                <a:lnTo>
                  <a:pt x="223646" y="22860"/>
                </a:lnTo>
                <a:close/>
              </a:path>
              <a:path w="240664" h="52069">
                <a:moveTo>
                  <a:pt x="223006" y="23690"/>
                </a:moveTo>
                <a:lnTo>
                  <a:pt x="222503" y="24130"/>
                </a:lnTo>
                <a:lnTo>
                  <a:pt x="222667" y="24130"/>
                </a:lnTo>
                <a:lnTo>
                  <a:pt x="223006" y="23690"/>
                </a:lnTo>
                <a:close/>
              </a:path>
              <a:path w="240664" h="52069">
                <a:moveTo>
                  <a:pt x="223955" y="22860"/>
                </a:moveTo>
                <a:lnTo>
                  <a:pt x="223646" y="22860"/>
                </a:lnTo>
                <a:lnTo>
                  <a:pt x="223006" y="23690"/>
                </a:lnTo>
                <a:lnTo>
                  <a:pt x="223955" y="22860"/>
                </a:lnTo>
                <a:close/>
              </a:path>
              <a:path w="240664" h="52069">
                <a:moveTo>
                  <a:pt x="193599" y="18267"/>
                </a:moveTo>
                <a:lnTo>
                  <a:pt x="181482" y="21082"/>
                </a:lnTo>
                <a:lnTo>
                  <a:pt x="225987" y="21082"/>
                </a:lnTo>
                <a:lnTo>
                  <a:pt x="227583" y="19685"/>
                </a:lnTo>
                <a:lnTo>
                  <a:pt x="228091" y="19304"/>
                </a:lnTo>
                <a:lnTo>
                  <a:pt x="228934" y="18415"/>
                </a:lnTo>
                <a:lnTo>
                  <a:pt x="193166" y="18415"/>
                </a:lnTo>
                <a:lnTo>
                  <a:pt x="193599" y="18267"/>
                </a:lnTo>
                <a:close/>
              </a:path>
              <a:path w="240664" h="52069">
                <a:moveTo>
                  <a:pt x="194055" y="18161"/>
                </a:moveTo>
                <a:lnTo>
                  <a:pt x="193599" y="18267"/>
                </a:lnTo>
                <a:lnTo>
                  <a:pt x="193166" y="18415"/>
                </a:lnTo>
                <a:lnTo>
                  <a:pt x="194055" y="18161"/>
                </a:lnTo>
                <a:close/>
              </a:path>
              <a:path w="240664" h="52069">
                <a:moveTo>
                  <a:pt x="229174" y="18161"/>
                </a:moveTo>
                <a:lnTo>
                  <a:pt x="194055" y="18161"/>
                </a:lnTo>
                <a:lnTo>
                  <a:pt x="193166" y="18415"/>
                </a:lnTo>
                <a:lnTo>
                  <a:pt x="228934" y="18415"/>
                </a:lnTo>
                <a:lnTo>
                  <a:pt x="229174" y="18161"/>
                </a:lnTo>
                <a:close/>
              </a:path>
              <a:path w="240664" h="52069">
                <a:moveTo>
                  <a:pt x="232062" y="15112"/>
                </a:moveTo>
                <a:lnTo>
                  <a:pt x="202819" y="15112"/>
                </a:lnTo>
                <a:lnTo>
                  <a:pt x="202183" y="15367"/>
                </a:lnTo>
                <a:lnTo>
                  <a:pt x="193599" y="18267"/>
                </a:lnTo>
                <a:lnTo>
                  <a:pt x="194055" y="18161"/>
                </a:lnTo>
                <a:lnTo>
                  <a:pt x="229174" y="18161"/>
                </a:lnTo>
                <a:lnTo>
                  <a:pt x="232062" y="15112"/>
                </a:lnTo>
                <a:close/>
              </a:path>
              <a:path w="240664" h="52069">
                <a:moveTo>
                  <a:pt x="202746" y="15137"/>
                </a:moveTo>
                <a:lnTo>
                  <a:pt x="202076" y="15367"/>
                </a:lnTo>
                <a:lnTo>
                  <a:pt x="202746" y="15137"/>
                </a:lnTo>
                <a:close/>
              </a:path>
              <a:path w="240664" h="52069">
                <a:moveTo>
                  <a:pt x="206878" y="13454"/>
                </a:moveTo>
                <a:lnTo>
                  <a:pt x="202746" y="15137"/>
                </a:lnTo>
                <a:lnTo>
                  <a:pt x="232062" y="15112"/>
                </a:lnTo>
                <a:lnTo>
                  <a:pt x="205485" y="14986"/>
                </a:lnTo>
                <a:lnTo>
                  <a:pt x="206878" y="13454"/>
                </a:lnTo>
                <a:close/>
              </a:path>
              <a:path w="240664" h="52069">
                <a:moveTo>
                  <a:pt x="209041" y="12573"/>
                </a:moveTo>
                <a:lnTo>
                  <a:pt x="206878" y="13454"/>
                </a:lnTo>
                <a:lnTo>
                  <a:pt x="205485" y="14986"/>
                </a:lnTo>
                <a:lnTo>
                  <a:pt x="209041" y="12573"/>
                </a:lnTo>
                <a:close/>
              </a:path>
              <a:path w="240664" h="52069">
                <a:moveTo>
                  <a:pt x="234396" y="12573"/>
                </a:moveTo>
                <a:lnTo>
                  <a:pt x="209041" y="12573"/>
                </a:lnTo>
                <a:lnTo>
                  <a:pt x="205485" y="14986"/>
                </a:lnTo>
                <a:lnTo>
                  <a:pt x="232182" y="14986"/>
                </a:lnTo>
                <a:lnTo>
                  <a:pt x="232663" y="14478"/>
                </a:lnTo>
                <a:lnTo>
                  <a:pt x="233171" y="14097"/>
                </a:lnTo>
                <a:lnTo>
                  <a:pt x="234396" y="12573"/>
                </a:lnTo>
                <a:close/>
              </a:path>
              <a:path w="240664" h="52069">
                <a:moveTo>
                  <a:pt x="236600" y="0"/>
                </a:moveTo>
                <a:lnTo>
                  <a:pt x="234950" y="381"/>
                </a:lnTo>
                <a:lnTo>
                  <a:pt x="225932" y="2286"/>
                </a:lnTo>
                <a:lnTo>
                  <a:pt x="218947" y="4699"/>
                </a:lnTo>
                <a:lnTo>
                  <a:pt x="217169" y="5461"/>
                </a:lnTo>
                <a:lnTo>
                  <a:pt x="211454" y="8890"/>
                </a:lnTo>
                <a:lnTo>
                  <a:pt x="209295" y="10795"/>
                </a:lnTo>
                <a:lnTo>
                  <a:pt x="206878" y="13454"/>
                </a:lnTo>
                <a:lnTo>
                  <a:pt x="209041" y="12573"/>
                </a:lnTo>
                <a:lnTo>
                  <a:pt x="234396" y="12573"/>
                </a:lnTo>
                <a:lnTo>
                  <a:pt x="238886" y="6985"/>
                </a:lnTo>
                <a:lnTo>
                  <a:pt x="240029" y="5587"/>
                </a:lnTo>
                <a:lnTo>
                  <a:pt x="240156" y="3683"/>
                </a:lnTo>
                <a:lnTo>
                  <a:pt x="239267" y="2286"/>
                </a:lnTo>
                <a:lnTo>
                  <a:pt x="238378" y="762"/>
                </a:lnTo>
                <a:lnTo>
                  <a:pt x="236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7666" y="1912620"/>
            <a:ext cx="320088" cy="4257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135" y="2888995"/>
            <a:ext cx="1025220" cy="3591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56683" y="1390141"/>
            <a:ext cx="249554" cy="5617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8130" y="1956816"/>
            <a:ext cx="127126" cy="2832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34815" y="1835023"/>
            <a:ext cx="133858" cy="2463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01617" y="2675382"/>
            <a:ext cx="1159129" cy="261873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213858" y="1980819"/>
            <a:ext cx="1543050" cy="301625"/>
            <a:chOff x="5213858" y="1980819"/>
            <a:chExt cx="1543050" cy="301625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13858" y="2092706"/>
              <a:ext cx="420115" cy="1892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64073" y="1980819"/>
              <a:ext cx="1092327" cy="282701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0530" y="3377310"/>
            <a:ext cx="136507" cy="3190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0803" y="4093971"/>
            <a:ext cx="670509" cy="49390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68752" y="4506214"/>
            <a:ext cx="711708" cy="3647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10864" y="3113913"/>
            <a:ext cx="1901316" cy="120180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45555" y="2330069"/>
            <a:ext cx="276987" cy="36957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608913" y="2368169"/>
            <a:ext cx="181522" cy="28092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996048" y="2357501"/>
            <a:ext cx="802385" cy="2743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887969" y="2331720"/>
            <a:ext cx="356567" cy="26035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28863" y="2283205"/>
            <a:ext cx="710818" cy="28803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315925" y="2265679"/>
            <a:ext cx="158146" cy="27978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572243" y="2256789"/>
            <a:ext cx="1000378" cy="47053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645909" y="2884042"/>
            <a:ext cx="265049" cy="32448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671936" y="2226055"/>
            <a:ext cx="82296" cy="2063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697464" y="2509011"/>
            <a:ext cx="82550" cy="7302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019290" y="2924810"/>
            <a:ext cx="803148" cy="26797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396534" y="2828544"/>
            <a:ext cx="1063217" cy="51854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716768" y="2896235"/>
            <a:ext cx="357885" cy="14947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877811" y="3272154"/>
            <a:ext cx="1253998" cy="40614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993253" y="2890392"/>
            <a:ext cx="1208024" cy="23393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1035" y="2774695"/>
            <a:ext cx="3369094" cy="368143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387081" y="1678432"/>
            <a:ext cx="2536063" cy="518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Aritra Sinha</dc:creator>
  <dc:title>Live Session :  Project Discussion</dc:title>
  <dcterms:created xsi:type="dcterms:W3CDTF">2021-09-04T14:26:47Z</dcterms:created>
  <dcterms:modified xsi:type="dcterms:W3CDTF">2021-09-04T14:26:47Z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2021-09-04T00:00:00Z</vt:filetime>
  </property>
</Properties>
</file>